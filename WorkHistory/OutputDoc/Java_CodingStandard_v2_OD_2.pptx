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49"/>
  </p:notesMasterIdLst>
  <p:sldIdLst>
    <p:sldId id="2145708841" r:id="rId5"/>
    <p:sldId id="2145708853" r:id="rId6"/>
    <p:sldId id="2145708781" r:id="rId7"/>
    <p:sldId id="2145708808" r:id="rId8"/>
    <p:sldId id="2145708809" r:id="rId9"/>
    <p:sldId id="2145708810" r:id="rId10"/>
    <p:sldId id="2145708811" r:id="rId11"/>
    <p:sldId id="2145708812" r:id="rId12"/>
    <p:sldId id="2145708813" r:id="rId13"/>
    <p:sldId id="2145708817" r:id="rId14"/>
    <p:sldId id="2145708830" r:id="rId15"/>
    <p:sldId id="2145708833" r:id="rId16"/>
    <p:sldId id="2145708834" r:id="rId17"/>
    <p:sldId id="2145708818" r:id="rId18"/>
    <p:sldId id="2145708836" r:id="rId19"/>
    <p:sldId id="2145708837" r:id="rId20"/>
    <p:sldId id="2145708819" r:id="rId21"/>
    <p:sldId id="2145708820" r:id="rId22"/>
    <p:sldId id="2145708821" r:id="rId23"/>
    <p:sldId id="2145708822" r:id="rId24"/>
    <p:sldId id="2145708824" r:id="rId25"/>
    <p:sldId id="2145708825" r:id="rId26"/>
    <p:sldId id="2145708823" r:id="rId27"/>
    <p:sldId id="2145708839" r:id="rId28"/>
    <p:sldId id="2145708840" r:id="rId29"/>
    <p:sldId id="2145708826" r:id="rId30"/>
    <p:sldId id="2145708827" r:id="rId31"/>
    <p:sldId id="2145708838" r:id="rId32"/>
    <p:sldId id="2145708828" r:id="rId33"/>
    <p:sldId id="2145708831" r:id="rId34"/>
    <p:sldId id="2145708832" r:id="rId35"/>
    <p:sldId id="2145708842" r:id="rId36"/>
    <p:sldId id="2145708766" r:id="rId37"/>
    <p:sldId id="2145708843" r:id="rId38"/>
    <p:sldId id="2145708844" r:id="rId39"/>
    <p:sldId id="2145708845" r:id="rId40"/>
    <p:sldId id="2145708846" r:id="rId41"/>
    <p:sldId id="2145708848" r:id="rId42"/>
    <p:sldId id="2145708847" r:id="rId43"/>
    <p:sldId id="2145708849" r:id="rId44"/>
    <p:sldId id="2145708854" r:id="rId45"/>
    <p:sldId id="2145708850" r:id="rId46"/>
    <p:sldId id="2145708851" r:id="rId47"/>
    <p:sldId id="214570885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8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88255" autoAdjust="0"/>
  </p:normalViewPr>
  <p:slideViewPr>
    <p:cSldViewPr snapToGrid="0">
      <p:cViewPr varScale="1">
        <p:scale>
          <a:sx n="84" d="100"/>
          <a:sy n="84" d="100"/>
        </p:scale>
        <p:origin x="5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89EC9-ADF7-4CD8-A359-4B3486574A5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80750-FA6C-4B62-A27E-0AEE5A77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6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85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9290F-ED53-06B1-BDFA-45ECC0173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307FA-4953-CBAB-5FAE-C1BF59267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47C791-2FC1-E2B4-8788-9E219D291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5D8A1-1496-CF08-AF6C-392C8C5A3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85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82B1-D1D0-2CB5-5687-07DACEB60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41A10-9DDC-F1C0-AF0B-84A6B1F82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55D15-0A68-E8FF-4F55-1C63A1A51F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2D75-7894-2826-21A3-9E65938AB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69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68885-38AC-2470-56CB-0EE1E7C9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811D6-B9CB-1D92-31F1-124724DA1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CB629-7ACF-8151-2A44-6EFD309D7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98671-847A-B7C3-1DCF-C1B1138C79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13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5D05-3E24-7939-0975-8E5287FC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67686-3671-3373-F2CD-6B8480A4B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4609D2-B62F-09FA-0C23-20019C7C2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FA8B2-C7A0-184F-5AAA-08F1FCB34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94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04A1-BF63-018B-8DCD-3FB72466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A4391-7C92-713A-C935-AC5A9988F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68BC9-6084-5189-8EB4-4E6D9EA6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493CA-E503-A7D5-4D8D-EFF20CE98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92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B3B9-26CB-55EA-FA1D-030853CC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F2B23-E482-CCD2-0486-A9DD8561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A0C1C-4178-0382-4BB8-2571D3446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77028-2AD7-DEA8-A65E-F2220C8D1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14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A90D3-DB11-4F20-EC0D-07653BC2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4357B-9DFB-E949-8864-EB44CFC1A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E0F80-330C-CF65-AC5D-EDA1D6294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EB751-488E-5DC5-A51F-084FE2DC5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77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15AF-63E8-7974-C809-B75FE48FF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93DEE-18A0-AEA3-F9A1-B7AD8B91B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F7E45-7889-BD17-8165-6F88D513B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5DF8B-D692-0C5A-1440-12D5FF238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6020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71A47-0F46-7AE0-5BA0-EE4A4438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ED503-3D5E-556B-CC4E-87C68E02B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78365-4FC3-8163-1F65-C3533FD34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DAA17-BDA2-56BD-810E-0DBE92A20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524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F7DC-87DD-8A89-6359-C728D9DDF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15863-99BB-CD4C-380C-D994D777F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9DDF4-122E-F3B4-0989-31E0F38F4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D7FCD-9D59-182E-54C8-17D576BE27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47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3B23-03DC-A659-03DA-ABB4622C1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7238A-03DB-6D96-2EA5-2A4F13444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5F49D-0367-4926-7CB1-3909F2FAB1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B992E-53BB-9141-7D3F-33AC045F9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83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49CB-2F21-F2BD-3B94-0C60574EE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54BCD5-8A1A-E3FD-0808-6DC0CEC66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27573-B9AB-2718-72AF-A1CCF49AE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E2038-7DBE-2829-5C58-FAD7D1CCE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95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F4BAA-0D84-B510-4FD5-B346231E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6AD1C-0758-402D-49F7-43A4013B25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F2A4C-A5F0-F947-E60E-CD91947D9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CCC89-23F8-5048-9DFD-E4D8ACA88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42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B8775-22E3-ED77-4D0B-95E255A1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B3E78-FC39-6B07-065C-506CCB7C8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B6AD63-8853-0F14-DDC1-BB621AD4D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7BA6D-E7F7-C45B-9DE2-08DA39ABB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18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1F54B-74D1-D5DF-DE56-771B8E626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F6733-009C-E660-B489-713224CC2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9303C-DF03-8EC2-3B68-F7B2B1D0B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4A248-3C2B-C08F-2059-B4983FB86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51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7D39-B8A2-C38E-E2A7-FF6533BF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6EBBC3-B26C-E79B-6332-DE39E1A46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FB033-ADBF-D8B0-AFFD-73CA2090F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24DCF-F5F1-6310-04BF-72BA0F7615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0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4FFA-E43C-2CE7-8E0C-46C7AB8E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6611CD-242D-8DAE-EF55-1671FD0DB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D88FE-B1B5-2BC3-C561-2553188B3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91BAE-BE39-EF6D-B481-7CAB94EE1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492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E4102-7DB6-5B49-F911-71CA8F375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8F5F1-2ADD-F647-0D4B-2022E6587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E297E-50FB-2693-7508-C806FDC66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C0B04-372B-E9B7-1A09-F7F61C465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65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41CD-F376-DFFD-E4B0-CA73DEF34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C1966-9210-A978-B7C1-06D5ACD3D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46859-FB11-B4C6-7C26-DF0D0D5C1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47F03-C0AF-3C7A-B0D7-176DDA05C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008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F97C-3CD6-2766-033B-D672553A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53999-DC42-3058-2B03-F5678628B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7CEE7-AAFB-FD50-16E6-46081C248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5E1AC-DFFA-5845-9D55-3A878BD80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349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7218-70A8-8B04-8C51-F5B849FB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EC1CDA-B78D-1CF0-FDEC-8C2FED3BDB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5E65D-FA2D-EAAA-1154-8488F1424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9F2D2-999F-F0E7-6D88-529440D32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98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C97BB-7603-C042-137D-0F731230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6EC61-10CF-C33B-6130-07D46DCA2E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3F8B3-3F31-DB64-E051-D67839F3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B50C4-D3DD-911B-923B-2A5312DB2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584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4B51-5CB8-DF0C-6CC5-5E6A6E9C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58632-0DC7-D417-0E6F-756CE48F4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32E1BA-39D1-22D4-67A3-321AADAED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E01EF-D5C5-2CA3-64B1-B7694DF01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047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262A-E7FF-DD00-A83C-7696CF60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2DF88-B92A-D442-7DF5-7C5605DD8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5E77E-AD63-FFF5-9A00-BD5F6D89C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7D2B80-8F61-28F1-592E-AC64D91CF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98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3B051-C84D-6904-D1FE-72B48CE8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05DB6-8D2E-5492-B21C-F6A07F448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5B43BB-9FEE-681C-F349-BF499D123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0AC69-E84E-A1EC-538D-2F9805159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455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C835-AAE5-B7FB-F9F2-79281E37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02334-8647-8A06-5E42-D6ABB667E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A2E49-FB5E-61CD-238F-23C3EBAC2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C92B1-6DCE-3A9E-EE56-B68733AAF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74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AE82B-5C48-8269-135E-11D8EE3C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A4E39-3A17-10D5-DB55-E156B96D0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2F120-369F-CE47-7B23-C01FED4B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9C59D-43F5-DFBC-DB68-66C8EFD9B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441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2A2E-3B72-F774-D43F-5680A5F98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47E9E-2CC4-C4F0-8F6B-25ACCBE06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8AD5F-B3A0-2D3A-6837-F90D62842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EEAB3-94CB-B8ED-EBAF-43BEC620D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622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7E24D-F8AA-F38E-95DA-780E67342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61FDA-6A9F-42D3-A431-7528515FD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0B7E8-F32E-0BB4-180B-81B15B82A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DAC5-8F0B-E168-56C3-55023599B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0051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95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50188-E71B-43CE-9583-20EB2F0A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0B061-E88E-2BD9-32C0-FD46B1B83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7FF2E-FEA0-7C16-3E3E-3B982B7AF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4772A-4B8B-9E0A-2A57-9C47ED6F6F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745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AAAAE-B83E-FAB3-4DA2-D6A57714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BA75A-D9F5-C829-FE89-50D500985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88F57-FF1A-8A0D-1D02-651A4C760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2FF75-6D47-45BD-50C0-F0D7FC834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538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5B5D-A120-11AD-638C-604A940B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4889E-A33A-E35D-FE37-CDA847ED7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04A0A-5F05-5306-5C95-5A8C27503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26CBF-CE1D-889A-D084-C19EF9EF57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840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B588E-9FB1-AC8B-5F90-6949DB74A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21A6E5-2C2C-FB8A-F079-9D71C7D16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4B48D-37EC-D81C-D11D-8490771D9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05A17-03E1-D428-F886-6D0ACA446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065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DEE54-E856-1493-B789-CDB6E75B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10344-97AD-5094-BC35-106F2724A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B51C9-E01E-A2A2-644A-18DF6D5EA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1AF96-3DB4-9BD5-9670-1645DF24B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699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9CFB1-ABBB-1D08-0FEB-D12120019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EA281-FE41-8A58-D48C-C94125789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C3169A-6D7B-7713-2548-C1BB4E063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1027C-B6A5-574F-E362-DDEEF71A8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903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88204-0396-8298-2E88-076898BBB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28E78C-0C4D-D9F5-C06F-A4A1396EC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952E2-96B8-141C-30DF-9FE579541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BDA7D-FA2A-FC5D-0220-6719B363E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2728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847E4-7B05-AC91-64FD-D9185E430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2DBFF-B625-7460-450C-0CE6A336B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6221A-518D-0D65-D9E3-C86CE9A7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E6EBA-E6A5-1EEF-E628-50A6612EF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5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3136-BFF8-EB78-2165-16658AEC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4DD45-BABB-0DD6-2A45-730A5E2A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4DEE-651B-DBFF-6616-A6F7523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E4A72-F922-477C-8EF1-5A284132E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8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C0EAA3-C71A-43A2-91D0-C6C31102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635" y="3447317"/>
            <a:ext cx="7676173" cy="1893748"/>
          </a:xfrm>
        </p:spPr>
        <p:txBody>
          <a:bodyPr/>
          <a:lstStyle>
            <a:lvl1pPr>
              <a:buNone/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8A08A-DC60-4455-BFC7-21B4F189180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4250C-5885-48A6-8300-C696669B24AB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C60379-4B22-4A26-8D53-7990592BE2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A9DCE2-9A27-41CD-AA22-E05C8C5DA730}"/>
              </a:ext>
            </a:extLst>
          </p:cNvPr>
          <p:cNvSpPr/>
          <p:nvPr userDrawn="1"/>
        </p:nvSpPr>
        <p:spPr>
          <a:xfrm>
            <a:off x="0" y="410547"/>
            <a:ext cx="589497" cy="33503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A8CB8-EDC3-4B46-9A15-ACDB3324900B}"/>
              </a:ext>
            </a:extLst>
          </p:cNvPr>
          <p:cNvSpPr/>
          <p:nvPr userDrawn="1"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BDA31-1101-46FE-8D24-6516A8D2B08F}"/>
              </a:ext>
            </a:extLst>
          </p:cNvPr>
          <p:cNvSpPr/>
          <p:nvPr userDrawn="1"/>
        </p:nvSpPr>
        <p:spPr>
          <a:xfrm>
            <a:off x="0" y="61856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0D347471-B928-4112-A3B7-7591089D2E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462" y="2158515"/>
            <a:ext cx="3173267" cy="118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DD774-C799-4B89-A9B2-280F767B7AD9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51723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C4130-7473-4328-9DB3-C3281C7D1F05}"/>
              </a:ext>
            </a:extLst>
          </p:cNvPr>
          <p:cNvSpPr/>
          <p:nvPr userDrawn="1"/>
        </p:nvSpPr>
        <p:spPr>
          <a:xfrm>
            <a:off x="0" y="61475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D724A-26F3-49B6-9B01-1DED33C73C61}"/>
              </a:ext>
            </a:extLst>
          </p:cNvPr>
          <p:cNvSpPr/>
          <p:nvPr userDrawn="1"/>
        </p:nvSpPr>
        <p:spPr>
          <a:xfrm>
            <a:off x="0" y="5995147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9C6C64-80AF-412B-BDCC-C9B570CB10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237" y="6011718"/>
            <a:ext cx="1748750" cy="65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E81DD9C-07D6-4C15-AFFE-0D6D65599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08000"/>
            <a:ext cx="7137400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A29E5-4CD2-456D-8C37-AEF850980098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331974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CD78-8B7B-4976-8AE0-648AF1DF3CEB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A1445-8CA7-4094-8A1D-DA20D230DC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5838" y="-2643"/>
            <a:ext cx="1686161" cy="733528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A781350-F6E0-498B-8852-57186437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136525"/>
            <a:ext cx="10226779" cy="46597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EBFB5-A964-42F9-B79F-978885BFC2B4}"/>
              </a:ext>
            </a:extLst>
          </p:cNvPr>
          <p:cNvSpPr/>
          <p:nvPr userDrawn="1"/>
        </p:nvSpPr>
        <p:spPr>
          <a:xfrm>
            <a:off x="81001" y="602501"/>
            <a:ext cx="10226779" cy="2010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60392" y="90127"/>
            <a:ext cx="11657086" cy="508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0392" y="695618"/>
            <a:ext cx="11657086" cy="549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4/21/2026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 dirty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C0ADF-48E4-418A-A013-832BC4C38D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EFCD6E-A29E-4E94-8D63-F18873FB12A3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89267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2" r:id="rId2"/>
    <p:sldLayoutId id="2147483663" r:id="rId3"/>
    <p:sldLayoutId id="214748368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ptos" panose="020B0004020202020204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styleguide/javaguide.html" TargetMode="External"/><Relationship Id="rId2" Type="http://schemas.openxmlformats.org/officeDocument/2006/relationships/hyperlink" Target="https://github.com/HPI-Information-Systems/Metanome/wiki/Installing-the-google-styleguide-settings-in-intellij-and-eclipse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29CE-BE8C-2159-FAAB-92933BE0A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01748F-1362-CD14-EB7D-02221FBF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2B6C-BE2B-1C36-797F-43A225576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&amp; Code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306BCA-D5BF-CAA9-026C-F0BFDF45A14C}"/>
              </a:ext>
            </a:extLst>
          </p:cNvPr>
          <p:cNvSpPr txBox="1"/>
          <p:nvPr/>
        </p:nvSpPr>
        <p:spPr>
          <a:xfrm>
            <a:off x="249771" y="1353559"/>
            <a:ext cx="1120346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Guide developer to understand  code development quality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Ensure maintainability and efficiency in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Provide a </a:t>
            </a:r>
            <a:r>
              <a:rPr lang="en-US" sz="1600" b="1" dirty="0">
                <a:latin typeface="Calibri (Headings)"/>
              </a:rPr>
              <a:t>standard reference</a:t>
            </a:r>
            <a:r>
              <a:rPr lang="en-US" sz="1600" dirty="0">
                <a:latin typeface="Calibri (Headings)"/>
              </a:rPr>
              <a:t> for development and review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Act as a guideline for code writing and used during code reviews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Ensures </a:t>
            </a:r>
            <a:r>
              <a:rPr lang="en-US" sz="1600" b="1" dirty="0">
                <a:latin typeface="Calibri (Headings)"/>
              </a:rPr>
              <a:t>consistent coding practices across teams</a:t>
            </a:r>
            <a:endParaRPr lang="en-US" sz="1600" dirty="0">
              <a:latin typeface="Calibri (Headings)"/>
            </a:endParaRPr>
          </a:p>
          <a:p>
            <a:endParaRPr lang="en-US" sz="1600" dirty="0">
              <a:latin typeface="Calibri (Headings)"/>
            </a:endParaRPr>
          </a:p>
          <a:p>
            <a:r>
              <a:rPr lang="en-US" sz="1600" dirty="0">
                <a:latin typeface="Calibri (Headings)"/>
              </a:rPr>
              <a:t>Remark : Always consult with team lead or solution architect  or senior developers if you misunderstand or unclear topic.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 (Headings)"/>
            </a:endParaRP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AD8CCC-8FAA-FAA7-77B8-F86E9810DF02}"/>
              </a:ext>
            </a:extLst>
          </p:cNvPr>
          <p:cNvSpPr txBox="1"/>
          <p:nvPr/>
        </p:nvSpPr>
        <p:spPr>
          <a:xfrm>
            <a:off x="249771" y="3959471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Code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35D6D-C970-DEC2-BDF1-B44BDA2481E2}"/>
              </a:ext>
            </a:extLst>
          </p:cNvPr>
          <p:cNvSpPr txBox="1"/>
          <p:nvPr/>
        </p:nvSpPr>
        <p:spPr>
          <a:xfrm>
            <a:off x="437134" y="4424342"/>
            <a:ext cx="10129266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libri (Headings)"/>
              </a:rPr>
              <a:t>For Java development, developers must install </a:t>
            </a:r>
            <a:r>
              <a:rPr lang="en-US" sz="1600" dirty="0">
                <a:latin typeface="Calibri (Headings)"/>
                <a:hlinkClick r:id="rId2"/>
              </a:rPr>
              <a:t>Google Java Code Style </a:t>
            </a:r>
            <a:r>
              <a:rPr lang="en-US" sz="1600" dirty="0">
                <a:latin typeface="Calibri (Headings)"/>
              </a:rPr>
              <a:t>Template on IDEs.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alibri (Headings)"/>
              </a:rPr>
              <a:t>Rule for Code Style: </a:t>
            </a:r>
            <a:r>
              <a:rPr lang="en-US" sz="1600" dirty="0">
                <a:latin typeface="Calibri (Headings)"/>
                <a:hlinkClick r:id="rId3"/>
              </a:rPr>
              <a:t>https://google.github.io/styleguide/javaguide.html</a:t>
            </a:r>
            <a:endParaRPr lang="en-US" sz="1600" dirty="0">
              <a:latin typeface="Calibri (Headings)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8F7E2F-7782-6A3D-935C-F9CE07FA0F50}"/>
              </a:ext>
            </a:extLst>
          </p:cNvPr>
          <p:cNvSpPr txBox="1"/>
          <p:nvPr/>
        </p:nvSpPr>
        <p:spPr>
          <a:xfrm>
            <a:off x="249771" y="968894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Purpose of Standard Guidelines</a:t>
            </a:r>
          </a:p>
        </p:txBody>
      </p:sp>
    </p:spTree>
    <p:extLst>
      <p:ext uri="{BB962C8B-B14F-4D97-AF65-F5344CB8AC3E}">
        <p14:creationId xmlns:p14="http://schemas.microsoft.com/office/powerpoint/2010/main" val="126901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B7B55-5ECF-2173-C879-E7E9137D8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C4D1AB-0904-134E-142D-BECC96D3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419D3-5392-8C74-4412-04407723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Standard Overview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00413C5-4205-6E72-6B3A-3CEC42FBAE5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1168" y="746341"/>
            <a:ext cx="7290816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Write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clean, readable, and maintainable 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proper design principles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(SRP, layering, separation of concerns)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Ensure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robust error handling and logging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Follow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secure coding practices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(validation, authentication, data protection) </a:t>
            </a:r>
          </a:p>
        </p:txBody>
      </p:sp>
    </p:spTree>
    <p:extLst>
      <p:ext uri="{BB962C8B-B14F-4D97-AF65-F5344CB8AC3E}">
        <p14:creationId xmlns:p14="http://schemas.microsoft.com/office/powerpoint/2010/main" val="1771431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9BE2-4305-176E-2F1F-4DC08B66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4E2A25-A12E-C672-C20E-6ED42D0E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C3234-0E44-EE12-3F61-505E6D4A3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D922D-8713-24F2-486B-F3EF57A9C851}"/>
              </a:ext>
            </a:extLst>
          </p:cNvPr>
          <p:cNvSpPr txBox="1"/>
          <p:nvPr/>
        </p:nvSpPr>
        <p:spPr>
          <a:xfrm>
            <a:off x="140043" y="932935"/>
            <a:ext cx="11203460" cy="279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eneral Rules for Naming Convention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br>
              <a:rPr lang="en-US" dirty="0"/>
            </a:br>
            <a:r>
              <a:rPr lang="en-US" dirty="0"/>
              <a:t>1.</a:t>
            </a:r>
            <a:r>
              <a:rPr lang="en-US" dirty="0">
                <a:latin typeface="Calibri (Headings)"/>
              </a:rPr>
              <a:t>Use Intention-Revealing Names. </a:t>
            </a: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Example: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 **Bad</a:t>
            </a:r>
          </a:p>
          <a:p>
            <a:endParaRPr lang="en-US" dirty="0">
              <a:latin typeface="Calibri (Headings)"/>
            </a:endParaRPr>
          </a:p>
          <a:p>
            <a:br>
              <a:rPr lang="en-US" sz="1400" dirty="0"/>
            </a:br>
            <a:endParaRPr lang="en-US" sz="1400" dirty="0"/>
          </a:p>
          <a:p>
            <a:pPr>
              <a:lnSpc>
                <a:spcPct val="150000"/>
              </a:lnSpc>
            </a:pPr>
            <a:endParaRPr lang="en-US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5E0D19-DEC5-A639-A5ED-B6E4C8AA922B}"/>
              </a:ext>
            </a:extLst>
          </p:cNvPr>
          <p:cNvSpPr/>
          <p:nvPr/>
        </p:nvSpPr>
        <p:spPr>
          <a:xfrm>
            <a:off x="298311" y="2477969"/>
            <a:ext cx="10689336" cy="74980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d; //elapsed time in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7E1F0E-B477-6F03-9C08-34C5B6C0D418}"/>
              </a:ext>
            </a:extLst>
          </p:cNvPr>
          <p:cNvSpPr/>
          <p:nvPr/>
        </p:nvSpPr>
        <p:spPr>
          <a:xfrm>
            <a:off x="298311" y="3791973"/>
            <a:ext cx="10689336" cy="109466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elapsedTimeInDays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daysSinceCreation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7A82C4-5DF2-9DA7-676E-935530E6D21A}"/>
              </a:ext>
            </a:extLst>
          </p:cNvPr>
          <p:cNvSpPr txBox="1"/>
          <p:nvPr/>
        </p:nvSpPr>
        <p:spPr>
          <a:xfrm>
            <a:off x="140043" y="3325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50025B-90C9-312E-6599-602B7869E8B0}"/>
              </a:ext>
            </a:extLst>
          </p:cNvPr>
          <p:cNvSpPr txBox="1"/>
          <p:nvPr/>
        </p:nvSpPr>
        <p:spPr>
          <a:xfrm>
            <a:off x="298311" y="5061585"/>
            <a:ext cx="11045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00000"/>
                </a:solidFill>
                <a:effectLst/>
                <a:latin typeface="CourierNewPSMT"/>
              </a:rPr>
              <a:t>/** The name d reveals nothing. Always choose the name that reveals that can make it easier to understand and change the code. */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371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10FCF-AB22-57BC-60BE-65D2B9F1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94F87-9E67-7AD7-8E90-BA11B981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44850-2F1D-5CB1-9FC5-96E44B720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AA2E7-1AEA-C9AF-82FB-139FD3AC91A4}"/>
              </a:ext>
            </a:extLst>
          </p:cNvPr>
          <p:cNvSpPr txBox="1"/>
          <p:nvPr/>
        </p:nvSpPr>
        <p:spPr>
          <a:xfrm>
            <a:off x="140043" y="932935"/>
            <a:ext cx="112034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eneral Rules for Naming Convention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br>
              <a:rPr lang="en-US" dirty="0"/>
            </a:br>
            <a:r>
              <a:rPr lang="en-US" dirty="0"/>
              <a:t>2. Be careful of using short cut names and prefer pronounceable names. </a:t>
            </a:r>
            <a:br>
              <a:rPr lang="en-US" dirty="0"/>
            </a:b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Example: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D07A66-49CF-6CA0-B0B0-D7B1723229BD}"/>
              </a:ext>
            </a:extLst>
          </p:cNvPr>
          <p:cNvSpPr/>
          <p:nvPr/>
        </p:nvSpPr>
        <p:spPr>
          <a:xfrm>
            <a:off x="226142" y="2525760"/>
            <a:ext cx="3913239" cy="257718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DtaRcrd102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genymdhms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modymdhms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final String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pszqint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"102";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157D9F-205B-F78D-DDBB-4A2A36BE88B2}"/>
              </a:ext>
            </a:extLst>
          </p:cNvPr>
          <p:cNvSpPr/>
          <p:nvPr/>
        </p:nvSpPr>
        <p:spPr>
          <a:xfrm>
            <a:off x="4513006" y="2525760"/>
            <a:ext cx="7010400" cy="257718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Customer {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generationTimestamp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Date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modificationTimestamp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final String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recordId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"102";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... */</a:t>
            </a:r>
          </a:p>
          <a:p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3764E-0AA7-3FFF-0A88-52C71AE5FD60}"/>
              </a:ext>
            </a:extLst>
          </p:cNvPr>
          <p:cNvSpPr txBox="1"/>
          <p:nvPr/>
        </p:nvSpPr>
        <p:spPr>
          <a:xfrm>
            <a:off x="4314279" y="2110644"/>
            <a:ext cx="11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5CB1D3-889F-F65B-CCD5-D1C14CE331A4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F6C0B3-D24E-B1FE-5379-EBC148205BB4}"/>
              </a:ext>
            </a:extLst>
          </p:cNvPr>
          <p:cNvSpPr txBox="1"/>
          <p:nvPr/>
        </p:nvSpPr>
        <p:spPr>
          <a:xfrm>
            <a:off x="226142" y="2064860"/>
            <a:ext cx="1620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**Bad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DB3716-060E-FC99-0186-0C31C1F92036}"/>
              </a:ext>
            </a:extLst>
          </p:cNvPr>
          <p:cNvSpPr txBox="1"/>
          <p:nvPr/>
        </p:nvSpPr>
        <p:spPr>
          <a:xfrm>
            <a:off x="226141" y="5495438"/>
            <a:ext cx="76691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Note: You can use single-letter variables </a:t>
            </a:r>
            <a:r>
              <a:rPr lang="en-US" b="1" dirty="0"/>
              <a:t>only when the scope is very small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41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38B3-EB91-1493-B0A2-F21553E3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23F924-C948-68DF-37C1-C4E738A1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FC77-7D43-E9C8-8260-0B0D1CA68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Naming Convention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FA7FC-34A1-20F9-1B74-CA1F2C5A72C6}"/>
              </a:ext>
            </a:extLst>
          </p:cNvPr>
          <p:cNvSpPr txBox="1"/>
          <p:nvPr/>
        </p:nvSpPr>
        <p:spPr>
          <a:xfrm>
            <a:off x="140043" y="932935"/>
            <a:ext cx="11203460" cy="654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Packages names should start with </a:t>
            </a:r>
            <a:r>
              <a:rPr lang="en-US" dirty="0" err="1">
                <a:latin typeface="Calibri (Headings)"/>
              </a:rPr>
              <a:t>com.yomabank</a:t>
            </a:r>
            <a:r>
              <a:rPr lang="en-US" dirty="0">
                <a:latin typeface="Calibri (Headings)"/>
              </a:rPr>
              <a:t> and should be all lowercase, with consecutive words simply concatenated together (no underscores)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com.companyname.sendmoneytobank</a:t>
            </a:r>
            <a:r>
              <a:rPr lang="en-US" dirty="0">
                <a:latin typeface="Calibri (Headings)"/>
              </a:rPr>
              <a:t>(Notice, it is not </a:t>
            </a:r>
            <a:r>
              <a:rPr lang="en-US" dirty="0" err="1">
                <a:latin typeface="Calibri (Headings)"/>
              </a:rPr>
              <a:t>com.companyname.sendMoneyToBank</a:t>
            </a:r>
            <a:r>
              <a:rPr lang="en-US" dirty="0">
                <a:latin typeface="Calibri (Headings)"/>
              </a:rPr>
              <a:t> or</a:t>
            </a:r>
            <a:br>
              <a:rPr lang="en-US" dirty="0">
                <a:latin typeface="Calibri (Headings)"/>
              </a:rPr>
            </a:br>
            <a:r>
              <a:rPr lang="en-US" dirty="0">
                <a:latin typeface="Calibri (Headings)"/>
              </a:rPr>
              <a:t>com. </a:t>
            </a:r>
            <a:r>
              <a:rPr lang="en-US" dirty="0" err="1">
                <a:latin typeface="Calibri (Headings)"/>
              </a:rPr>
              <a:t>companyname.send_money_bank</a:t>
            </a:r>
            <a:r>
              <a:rPr lang="en-US" dirty="0">
                <a:latin typeface="Calibri (Headings)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Classes names should be written in </a:t>
            </a:r>
            <a:r>
              <a:rPr lang="en-US" dirty="0" err="1">
                <a:latin typeface="Calibri (Headings)"/>
              </a:rPr>
              <a:t>UpperCamelCase</a:t>
            </a:r>
            <a:r>
              <a:rPr lang="en-US" dirty="0">
                <a:latin typeface="Calibri (Headings)"/>
              </a:rPr>
              <a:t> and in nouns. In mixed case with the first letter of each word capitalized.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PaymentProcessor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Test Classes are named starting with the name of the class they are testing, and ending with Test.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SendMoneyIntegrationTest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Interfaces names should be capitalized like class names.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CreditCard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Methods names should be written in </a:t>
            </a:r>
            <a:r>
              <a:rPr lang="en-US" dirty="0" err="1"/>
              <a:t>lowerCamelCase</a:t>
            </a:r>
            <a:r>
              <a:rPr lang="en-US" dirty="0"/>
              <a:t> and in verbs.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repaymentCalculationDays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Variables names should start with lowercase letter and the first letter of internal words capitalized.</a:t>
            </a:r>
          </a:p>
          <a:p>
            <a:r>
              <a:rPr lang="en-US" dirty="0"/>
              <a:t>Variables names should not start with underscore “_” or dollar sign “$” characters </a:t>
            </a: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A3DC6-7084-179F-516C-33A388E60E3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08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F769-EB9B-D7DD-EBB8-861AB4DB9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A3D98B-94A1-7EFE-F0C3-6C0CF636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080AE-89D5-5EC7-28CD-FB648C50D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Naming Convention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55D2A-0703-1A34-3113-FCE197773186}"/>
              </a:ext>
            </a:extLst>
          </p:cNvPr>
          <p:cNvSpPr txBox="1"/>
          <p:nvPr/>
        </p:nvSpPr>
        <p:spPr>
          <a:xfrm>
            <a:off x="140043" y="932935"/>
            <a:ext cx="1120346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For Booleans, use the prefixes such as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“is”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“has” </a:t>
            </a:r>
            <a:r>
              <a:rPr lang="en-US" dirty="0">
                <a:latin typeface="Calibri (Headings)"/>
              </a:rPr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“can”</a:t>
            </a:r>
            <a:r>
              <a:rPr lang="en-US" dirty="0">
                <a:latin typeface="Calibri (Headings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	Example</a:t>
            </a:r>
            <a:r>
              <a:rPr lang="en-US" dirty="0">
                <a:latin typeface="Calibri (Headings)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isRetriable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hasAccess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dirty="0">
                <a:latin typeface="Calibri (Headings)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canIgnore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 </a:t>
            </a: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Constants names should all be in capital letters and separate each word with underscore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“_”</a:t>
            </a:r>
            <a:r>
              <a:rPr lang="en-US" dirty="0">
                <a:latin typeface="Calibri (Headings)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	Example</a:t>
            </a:r>
            <a:r>
              <a:rPr lang="en-US" dirty="0">
                <a:latin typeface="Calibri (Headings)"/>
              </a:rPr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 static final String ACCESS_DENIED = “Access Denied.”;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misleading abbreviations and names.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use names with similar meanings for different objects in your programs.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Calibri (Headings)"/>
              </a:rPr>
              <a:t>Example</a:t>
            </a:r>
            <a:r>
              <a:rPr lang="en-US" dirty="0">
                <a:latin typeface="Calibri (Headings)"/>
              </a:rPr>
              <a:t>:"</a:t>
            </a:r>
            <a:r>
              <a:rPr lang="en-US" dirty="0" err="1">
                <a:latin typeface="Calibri (Headings)"/>
              </a:rPr>
              <a:t>StudentNum</a:t>
            </a:r>
            <a:r>
              <a:rPr lang="en-US" dirty="0">
                <a:latin typeface="Calibri (Headings)"/>
              </a:rPr>
              <a:t>" to hold an individual student's ID number. "</a:t>
            </a:r>
            <a:r>
              <a:rPr lang="en-US" dirty="0" err="1">
                <a:latin typeface="Calibri (Headings)"/>
              </a:rPr>
              <a:t>NumStudents</a:t>
            </a:r>
            <a:r>
              <a:rPr lang="en-US" dirty="0">
                <a:latin typeface="Calibri (Headings)"/>
              </a:rPr>
              <a:t>" and "</a:t>
            </a:r>
            <a:r>
              <a:rPr lang="en-US" dirty="0" err="1">
                <a:latin typeface="Calibri (Headings)"/>
              </a:rPr>
              <a:t>StudentNum</a:t>
            </a:r>
            <a:r>
              <a:rPr lang="en-US" dirty="0">
                <a:latin typeface="Calibri (Headings)"/>
              </a:rPr>
              <a:t>" are too similar.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reuse existing standard library routine names in your program unless you are specifically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replacing that routine with one that has similar semantics.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misspelled words and names that are often misspelled in identifiers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703EC6-3B0B-5503-D98B-0E9D0832EFA9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00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4EE5-C492-7B8E-A49E-534DE5CB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66C3B6-503A-6C34-4AB1-2E4D11D9D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C7AC5-9071-504F-5DAB-756BAC151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Convention Cheat Sheet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28FF1-65F2-EDE5-FF72-0D75AEDB9C1C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55AA8C-B456-4EBE-DDF1-DCE8F45862EA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1050135-67D4-21BB-FBFD-F757FD84A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645240"/>
              </p:ext>
            </p:extLst>
          </p:nvPr>
        </p:nvGraphicFramePr>
        <p:xfrm>
          <a:off x="1094068" y="1480536"/>
          <a:ext cx="8118756" cy="35817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6252">
                  <a:extLst>
                    <a:ext uri="{9D8B030D-6E8A-4147-A177-3AD203B41FA5}">
                      <a16:colId xmlns:a16="http://schemas.microsoft.com/office/drawing/2014/main" val="2130625885"/>
                    </a:ext>
                  </a:extLst>
                </a:gridCol>
                <a:gridCol w="2706252">
                  <a:extLst>
                    <a:ext uri="{9D8B030D-6E8A-4147-A177-3AD203B41FA5}">
                      <a16:colId xmlns:a16="http://schemas.microsoft.com/office/drawing/2014/main" val="2317212936"/>
                    </a:ext>
                  </a:extLst>
                </a:gridCol>
                <a:gridCol w="2706252">
                  <a:extLst>
                    <a:ext uri="{9D8B030D-6E8A-4147-A177-3AD203B41FA5}">
                      <a16:colId xmlns:a16="http://schemas.microsoft.com/office/drawing/2014/main" val="1084801456"/>
                    </a:ext>
                  </a:extLst>
                </a:gridCol>
              </a:tblGrid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Name Convention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Rule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Camel Case / Format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011459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Package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Start with </a:t>
                      </a:r>
                      <a:r>
                        <a:rPr lang="en-US" sz="1800" dirty="0" err="1">
                          <a:effectLst/>
                        </a:rPr>
                        <a:t>com.cdsg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All lowercase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9727885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Class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UpperCamelCase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3916049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Interface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UpperCamelCase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8664968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Method Name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Verbs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lowerCamelCase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0573774"/>
                  </a:ext>
                </a:extLst>
              </a:tr>
              <a:tr h="7904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Constant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All uppercase, words separated by '_'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6085177"/>
                  </a:ext>
                </a:extLst>
              </a:tr>
              <a:tr h="4987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Parameter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lowerCamelCase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7520984"/>
                  </a:ext>
                </a:extLst>
              </a:tr>
              <a:tr h="3820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Local Variable Names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Nouns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lowerCamelCase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460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77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572C2-692D-AE0F-DCC9-D7739CA0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9EDB4B-2C4A-F24F-E634-4123BD33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4089C-8ED5-4DFC-2CAF-27A163188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B6F7A-BEA7-3039-D835-80AAB3FF9AD3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75349E-DD2E-1CAD-9516-370FA0D2FE96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D61EF-8833-9F88-F0BD-AA044FF1B3B5}"/>
              </a:ext>
            </a:extLst>
          </p:cNvPr>
          <p:cNvSpPr txBox="1"/>
          <p:nvPr/>
        </p:nvSpPr>
        <p:spPr>
          <a:xfrm>
            <a:off x="570054" y="903323"/>
            <a:ext cx="10905665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Function should be small (generally less than 75 lines) and serve for single purposes only.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Function Name should be compliant to what it really does in the code and no hidden function.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Loops should have single entry and single exit point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Maintain one level of abstraction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Follow step-down approach (top → detail)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function arguments minimal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Wrap arguments into object/class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Prefer try/catch with exceptions over error codes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Remove dark code / commented code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mutating input objects unexpectedly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proper access modifiers (private, protected, public)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393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79D3-AE3D-1A09-723F-DB9E189A2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AC79D-3333-DB2E-539B-33FC4DFA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23B9C-3016-49F9-F685-EAD4B5D1E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04095-367C-35A3-9023-70EA46E5B830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EC95A8-6F81-3B15-42C6-3BBA80FC936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E1B3EC-D1F3-7EFB-E38F-DE01F689676B}"/>
              </a:ext>
            </a:extLst>
          </p:cNvPr>
          <p:cNvSpPr txBox="1"/>
          <p:nvPr/>
        </p:nvSpPr>
        <p:spPr>
          <a:xfrm>
            <a:off x="362720" y="125498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ourierNewPS-BoldMT"/>
              </a:rPr>
              <a:t>// Bad /** * No readable code **/</a:t>
            </a:r>
            <a:br>
              <a:rPr lang="en-US" dirty="0"/>
            </a:b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309DD1-0D12-D8BA-176D-5C1ED3BA5D73}"/>
              </a:ext>
            </a:extLst>
          </p:cNvPr>
          <p:cNvSpPr txBox="1"/>
          <p:nvPr/>
        </p:nvSpPr>
        <p:spPr>
          <a:xfrm>
            <a:off x="362720" y="88565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27CAD6-8519-4BBA-3114-F0F98FE2693D}"/>
              </a:ext>
            </a:extLst>
          </p:cNvPr>
          <p:cNvSpPr/>
          <p:nvPr/>
        </p:nvSpPr>
        <p:spPr>
          <a:xfrm>
            <a:off x="439956" y="1680890"/>
            <a:ext cx="10382570" cy="2717610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transferFunds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source, Account target,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BigDecimal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(source == null || target == null)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("Invalid account");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source.getBalance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 &lt; 0)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("Insufficient balance");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source.debit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target.credit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saveTransaction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target, 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0059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35303-B67B-526E-540D-87B20464B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C53CEC-8DD7-E8B4-9391-1F45DC21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CC920-47B3-0E24-4D85-C68709DAE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A7233-645F-09C3-90A8-F88BAFEC8104}"/>
              </a:ext>
            </a:extLst>
          </p:cNvPr>
          <p:cNvSpPr txBox="1"/>
          <p:nvPr/>
        </p:nvSpPr>
        <p:spPr>
          <a:xfrm>
            <a:off x="140043" y="932935"/>
            <a:ext cx="112034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76AB5-FECF-FF57-FB8A-27E999AD7B5F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C6A7D1-9745-C1E4-CC5F-51BC2E76B161}"/>
              </a:ext>
            </a:extLst>
          </p:cNvPr>
          <p:cNvSpPr/>
          <p:nvPr/>
        </p:nvSpPr>
        <p:spPr>
          <a:xfrm>
            <a:off x="550488" y="1481328"/>
            <a:ext cx="10382570" cy="48750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transferFunds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FundTransferTxn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Account source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txn.getSource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Account target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txn.getTarget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txn.getAmount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makeTransfer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(source, target,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txn.getAmount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Account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validateAccount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acc)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(acc == null)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InvalidAccountException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 acc;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 acc,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BigDecimal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if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acc.getBalance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 &lt; 0)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InsufficientBalanceException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25735-2721-5BDA-F042-1AEF81736945}"/>
              </a:ext>
            </a:extLst>
          </p:cNvPr>
          <p:cNvSpPr txBox="1"/>
          <p:nvPr/>
        </p:nvSpPr>
        <p:spPr>
          <a:xfrm>
            <a:off x="550488" y="1022466"/>
            <a:ext cx="81363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 Example </a:t>
            </a:r>
            <a:r>
              <a:rPr lang="en-US" b="1" dirty="0">
                <a:solidFill>
                  <a:srgbClr val="00B050"/>
                </a:solidFill>
              </a:rPr>
              <a:t>Easy to Read, Neat and Tidy, One Responsibility per function ...</a:t>
            </a:r>
            <a:r>
              <a:rPr lang="en-US" dirty="0">
                <a:solidFill>
                  <a:srgbClr val="00B050"/>
                </a:solidFill>
              </a:rPr>
              <a:t> </a:t>
            </a:r>
            <a:br>
              <a:rPr lang="en-US" dirty="0"/>
            </a:b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351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AAAF1-23CE-15EA-C234-1E07ECD89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C1F41-F84B-924B-CECA-026DF8F9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7CAC5-FC8B-BA1C-116C-A56450944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3F2E7-80FD-E3F4-9E5F-6602E5E8706F}"/>
              </a:ext>
            </a:extLst>
          </p:cNvPr>
          <p:cNvSpPr txBox="1"/>
          <p:nvPr/>
        </p:nvSpPr>
        <p:spPr>
          <a:xfrm>
            <a:off x="140043" y="932935"/>
            <a:ext cx="1120346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Class should have Single Responsibility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class small, cohesive, and focused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encapsulation → hide internal data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Expose behavior through methods, not direct data access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tight coupling between classes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number of instance variables minimal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meaningful class and method names</a:t>
            </a: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701A8A-63E5-E7D7-C1F1-83825BFFAF40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70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D263-7134-3212-DB75-844E0CA1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88B9A-7C63-4DD5-F055-93FA30E9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7EE9C-3EA4-8E0A-6376-3AAC11ED3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39E7EE-4BE3-5204-6516-C7F245DA1270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6DAB52-C320-B5B1-6D52-FAE1B7081B74}"/>
              </a:ext>
            </a:extLst>
          </p:cNvPr>
          <p:cNvSpPr/>
          <p:nvPr/>
        </p:nvSpPr>
        <p:spPr>
          <a:xfrm>
            <a:off x="550487" y="2124424"/>
            <a:ext cx="10382570" cy="3382074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UserManager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name;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double balance;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processUser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(email == null)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("Invalid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balance -= 100;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("Saving user");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("Sending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E193D-2AE4-8208-2B00-0630D75CB9B4}"/>
              </a:ext>
            </a:extLst>
          </p:cNvPr>
          <p:cNvSpPr txBox="1"/>
          <p:nvPr/>
        </p:nvSpPr>
        <p:spPr>
          <a:xfrm>
            <a:off x="550487" y="1421540"/>
            <a:ext cx="1131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// Bad /** * 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Multiple responsibilities , No encapsulation (public fields),Tight coupling ,Not cohesive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**/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E8422-AA19-4B83-E894-042934C99834}"/>
              </a:ext>
            </a:extLst>
          </p:cNvPr>
          <p:cNvSpPr txBox="1"/>
          <p:nvPr/>
        </p:nvSpPr>
        <p:spPr>
          <a:xfrm>
            <a:off x="664170" y="98217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369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220F-BCCA-0780-4F61-B7D2F317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3AEC2A-A0CB-171F-4C9D-E42DEFC12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E800E-FD4B-3349-192F-429D74A16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and Object Design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ED9C66-1E09-DD39-FB12-C19B46B49F5F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E5EEAD-89F9-F638-5EB5-DBBE2D2C8C14}"/>
              </a:ext>
            </a:extLst>
          </p:cNvPr>
          <p:cNvSpPr/>
          <p:nvPr/>
        </p:nvSpPr>
        <p:spPr>
          <a:xfrm>
            <a:off x="692323" y="1187999"/>
            <a:ext cx="10382570" cy="5266836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User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String name;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String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double balance;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debit(double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(balance &lt;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throw new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("Insufficient balance");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balance -= amount;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getEmail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return email;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double amount)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user.debit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(amount);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emailService.send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user.getEmail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void send(String email)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("Sending email");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A1F14-06A3-EF27-42B2-5D6B4D64BD39}"/>
              </a:ext>
            </a:extLst>
          </p:cNvPr>
          <p:cNvSpPr txBox="1"/>
          <p:nvPr/>
        </p:nvSpPr>
        <p:spPr>
          <a:xfrm>
            <a:off x="630874" y="8186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 (Headings)"/>
              </a:rPr>
              <a:t>**Good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100EC4E-B55B-F3C0-7E6E-16332588D7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296816" y="1187999"/>
            <a:ext cx="383952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Single Responsibility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Encapsulation (private fields)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Behavior via methods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Loose coupling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Small &amp; focused classes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Meaningful naming </a:t>
            </a:r>
          </a:p>
        </p:txBody>
      </p:sp>
    </p:spTree>
    <p:extLst>
      <p:ext uri="{BB962C8B-B14F-4D97-AF65-F5344CB8AC3E}">
        <p14:creationId xmlns:p14="http://schemas.microsoft.com/office/powerpoint/2010/main" val="2688797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992C-E432-FE2D-C0A3-CF43D1C3A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9B7B7D-6142-25BF-B536-7733ABC1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591C7-0C64-B014-3301-C1B5E50B3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Object Usage &amp; Design Practices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0B7A7-7F7E-10A8-D795-64E6DC537FB2}"/>
              </a:ext>
            </a:extLst>
          </p:cNvPr>
          <p:cNvSpPr txBox="1"/>
          <p:nvPr/>
        </p:nvSpPr>
        <p:spPr>
          <a:xfrm>
            <a:off x="240627" y="905503"/>
            <a:ext cx="1120346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Prefer Objects over raw data structures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mixing data + business logic without structure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objects to encapsulate behavior and state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Static only for: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Utility methods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Stateless operations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Non-Static (Instance) when: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Behavior depends on object state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Dependency Injection is required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>
                <a:latin typeface="Calibri (Headings)"/>
              </a:rPr>
              <a:t>Future extension/testing is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overuse of static methods (reduces flexibility and testability)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br>
              <a:rPr lang="en-US" dirty="0"/>
            </a:br>
            <a:br>
              <a:rPr lang="en-US" dirty="0"/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alibri (Headings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485825-790A-8AC3-209E-76287ACAE02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A66EF-0493-4FCF-9791-62DAF6BFA9DB}"/>
              </a:ext>
            </a:extLst>
          </p:cNvPr>
          <p:cNvSpPr txBox="1"/>
          <p:nvPr/>
        </p:nvSpPr>
        <p:spPr>
          <a:xfrm>
            <a:off x="240627" y="417146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9AAE3-DEF8-6886-32BE-973FD1853476}"/>
              </a:ext>
            </a:extLst>
          </p:cNvPr>
          <p:cNvSpPr txBox="1"/>
          <p:nvPr/>
        </p:nvSpPr>
        <p:spPr>
          <a:xfrm>
            <a:off x="240627" y="4569682"/>
            <a:ext cx="113166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// Bad /** * 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Multiple responsibilities , No encapsulation (public fields),Tight coupling ,Not cohesive</a:t>
            </a:r>
            <a:r>
              <a:rPr lang="en-US" sz="1800" b="1" i="0" dirty="0">
                <a:solidFill>
                  <a:srgbClr val="FF0000"/>
                </a:solidFill>
                <a:effectLst/>
                <a:latin typeface="Calibri (Headings)"/>
              </a:rPr>
              <a:t>**/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F65DE8-7F38-AB41-EEEC-842B685287C1}"/>
              </a:ext>
            </a:extLst>
          </p:cNvPr>
          <p:cNvSpPr/>
          <p:nvPr/>
        </p:nvSpPr>
        <p:spPr>
          <a:xfrm>
            <a:off x="429907" y="5030438"/>
            <a:ext cx="10382570" cy="1691037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OrderUtil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static double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(double price, int qty)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return price * qty;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static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(double price, int qty)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double total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(price, qty);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("Processing order: " + total);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5204378-03E9-3A25-E709-7C99178DA03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97308" y="5167299"/>
            <a:ext cx="373433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No object → no encapsulation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Business logic in static methods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Hard to extend / test </a:t>
            </a:r>
          </a:p>
        </p:txBody>
      </p:sp>
    </p:spTree>
    <p:extLst>
      <p:ext uri="{BB962C8B-B14F-4D97-AF65-F5344CB8AC3E}">
        <p14:creationId xmlns:p14="http://schemas.microsoft.com/office/powerpoint/2010/main" val="90169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5412-83F6-0410-797C-2996462FA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F701F8-A015-015A-5B14-C63F26F2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67E1E-D170-9805-963B-F8BEF3D2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Object Usage &amp; Design Practices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7E5FDA-AA31-7084-6084-096F8F3EEBC7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456929-0D2A-7879-6039-994358A6E26E}"/>
              </a:ext>
            </a:extLst>
          </p:cNvPr>
          <p:cNvSpPr/>
          <p:nvPr/>
        </p:nvSpPr>
        <p:spPr>
          <a:xfrm>
            <a:off x="610777" y="1165801"/>
            <a:ext cx="10382570" cy="489573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Order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private double price;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private int quantity;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Order(double price, int quantity)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this.price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price;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this.quantity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quantity;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double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return price * quantity;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OrderService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public void process(Order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double total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order.calculateTotal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("Processing order: " + total);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2C15E-5625-FF2D-DA21-9A42FBB77D20}"/>
              </a:ext>
            </a:extLst>
          </p:cNvPr>
          <p:cNvSpPr txBox="1"/>
          <p:nvPr/>
        </p:nvSpPr>
        <p:spPr>
          <a:xfrm>
            <a:off x="401401" y="7964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alibri (Headings)"/>
              </a:rPr>
              <a:t>**Good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C2023AF-82FD-58D0-E340-83333D9FD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29" y="1349599"/>
            <a:ext cx="418204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Avoid mixing logic in static utility class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instance methods when behavior</a:t>
            </a:r>
            <a:endParaRPr lang="en-US" altLang="en-US" sz="1600" b="1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      depends on state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Better for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extension &amp;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5853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765CF-08D3-28DF-5710-A981B83BD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3CE674-F045-4790-6FCA-23B5787E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BA6C0-2207-CAA3-0849-DF59517CA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Commenting and 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824C2-FF4A-60AB-5A51-38A886C63282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C2AF58-5D24-02B8-F156-60D6575AE801}"/>
              </a:ext>
            </a:extLst>
          </p:cNvPr>
          <p:cNvSpPr txBox="1"/>
          <p:nvPr/>
        </p:nvSpPr>
        <p:spPr>
          <a:xfrm>
            <a:off x="203200" y="948690"/>
            <a:ext cx="11884967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Source code itself should be self-explanatory and developer should put comment only if the function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or variable naming convention is not clear enough.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CDSG enforces Java Doc to be used for commenting. All public methods must be commented 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The code must have comments with as clear information as possible. Don’t over comment on it though.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Comments should only be in English language. It will help future maintainers to understand the code easily.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 Explanation of Business Logic must be explained in comments or documentations for the methods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which executes Business Logic such as loan interest calculation, financial formulas.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Source of Information and explanation should be described in comments for functions which are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coded based on specific platform or language’s version.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Avoid the following types of comment.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Too Obvious and Redundant Comments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Don’t write comments just because you can write them.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 HTML Comments</a:t>
            </a:r>
          </a:p>
        </p:txBody>
      </p:sp>
    </p:spTree>
    <p:extLst>
      <p:ext uri="{BB962C8B-B14F-4D97-AF65-F5344CB8AC3E}">
        <p14:creationId xmlns:p14="http://schemas.microsoft.com/office/powerpoint/2010/main" val="314113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41105-7038-3AD1-E696-1E6D2CFD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CB2CFD-33E9-A4C3-7B87-DCB07B110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9077F-2578-88AF-2ED7-689324AEB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Commenting and Documentation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654E87-DC2F-FF0A-78AF-4724A9B431C2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392A9-F777-7AC5-8F4D-942217FB4B5C}"/>
              </a:ext>
            </a:extLst>
          </p:cNvPr>
          <p:cNvSpPr txBox="1"/>
          <p:nvPr/>
        </p:nvSpPr>
        <p:spPr>
          <a:xfrm>
            <a:off x="385896" y="1364988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FF0000"/>
                </a:solidFill>
                <a:effectLst/>
                <a:latin typeface="CourierNewPS-BoldMT"/>
              </a:rPr>
              <a:t>// Bad /** * No readable code **/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FDF99-295A-4B33-4EB8-7CAE1F0206E6}"/>
              </a:ext>
            </a:extLst>
          </p:cNvPr>
          <p:cNvSpPr txBox="1"/>
          <p:nvPr/>
        </p:nvSpPr>
        <p:spPr>
          <a:xfrm>
            <a:off x="358902" y="99565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B3D2F5-6511-521E-FA8E-57C383BB1296}"/>
              </a:ext>
            </a:extLst>
          </p:cNvPr>
          <p:cNvSpPr/>
          <p:nvPr/>
        </p:nvSpPr>
        <p:spPr>
          <a:xfrm>
            <a:off x="504768" y="1773883"/>
            <a:ext cx="10382570" cy="1935352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/**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Utility method that returns when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this.closed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true. Throws an exception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the timeout is reached.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synchronized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waitForClose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(final long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timeoutMillis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 Exception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if(!closed){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timeoutMillis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if(!closed)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 new Exception("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MockResponseSender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could not be closed");}}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3BF419-EF52-1979-333F-E86FEE4B5A6D}"/>
              </a:ext>
            </a:extLst>
          </p:cNvPr>
          <p:cNvSpPr/>
          <p:nvPr/>
        </p:nvSpPr>
        <p:spPr>
          <a:xfrm>
            <a:off x="504768" y="3841131"/>
            <a:ext cx="10382570" cy="258168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@param title The title of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author The author of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tracks The number of tracks on the CD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@param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durationInMinutes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The duration of the CD in minutes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title, String author,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tracks, int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durationInMinutes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CD();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cd.title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title;cd.author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author;cd.tracks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tracks;cd.duration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duration;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cdList.add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(cd);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98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0B30-BF4F-974F-C02C-EC908DF9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AF1DDF-55B4-50D4-9DC7-D71E2FEB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43D8D-10D6-E75A-3F94-248ACA8B5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1A738-CDAB-BCEE-C464-F90E95474D21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248F9-2966-C896-A161-351D034FAD0B}"/>
              </a:ext>
            </a:extLst>
          </p:cNvPr>
          <p:cNvSpPr txBox="1"/>
          <p:nvPr/>
        </p:nvSpPr>
        <p:spPr>
          <a:xfrm>
            <a:off x="344166" y="815112"/>
            <a:ext cx="9482956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Code must be properly wrapped in the try-catch-finally blocks.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b="0" i="0" dirty="0">
                <a:solidFill>
                  <a:srgbClr val="000000"/>
                </a:solidFill>
                <a:effectLst/>
                <a:latin typeface="Calibri (Headings)"/>
              </a:rPr>
              <a:t>Catch only the Exception that you expect and handle it appropriately.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Generic Exception must be caught after the check exceptions and logs properly.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Never Catch Throwable Class preferable not Exception Class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Always do the clean up after exception Handling.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Never return object or throw exception at finally block.  Don’t Return Null and Don’t Pass Null to avoid </a:t>
            </a:r>
            <a:r>
              <a:rPr lang="en-US" dirty="0" err="1">
                <a:latin typeface="Calibri (Headings)"/>
                <a:cs typeface="Courier New" panose="02070309020205020404" pitchFamily="49" charset="0"/>
              </a:rPr>
              <a:t>NullPointerExceptions</a:t>
            </a:r>
            <a:r>
              <a:rPr lang="en-US" dirty="0">
                <a:latin typeface="Calibri (Headings)"/>
                <a:cs typeface="Courier New" panose="02070309020205020404" pitchFamily="49" charset="0"/>
              </a:rPr>
              <a:t> Error.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 Always return immutable object or special object rather than Null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Always check whether passed argument objects are null.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665AE4-F64A-B8D6-FF1B-9C24B1215836}"/>
              </a:ext>
            </a:extLst>
          </p:cNvPr>
          <p:cNvSpPr/>
          <p:nvPr/>
        </p:nvSpPr>
        <p:spPr>
          <a:xfrm>
            <a:off x="1810152" y="1670441"/>
            <a:ext cx="4444546" cy="157389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parseFile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filePath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some code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handle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NumberFormatException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handle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F7F91-2C68-4B65-65A4-AA316566E7B9}"/>
              </a:ext>
            </a:extLst>
          </p:cNvPr>
          <p:cNvSpPr txBox="1"/>
          <p:nvPr/>
        </p:nvSpPr>
        <p:spPr>
          <a:xfrm>
            <a:off x="457522" y="167044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661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3F31-0757-CBB6-35D1-ECF6744E3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8D2834-090D-1E52-A785-6C3324B0D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9795C-255B-C570-8BF2-838ABE820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D2C2B6-B931-BC33-5533-076FF459828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88634-24F0-25FA-8E52-AAEE822C425D}"/>
              </a:ext>
            </a:extLst>
          </p:cNvPr>
          <p:cNvSpPr txBox="1"/>
          <p:nvPr/>
        </p:nvSpPr>
        <p:spPr>
          <a:xfrm>
            <a:off x="404622" y="1041822"/>
            <a:ext cx="94983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Always consider all error codes that API can throw.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HTTP Status Code: 500: How to handle that situation?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 REST API Error Template: Refer to API Standardization Document - Error Handling Section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REST API Error Codes: Refer to API Standardization Document - Error Handling Section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disclose sensitive information in error responses, including system details, session identifiers or account information.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error handlers that do not display debugging or stack trace information.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Implement generic error messages and use custom error pages.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The application should handle application errors and not rely on the server configuration.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Properly free allocated memory when error conditions occur.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Error handling logic associated with security controls should deny access by default. </a:t>
            </a:r>
            <a:br>
              <a:rPr lang="en-US" dirty="0">
                <a:latin typeface="Calibri (Headings)"/>
              </a:rPr>
            </a:br>
            <a:br>
              <a:rPr lang="en-US" dirty="0">
                <a:latin typeface="Calibri (Headings)"/>
                <a:cs typeface="Courier New" panose="02070309020205020404" pitchFamily="49" charset="0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36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9E34-B879-B3C1-00F0-2353F04AC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DC3808-5987-0E10-FC5E-E9D1F808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49B19-8217-D061-2332-DC9B69B48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E6E8E-EF33-0B21-01ED-2916BEC2491B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CC974D-B749-2D01-0BDA-13F1066C3561}"/>
              </a:ext>
            </a:extLst>
          </p:cNvPr>
          <p:cNvSpPr txBox="1"/>
          <p:nvPr/>
        </p:nvSpPr>
        <p:spPr>
          <a:xfrm>
            <a:off x="372074" y="1311204"/>
            <a:ext cx="9498330" cy="607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@Slf4j annotation for logging using Lombok library.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 Console.log must be removed when the code is deployed to production.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console.log(user); //Remove this line.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 meaningful information that can support the operation requirement, troubleshooting and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analytics.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Example: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user action, anomalies, system triggers</a:t>
            </a:r>
            <a:endParaRPr lang="en-US" sz="1400" dirty="0">
              <a:latin typeface="Calibri (Headings)"/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Don’t log any PII (Personally Identifiable Information) and sensitive data, including: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Personal Information (Name, Address, Email, Phone)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Identity Documents (NRC, Passport, Driving License, Government IDs)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Financial Information (Bank Account, Credit/Debit/Prepaid/Virtual Card, Transactions)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Authentication Data (Password, OTP, API Key, Security Token)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  <a:latin typeface="Calibri (Headings)"/>
              </a:rPr>
              <a:t>Biometric Data (Fingerprint, Voice, Retina, DNA)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Logging of transactional data should be avoided and where necessary, should be minimized to the identifier that could be used to reference the user, transaction record etc.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Example: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Customer ID, Transaction Reference ID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C6451-23E4-52C1-F7A2-650E55235981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</p:spTree>
    <p:extLst>
      <p:ext uri="{BB962C8B-B14F-4D97-AF65-F5344CB8AC3E}">
        <p14:creationId xmlns:p14="http://schemas.microsoft.com/office/powerpoint/2010/main" val="906474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98FF-2ADB-91A0-5D10-BFCE293A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F11B1C-66DB-C83B-5B59-332C9270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4CB42-C296-D7D0-0857-8C64F0E12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4B44B5-6030-A730-9E24-249E0067BF71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66527-17A4-2EB9-650E-8A4468AA1779}"/>
              </a:ext>
            </a:extLst>
          </p:cNvPr>
          <p:cNvSpPr txBox="1"/>
          <p:nvPr/>
        </p:nvSpPr>
        <p:spPr>
          <a:xfrm>
            <a:off x="372074" y="1311204"/>
            <a:ext cx="949833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Log4J logging levels in ordered and their usages.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i.e.,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✓ If the application log level is ‘DEBUG’, messages for DEBUG, INFO, WARN, ERROR and FATAL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log levels will be logged.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✓ If the application log level is ‘WARN’, messages for WARN, ERROR and FATAL log levels will be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logged.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8D0D1-896C-169F-4D9F-0E1D48D3BF18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1BF24B-D656-02E2-944F-9D31DB13B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789" y="3270715"/>
            <a:ext cx="6845836" cy="28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39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91A75-7716-7B23-2130-E2F855AE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7A744E-46E5-C9A6-6EEA-B2AA31E3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1D3-8F50-26F9-A4EE-F49E845B0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47C4C-5AAB-FFDE-6F89-26F6D921720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C112EC-0E56-2E4F-0BE9-CBC8F56AD0A2}"/>
              </a:ext>
            </a:extLst>
          </p:cNvPr>
          <p:cNvSpPr txBox="1"/>
          <p:nvPr/>
        </p:nvSpPr>
        <p:spPr>
          <a:xfrm>
            <a:off x="372074" y="1311204"/>
            <a:ext cx="949833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("Missing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in access token,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cifClaim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is null");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log.warn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("SKIPPING validation for this field because current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FieldName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is not present as `key` / `hint` / `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mappingColumn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` in Wave's data");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log.info("Starting to generate report from database.");</a:t>
            </a:r>
          </a:p>
          <a:p>
            <a:pPr marL="228600" indent="-228600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log.debug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("Post Bill Info request with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" +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request.getBillId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r>
              <a:rPr lang="en-US" dirty="0">
                <a:latin typeface="Calibri (Headings)"/>
              </a:rPr>
              <a:t>When sensitive data needs to be logged inevitably for debugging purpose, APPLY MASKING.</a:t>
            </a:r>
          </a:p>
          <a:p>
            <a:r>
              <a:rPr lang="en-US" dirty="0">
                <a:latin typeface="Calibri (Headings)"/>
              </a:rPr>
              <a:t>Example:</a:t>
            </a:r>
            <a:r>
              <a:rPr lang="en-US" sz="1200" dirty="0">
                <a:latin typeface="Calibri (Headings)"/>
              </a:rPr>
              <a:t> </a:t>
            </a:r>
            <a:br>
              <a:rPr lang="en-US" sz="1200" dirty="0"/>
            </a:b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0D13F-8F42-69F4-7907-C005E63F7997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BB28DC-22D5-FDB8-2088-5E6D5FA68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677" y="2970570"/>
            <a:ext cx="5812691" cy="34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61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D458-1FDE-8176-4C38-94E172E0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E5EBB6-7694-CA67-0379-AE34F0F7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C7616-C7F9-51E8-5D18-90E838A74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Logging Practices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29FA58-D762-AF91-E304-6C2B02D16309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CAC07-C828-6257-EC48-EB8E5680D0EE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Standard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F59E0-2B51-8409-A413-90A515BC32E3}"/>
              </a:ext>
            </a:extLst>
          </p:cNvPr>
          <p:cNvSpPr txBox="1"/>
          <p:nvPr/>
        </p:nvSpPr>
        <p:spPr>
          <a:xfrm>
            <a:off x="355322" y="1403569"/>
            <a:ext cx="10123702" cy="538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Implement logging on a trusted system (server)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Support success and failure of security events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Ensure un-trusted data does not execute as code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Restrict logs to authorized individuals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centralized logging system (Example: </a:t>
            </a:r>
            <a:r>
              <a:rPr lang="en-US" b="0" dirty="0" err="1">
                <a:effectLst/>
                <a:latin typeface="Calibri (Headings)"/>
              </a:rPr>
              <a:t>Graylog</a:t>
            </a:r>
            <a:r>
              <a:rPr lang="en-US" b="0" dirty="0">
                <a:effectLst/>
                <a:latin typeface="Calibri (Headings)"/>
              </a:rPr>
              <a:t>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input validation failures and cryptographic module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authentication attempts, especially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access control failures, system exceptions and backend TLS connection failures.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apparent tampering events, including unexpected changes to state data.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attempts to connect with invalid or expired session tokens.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Log all administrative functions, including changes to the security configuration settings.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  <a:cs typeface="Courier New" panose="02070309020205020404" pitchFamily="49" charset="0"/>
              </a:rPr>
              <a:t> Use a cryptographic hash function to validate log entry integrity.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937972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5227B-E06E-5424-72C3-BEEC02DE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ACC546-F644-9A37-9925-AF9F81E4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6C41E-82FF-BEB0-4AE1-21F89949B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Spring Boot Layered Architecture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61D53-DC8A-1918-2CDB-51591CEA676B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73B0C-EEF6-7405-E561-74EBD5B87D2A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Architecture 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D0344-3750-5DF6-0A67-F346BA38D1D4}"/>
              </a:ext>
            </a:extLst>
          </p:cNvPr>
          <p:cNvSpPr txBox="1"/>
          <p:nvPr/>
        </p:nvSpPr>
        <p:spPr>
          <a:xfrm>
            <a:off x="1090422" y="145732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Client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Controller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Service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Repository</a:t>
            </a:r>
            <a:r>
              <a:rPr lang="en-US" dirty="0"/>
              <a:t> →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Database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D07E2-5EB2-B712-65AD-B6D8156C453E}"/>
              </a:ext>
            </a:extLst>
          </p:cNvPr>
          <p:cNvSpPr txBox="1"/>
          <p:nvPr/>
        </p:nvSpPr>
        <p:spPr>
          <a:xfrm>
            <a:off x="249174" y="2029029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Responsibilities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5EB6EBD-627A-44B6-F6DE-178058C2C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38" y="2560354"/>
            <a:ext cx="521840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 HTTP request/response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validation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logic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handling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Repository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access (JPA / JDBC)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Persistent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ED9B2C-660C-27F1-FF56-F50201A2ECD2}"/>
              </a:ext>
            </a:extLst>
          </p:cNvPr>
          <p:cNvSpPr/>
          <p:nvPr/>
        </p:nvSpPr>
        <p:spPr>
          <a:xfrm>
            <a:off x="6343650" y="1905532"/>
            <a:ext cx="5093568" cy="157389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Notes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*Each Layer has Single Responsibility ,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*No Direct Access: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/>
              <a:t>❌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Controller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Repository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, </a:t>
            </a:r>
            <a:r>
              <a:rPr lang="en-US" sz="1200" dirty="0"/>
              <a:t>❌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ControllerDB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6DB22F-7462-7FBC-B390-F4D59CB51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051" y="4120485"/>
            <a:ext cx="2162477" cy="21910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5152FF-8095-BC36-49FE-F6BFE6C215A4}"/>
              </a:ext>
            </a:extLst>
          </p:cNvPr>
          <p:cNvSpPr txBox="1"/>
          <p:nvPr/>
        </p:nvSpPr>
        <p:spPr>
          <a:xfrm>
            <a:off x="6239290" y="3507316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Sample Project Structure </a:t>
            </a:r>
          </a:p>
        </p:txBody>
      </p:sp>
    </p:spTree>
    <p:extLst>
      <p:ext uri="{BB962C8B-B14F-4D97-AF65-F5344CB8AC3E}">
        <p14:creationId xmlns:p14="http://schemas.microsoft.com/office/powerpoint/2010/main" val="707130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0E2EA-A498-578F-8CDD-17240E9D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5F828E-F79D-3E25-FEDB-D28746E8A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E5A79-5460-5B0F-36E6-5BABDB41D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Transaction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05612D-DDF6-3B3D-BA68-CC3875C7B28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4BFB6-E1BB-F610-F13C-E6FD471E27B9}"/>
              </a:ext>
            </a:extLst>
          </p:cNvPr>
          <p:cNvSpPr/>
          <p:nvPr/>
        </p:nvSpPr>
        <p:spPr>
          <a:xfrm>
            <a:off x="580644" y="4059623"/>
            <a:ext cx="5093568" cy="18216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u="sng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repository.save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catch (Exception e)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("Error occurred", e);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 Exception swallowed → NO rollback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6C5A2D-CA8C-49E5-9EB6-2D69BEE43CE4}"/>
              </a:ext>
            </a:extLst>
          </p:cNvPr>
          <p:cNvSpPr txBox="1"/>
          <p:nvPr/>
        </p:nvSpPr>
        <p:spPr>
          <a:xfrm>
            <a:off x="358902" y="973659"/>
            <a:ext cx="6167628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@Transactional</a:t>
            </a:r>
            <a:r>
              <a:rPr lang="en-US" dirty="0"/>
              <a:t> </a:t>
            </a:r>
            <a:r>
              <a:rPr lang="en-US" dirty="0">
                <a:latin typeface="Calibri (Headings)"/>
              </a:rPr>
              <a:t>for </a:t>
            </a:r>
            <a:r>
              <a:rPr lang="en-US" b="1" dirty="0">
                <a:latin typeface="Calibri (Headings)"/>
              </a:rPr>
              <a:t>business operations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Auto </a:t>
            </a:r>
            <a:r>
              <a:rPr lang="en-US" b="1" dirty="0">
                <a:latin typeface="Calibri (Headings)"/>
              </a:rPr>
              <a:t>rollback on failure (runtime exception by default)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swallow exceptions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Always rethrow or use custom exception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Calibri (Headings)"/>
              </a:rPr>
              <a:t>Not Suitable for </a:t>
            </a:r>
          </a:p>
          <a:p>
            <a:endParaRPr lang="en-US" dirty="0">
              <a:latin typeface="Calibri (Headings)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7A70C9-4617-C765-75E9-E8B812BB9DED}"/>
              </a:ext>
            </a:extLst>
          </p:cNvPr>
          <p:cNvSpPr/>
          <p:nvPr/>
        </p:nvSpPr>
        <p:spPr>
          <a:xfrm>
            <a:off x="5927598" y="4041197"/>
            <a:ext cx="5093568" cy="182162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u="sng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@Transactional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 order)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repository.save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(order);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catch (Exception e)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("Error occurred", e);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throw e; // rethrow → rollback happens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128A3-4342-7E74-108D-C845D61E1060}"/>
              </a:ext>
            </a:extLst>
          </p:cNvPr>
          <p:cNvSpPr txBox="1"/>
          <p:nvPr/>
        </p:nvSpPr>
        <p:spPr>
          <a:xfrm>
            <a:off x="685038" y="5934670"/>
            <a:ext cx="108219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alibri (Headings)"/>
              </a:rPr>
              <a:t>Remark</a:t>
            </a:r>
            <a:r>
              <a:rPr lang="en-US" dirty="0">
                <a:solidFill>
                  <a:srgbClr val="FF0000"/>
                </a:solidFill>
                <a:latin typeface="Calibri (Headings)"/>
              </a:rPr>
              <a:t>: When using transaction please consider  Performance overhead , Long-running transaction problem, Not suitable for external calls , Memory / connection usage(connection pool exhausted)</a:t>
            </a:r>
          </a:p>
          <a:p>
            <a:endParaRPr lang="en-US" dirty="0">
              <a:solidFill>
                <a:srgbClr val="FF0000"/>
              </a:solidFill>
              <a:latin typeface="Calibri (Headings)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035B3-8102-63FE-F1CD-54E11E137492}"/>
              </a:ext>
            </a:extLst>
          </p:cNvPr>
          <p:cNvSpPr txBox="1"/>
          <p:nvPr/>
        </p:nvSpPr>
        <p:spPr>
          <a:xfrm>
            <a:off x="5845844" y="3714480"/>
            <a:ext cx="1181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**Good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2157FA-84E4-13BE-3AAB-78DA98E5C999}"/>
              </a:ext>
            </a:extLst>
          </p:cNvPr>
          <p:cNvSpPr txBox="1"/>
          <p:nvPr/>
        </p:nvSpPr>
        <p:spPr>
          <a:xfrm>
            <a:off x="580644" y="3714480"/>
            <a:ext cx="1620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 **Bad</a:t>
            </a:r>
            <a:endParaRPr lang="en-US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17DB4D4-1CEE-BC1D-6CBB-0EA315835C9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2595" y="2379247"/>
            <a:ext cx="6234143" cy="1038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Simple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read-only operations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 (Headings)"/>
              </a:rPr>
              <a:t>Long-running processes (batch, report) </a:t>
            </a:r>
          </a:p>
        </p:txBody>
      </p:sp>
    </p:spTree>
    <p:extLst>
      <p:ext uri="{BB962C8B-B14F-4D97-AF65-F5344CB8AC3E}">
        <p14:creationId xmlns:p14="http://schemas.microsoft.com/office/powerpoint/2010/main" val="407300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CBABE-1732-E1BA-3ED1-44C468D45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72A897-9355-1CF7-0805-45B39D52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08916-5958-5322-B134-B471893CA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EFC49D-E7FA-D258-5018-4D381026665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D5E62-C229-1F57-56B6-D55F5C844AFB}"/>
              </a:ext>
            </a:extLst>
          </p:cNvPr>
          <p:cNvSpPr txBox="1"/>
          <p:nvPr/>
        </p:nvSpPr>
        <p:spPr>
          <a:xfrm>
            <a:off x="249174" y="846333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Input Validation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A62E6-EF8E-E672-B243-65FF772F9792}"/>
              </a:ext>
            </a:extLst>
          </p:cNvPr>
          <p:cNvSpPr txBox="1"/>
          <p:nvPr/>
        </p:nvSpPr>
        <p:spPr>
          <a:xfrm>
            <a:off x="355322" y="1367309"/>
            <a:ext cx="9255022" cy="4224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on trusted system (backend server)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Classify trusted vs untrusted data sources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all untrusted sources (DB, file streams)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centralized validation routine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Apply UTF-8 / canonicalization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Reject all validation failures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client data (params, URLs, headers, cookies)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Validate data type, range, length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whitelist validation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Handle hazardous characters (&lt; &gt; ' % etc.)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Check null bytes, new line, path traversal (../)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422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70FEA-8EA3-92B5-674B-E06318A90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042343-B2BC-C3A6-0A2B-C5E2B566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31CE9-0570-D017-51C1-4FDA9B71C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FFD06C-8023-2A48-64AD-58F3F93B36A3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21287-80F0-4453-8059-88129EBC5609}"/>
              </a:ext>
            </a:extLst>
          </p:cNvPr>
          <p:cNvSpPr txBox="1"/>
          <p:nvPr/>
        </p:nvSpPr>
        <p:spPr>
          <a:xfrm>
            <a:off x="380789" y="837189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Access Communication Security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8807C-C8F1-64C3-EE1A-8A8F29484C4E}"/>
              </a:ext>
            </a:extLst>
          </p:cNvPr>
          <p:cNvSpPr txBox="1"/>
          <p:nvPr/>
        </p:nvSpPr>
        <p:spPr>
          <a:xfrm>
            <a:off x="380789" y="1392745"/>
            <a:ext cx="9255022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TLS encryption for all sensitive data and TLS for external systems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Ensure valid certificates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Do not fallback to insecure connection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 err="1"/>
              <a:t>bcrypt</a:t>
            </a:r>
            <a:r>
              <a:rPr lang="en-US" b="1" dirty="0"/>
              <a:t> / Argon2 / PBKDF2</a:t>
            </a:r>
            <a:r>
              <a:rPr lang="en-US" dirty="0"/>
              <a:t>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Filter sensitive data from referrer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Disable client-side caching for </a:t>
            </a:r>
            <a:r>
              <a:rPr lang="en-US" b="1" dirty="0"/>
              <a:t>sensitive data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Use: </a:t>
            </a:r>
          </a:p>
          <a:p>
            <a:pPr lvl="1"/>
            <a:r>
              <a:rPr lang="en-US" b="1" dirty="0"/>
              <a:t>Cache-Control: no-store </a:t>
            </a:r>
          </a:p>
          <a:p>
            <a:pPr lvl="1"/>
            <a:r>
              <a:rPr lang="en-US" b="1" dirty="0"/>
              <a:t>Pragma: no-cache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Apply </a:t>
            </a:r>
            <a:r>
              <a:rPr lang="en-US" b="1" dirty="0"/>
              <a:t>HTTP Security Headers</a:t>
            </a:r>
            <a:r>
              <a:rPr lang="en-US" dirty="0"/>
              <a:t>: </a:t>
            </a:r>
          </a:p>
          <a:p>
            <a:pPr lvl="1"/>
            <a:r>
              <a:rPr lang="en-US" b="1" dirty="0"/>
              <a:t>HSTS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CSP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XSS Protection</a:t>
            </a:r>
            <a:r>
              <a:rPr lang="en-US" dirty="0"/>
              <a:t>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dirty="0">
              <a:latin typeface="Calibri (Headings)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948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101B6-82C4-FDB9-6CFA-58079C239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AD7945-81B7-54AA-E432-0B01BB40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8ADE3-4FB7-F72C-2A8E-EF4386A5F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ECAB92-5D26-1EB2-75DC-915E95431096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07E8A-D0F9-200D-FF91-C472958B2743}"/>
              </a:ext>
            </a:extLst>
          </p:cNvPr>
          <p:cNvSpPr txBox="1"/>
          <p:nvPr/>
        </p:nvSpPr>
        <p:spPr>
          <a:xfrm>
            <a:off x="329362" y="868680"/>
            <a:ext cx="9730057" cy="3465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Database Security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/>
              <a:t>ORM or parameterized queries</a:t>
            </a:r>
            <a:r>
              <a:rPr lang="en-US" dirty="0"/>
              <a:t>; stored procedures are </a:t>
            </a:r>
            <a:r>
              <a:rPr lang="en-US" b="1" dirty="0"/>
              <a:t>optional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Apply </a:t>
            </a:r>
            <a:r>
              <a:rPr lang="en-US" b="1" dirty="0"/>
              <a:t>input validation + encoding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Use </a:t>
            </a:r>
            <a:r>
              <a:rPr lang="en-US" b="1" dirty="0"/>
              <a:t>least privilege </a:t>
            </a:r>
            <a:r>
              <a:rPr lang="en-US" dirty="0"/>
              <a:t>DB access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Encrypt </a:t>
            </a:r>
            <a:r>
              <a:rPr lang="en-US" b="1" dirty="0"/>
              <a:t>connection strings / credentials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Remove default accounts &amp; configs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Close DB connections properly and avoid hardcoding credentials</a:t>
            </a:r>
          </a:p>
          <a:p>
            <a:pPr>
              <a:lnSpc>
                <a:spcPct val="150000"/>
              </a:lnSpc>
            </a:pP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1236600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76BF-9346-2CC1-DFC6-3D2E50EE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F5D350-A67D-B791-C1C0-02D5C59E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D8E63-14A2-826F-AD0D-92D6C6A25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Secure Coding Guidelines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A6B8E1-5AF0-430F-44CD-151949F0E1BE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A9224-0BB4-A674-CEAB-A3BE18B6C444}"/>
              </a:ext>
            </a:extLst>
          </p:cNvPr>
          <p:cNvSpPr txBox="1"/>
          <p:nvPr/>
        </p:nvSpPr>
        <p:spPr>
          <a:xfrm>
            <a:off x="327890" y="923691"/>
            <a:ext cx="6094476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General Coding Practices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4D0813-99F0-BED4-5460-130D458824A6}"/>
              </a:ext>
            </a:extLst>
          </p:cNvPr>
          <p:cNvSpPr txBox="1"/>
          <p:nvPr/>
        </p:nvSpPr>
        <p:spPr>
          <a:xfrm>
            <a:off x="541782" y="1641987"/>
            <a:ext cx="763295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approved libraries / APIs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Avoid direct OS command execution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Use hash/checksum for integrity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Handle concurrency (locking)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Initialize variables explicitly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Prevent race conditions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effectLst/>
                <a:latin typeface="Calibri (Headings)"/>
              </a:rPr>
              <a:t>Avoid dynamic execution of user input</a:t>
            </a:r>
          </a:p>
        </p:txBody>
      </p:sp>
    </p:spTree>
    <p:extLst>
      <p:ext uri="{BB962C8B-B14F-4D97-AF65-F5344CB8AC3E}">
        <p14:creationId xmlns:p14="http://schemas.microsoft.com/office/powerpoint/2010/main" val="3350777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9DCD-7773-679E-7CED-53D259ABB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52B921-DF1D-67F1-F451-FC9D68B2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F608D-6444-27AC-A628-66DAE9147B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Concept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F270E9-0431-4ECB-40C7-AAA6AAEC52DC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20B97-9883-BD17-8822-5C7010ACFEBD}"/>
              </a:ext>
            </a:extLst>
          </p:cNvPr>
          <p:cNvSpPr txBox="1"/>
          <p:nvPr/>
        </p:nvSpPr>
        <p:spPr>
          <a:xfrm>
            <a:off x="185166" y="950147"/>
            <a:ext cx="7632954" cy="365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meaningful and consistent naming conventions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Write small, clear, and focused methods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Keep code simple and easy to understand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Avoid unnecessary comments – prefer self-explanatory code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Handle exceptions properly with clear error messages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Implement meaningful and centralized logging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Follow secure coding practices (validation, authentication, access control)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Ensure code is consistent, maintainable, and reusable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700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56DC-31FE-5165-32A3-6C7A6992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FB09B-3806-EB46-0B19-D4B3FA4D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19509F-696A-1952-E709-97A8EBB51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Review Checklist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F11AF-D47E-A476-9DAD-225475AC6538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B64BC-B111-C0E8-A202-A8377955C033}"/>
              </a:ext>
            </a:extLst>
          </p:cNvPr>
          <p:cNvSpPr txBox="1"/>
          <p:nvPr/>
        </p:nvSpPr>
        <p:spPr>
          <a:xfrm>
            <a:off x="185166" y="950147"/>
            <a:ext cx="7632954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Naming is clear, meaningful, and consistent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Methods are small and focused (single responsibility)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Code is easy to read and understand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Comments are used only when necessary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Exceptions are handled properly (no swallowing errors)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Error messages are clear and useful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Logging is implemented for key operations and failures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Sensitive data is not exposed in logs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Input validation is properly implemented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Access control and authentication are properly enforced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latin typeface="Calibri (Headings)"/>
              </a:rPr>
              <a:t>Code follows consistent formatting and structure</a:t>
            </a:r>
            <a:endParaRPr lang="en-US" b="0" dirty="0">
              <a:effectLst/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4254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58C8F-D519-EEBF-E2F0-3A155C07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4E384-79E2-9984-F342-56139720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FFE48-7E16-8CC9-35FD-F080CA087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Idea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370726-1BE3-D8E7-9928-1984C82F247D}"/>
              </a:ext>
            </a:extLst>
          </p:cNvPr>
          <p:cNvSpPr txBox="1"/>
          <p:nvPr/>
        </p:nvSpPr>
        <p:spPr>
          <a:xfrm>
            <a:off x="7895303" y="1641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0DD3D-5BA3-7017-D6BB-258F3D4D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56" y="1035580"/>
            <a:ext cx="8254999" cy="550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03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000635"/>
            <a:ext cx="12191999" cy="51898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846692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B54161-7D86-D47F-AE38-0B0D4BF6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34</a:t>
            </a:fld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037E349-FB78-867B-0CB7-2A5695FFD96C}"/>
              </a:ext>
            </a:extLst>
          </p:cNvPr>
          <p:cNvSpPr txBox="1">
            <a:spLocks/>
          </p:cNvSpPr>
          <p:nvPr/>
        </p:nvSpPr>
        <p:spPr bwMode="auto">
          <a:xfrm>
            <a:off x="3200400" y="3000635"/>
            <a:ext cx="7114031" cy="518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Arial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Practical Examples - Applying Code Standards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4D293-6502-0250-2629-CB2D75734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136525"/>
            <a:ext cx="10226779" cy="465975"/>
          </a:xfrm>
        </p:spPr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777781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B773-9E76-811C-FF54-CE00C78D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F6286D-C552-CAE4-3A2E-C1D5DD628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611F6-1E94-473C-0D39-9CE11CFEA94A}"/>
              </a:ext>
            </a:extLst>
          </p:cNvPr>
          <p:cNvSpPr txBox="1"/>
          <p:nvPr/>
        </p:nvSpPr>
        <p:spPr>
          <a:xfrm>
            <a:off x="347472" y="82296"/>
            <a:ext cx="649953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Practical Examples- Applying Variable Practices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711C3-18FC-239A-66C3-8487B62BCEBE}"/>
              </a:ext>
            </a:extLst>
          </p:cNvPr>
          <p:cNvSpPr txBox="1"/>
          <p:nvPr/>
        </p:nvSpPr>
        <p:spPr>
          <a:xfrm>
            <a:off x="444836" y="1462278"/>
            <a:ext cx="6917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Avoid magic numbers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eplace hard-coded values with constants or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enums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A4DEA8-FEE0-B8DA-A71C-6BED102E8B19}"/>
              </a:ext>
            </a:extLst>
          </p:cNvPr>
          <p:cNvSpPr txBox="1"/>
          <p:nvPr/>
        </p:nvSpPr>
        <p:spPr>
          <a:xfrm>
            <a:off x="462615" y="2413221"/>
            <a:ext cx="7067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Why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31309-EC92-30F0-C1CF-B2E4C8100F13}"/>
              </a:ext>
            </a:extLst>
          </p:cNvPr>
          <p:cNvSpPr txBox="1"/>
          <p:nvPr/>
        </p:nvSpPr>
        <p:spPr>
          <a:xfrm>
            <a:off x="597067" y="2535358"/>
            <a:ext cx="7949866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Reduce misunderstanding ,  debugging more easier  which lead to easier maintenance.</a:t>
            </a: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AD273-B009-0AAB-01E9-56F9AED94E10}"/>
              </a:ext>
            </a:extLst>
          </p:cNvPr>
          <p:cNvSpPr txBox="1"/>
          <p:nvPr/>
        </p:nvSpPr>
        <p:spPr>
          <a:xfrm>
            <a:off x="457200" y="3636906"/>
            <a:ext cx="11526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200060-881F-BCF0-8D8F-AFF5ECE0129C}"/>
              </a:ext>
            </a:extLst>
          </p:cNvPr>
          <p:cNvSpPr/>
          <p:nvPr/>
        </p:nvSpPr>
        <p:spPr>
          <a:xfrm>
            <a:off x="462615" y="4100872"/>
            <a:ext cx="5255603" cy="2343334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✅ Do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(status== </a:t>
            </a:r>
            <a:r>
              <a:rPr lang="en-US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Status.ACTIVE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r>
              <a:rPr lang="en-US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static final String PRODUCT_BSC="BSC";</a:t>
            </a:r>
            <a:b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static final </a:t>
            </a:r>
          </a:p>
          <a:p>
            <a:r>
              <a:rPr lang="en-US" sz="1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MAX_RETRY_COUNT = 3;</a:t>
            </a:r>
            <a:b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retryOrder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(PRODUCT_BSC,MAX_RETRY_COUNT);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dirty="0"/>
              <a:t>_RETRY_COUNT);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E37276-6B17-D303-4413-7994B2B98994}"/>
              </a:ext>
            </a:extLst>
          </p:cNvPr>
          <p:cNvSpPr/>
          <p:nvPr/>
        </p:nvSpPr>
        <p:spPr>
          <a:xfrm>
            <a:off x="5882415" y="4100872"/>
            <a:ext cx="2959437" cy="2343334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❌ Don’t</a:t>
            </a:r>
            <a:b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if(status==1);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retryOrder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(”BSC”,3)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2F764-A024-6E47-9FDF-FF55AB5B1D9F}"/>
              </a:ext>
            </a:extLst>
          </p:cNvPr>
          <p:cNvSpPr txBox="1"/>
          <p:nvPr/>
        </p:nvSpPr>
        <p:spPr>
          <a:xfrm>
            <a:off x="462615" y="949643"/>
            <a:ext cx="6912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Rule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251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417C-2EAB-FEBD-6E2E-E00716D9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9803EA-9308-8ED1-5058-5B4E1E5F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4F3C6-41B0-DF52-AE36-4E969B6FECF4}"/>
              </a:ext>
            </a:extLst>
          </p:cNvPr>
          <p:cNvSpPr txBox="1"/>
          <p:nvPr/>
        </p:nvSpPr>
        <p:spPr>
          <a:xfrm>
            <a:off x="347472" y="82296"/>
            <a:ext cx="78729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Improvement Examples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 Methods Practices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C7AB56-5D8A-BBBD-510C-F00517FFB7CF}"/>
              </a:ext>
            </a:extLst>
          </p:cNvPr>
          <p:cNvSpPr txBox="1"/>
          <p:nvPr/>
        </p:nvSpPr>
        <p:spPr>
          <a:xfrm>
            <a:off x="462615" y="949643"/>
            <a:ext cx="6912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Rule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12965-61B8-D801-AC1C-6861B79C456A}"/>
              </a:ext>
            </a:extLst>
          </p:cNvPr>
          <p:cNvSpPr txBox="1"/>
          <p:nvPr/>
        </p:nvSpPr>
        <p:spPr>
          <a:xfrm>
            <a:off x="444836" y="1462278"/>
            <a:ext cx="691729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Small , Single Purpose Less arguments ( max 3 better )</a:t>
            </a: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5DDE13-2017-F601-BAFA-18B6DF237C68}"/>
              </a:ext>
            </a:extLst>
          </p:cNvPr>
          <p:cNvSpPr txBox="1"/>
          <p:nvPr/>
        </p:nvSpPr>
        <p:spPr>
          <a:xfrm>
            <a:off x="457200" y="1910429"/>
            <a:ext cx="7067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Why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6F3D18-B178-9BA5-EB1B-382959F07CCE}"/>
              </a:ext>
            </a:extLst>
          </p:cNvPr>
          <p:cNvSpPr txBox="1"/>
          <p:nvPr/>
        </p:nvSpPr>
        <p:spPr>
          <a:xfrm>
            <a:off x="394878" y="2050707"/>
            <a:ext cx="794986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Easier to maintain and enhance reusability and debugging</a:t>
            </a: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33B1D0-2148-74C2-7F03-6F921DA39FE6}"/>
              </a:ext>
            </a:extLst>
          </p:cNvPr>
          <p:cNvSpPr txBox="1"/>
          <p:nvPr/>
        </p:nvSpPr>
        <p:spPr>
          <a:xfrm>
            <a:off x="394878" y="2914154"/>
            <a:ext cx="11526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771983F-96A4-D7C3-3A3E-908257CAF1FD}"/>
              </a:ext>
            </a:extLst>
          </p:cNvPr>
          <p:cNvSpPr/>
          <p:nvPr/>
        </p:nvSpPr>
        <p:spPr>
          <a:xfrm>
            <a:off x="433619" y="3512960"/>
            <a:ext cx="4292265" cy="2343334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✅ Better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pushMoney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inside </a:t>
            </a:r>
            <a:r>
              <a:rPr lang="en-US" sz="1200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pushMoney</a:t>
            </a: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call following methods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verifyProduct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doSale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printData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commissionSave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1359BAB-CB29-5990-296B-6F8378EE59AE}"/>
              </a:ext>
            </a:extLst>
          </p:cNvPr>
          <p:cNvSpPr/>
          <p:nvPr/>
        </p:nvSpPr>
        <p:spPr>
          <a:xfrm>
            <a:off x="4928617" y="3512960"/>
            <a:ext cx="3913236" cy="2343334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❌ Bad</a:t>
            </a:r>
          </a:p>
          <a:p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//put validate , product verification ,sale , print ,commission logic inside one method</a:t>
            </a:r>
          </a:p>
          <a:p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pushMoney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574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FFF2F-906D-64B1-8EA1-C6664F66C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E3FEBC-C1DF-556B-6BA8-5135087E7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A774B2-AEA6-1D0D-1FE2-C3119B5773F3}"/>
              </a:ext>
            </a:extLst>
          </p:cNvPr>
          <p:cNvSpPr txBox="1"/>
          <p:nvPr/>
        </p:nvSpPr>
        <p:spPr>
          <a:xfrm>
            <a:off x="347472" y="82296"/>
            <a:ext cx="840480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Practical Examples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Applying Class &amp; Object Design Practices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88B25-9613-E82E-3F00-A5147C560889}"/>
              </a:ext>
            </a:extLst>
          </p:cNvPr>
          <p:cNvSpPr txBox="1"/>
          <p:nvPr/>
        </p:nvSpPr>
        <p:spPr>
          <a:xfrm>
            <a:off x="462615" y="949643"/>
            <a:ext cx="6912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Rule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0D2C8-EDCB-0092-F0D8-A9B6B02DA50C}"/>
              </a:ext>
            </a:extLst>
          </p:cNvPr>
          <p:cNvSpPr txBox="1"/>
          <p:nvPr/>
        </p:nvSpPr>
        <p:spPr>
          <a:xfrm>
            <a:off x="444836" y="1462278"/>
            <a:ext cx="9476404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Single  </a:t>
            </a:r>
            <a:r>
              <a:rPr lang="en-US" sz="2000" b="1" dirty="0">
                <a:solidFill>
                  <a:schemeClr val="accent6"/>
                </a:solidFill>
              </a:rPr>
              <a:t>Responsibility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, slim ,cohesive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Hide internal Structure</a:t>
            </a:r>
          </a:p>
          <a:p>
            <a:pPr>
              <a:defRPr sz="2200">
                <a:solidFill>
                  <a:srgbClr val="E8E8E8"/>
                </a:solidFill>
              </a:defRPr>
            </a:pP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113543-4059-E467-9421-2C9F1E524F09}"/>
              </a:ext>
            </a:extLst>
          </p:cNvPr>
          <p:cNvSpPr txBox="1"/>
          <p:nvPr/>
        </p:nvSpPr>
        <p:spPr>
          <a:xfrm>
            <a:off x="462615" y="2166786"/>
            <a:ext cx="7067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Why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E3931A-4C96-31BA-F96B-F3A274842071}"/>
              </a:ext>
            </a:extLst>
          </p:cNvPr>
          <p:cNvSpPr txBox="1"/>
          <p:nvPr/>
        </p:nvSpPr>
        <p:spPr>
          <a:xfrm>
            <a:off x="347472" y="2307305"/>
            <a:ext cx="7949866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Easier to maintain and understand and reduce tight coupling</a:t>
            </a: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7BFACC-1846-1EAF-FB60-F9159551327D}"/>
              </a:ext>
            </a:extLst>
          </p:cNvPr>
          <p:cNvSpPr txBox="1"/>
          <p:nvPr/>
        </p:nvSpPr>
        <p:spPr>
          <a:xfrm>
            <a:off x="347472" y="3213556"/>
            <a:ext cx="11526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3B4EE8-0224-9444-77F0-3855C8E66D0D}"/>
              </a:ext>
            </a:extLst>
          </p:cNvPr>
          <p:cNvSpPr/>
          <p:nvPr/>
        </p:nvSpPr>
        <p:spPr>
          <a:xfrm>
            <a:off x="444836" y="3846583"/>
            <a:ext cx="7712120" cy="1133327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❌ Don’t (Expose internal Structure)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Customer customer;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order.customer.getAddress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getCity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FF8CEE-B38B-2A82-E828-B8419546ECA2}"/>
              </a:ext>
            </a:extLst>
          </p:cNvPr>
          <p:cNvSpPr/>
          <p:nvPr/>
        </p:nvSpPr>
        <p:spPr>
          <a:xfrm>
            <a:off x="431962" y="5153763"/>
            <a:ext cx="7712121" cy="1366312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✅ Do (encapsulation)</a:t>
            </a:r>
          </a:p>
          <a:p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Customer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getCustomerCity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customer.getAddress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getCity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/>
              <a:t>}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4C895-2029-5637-E3AA-90B04BEA0A1A}"/>
              </a:ext>
            </a:extLst>
          </p:cNvPr>
          <p:cNvSpPr txBox="1"/>
          <p:nvPr/>
        </p:nvSpPr>
        <p:spPr>
          <a:xfrm>
            <a:off x="5266944" y="5652253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Law of Demeter</a:t>
            </a:r>
            <a:endParaRPr lang="en-US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C0D468D-8B63-4CF0-C3AC-A1B46F0C3D26}"/>
              </a:ext>
            </a:extLst>
          </p:cNvPr>
          <p:cNvSpPr/>
          <p:nvPr/>
        </p:nvSpPr>
        <p:spPr>
          <a:xfrm>
            <a:off x="4828032" y="5276088"/>
            <a:ext cx="329184" cy="1124712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1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738F-DB1D-F7A7-9DA2-7E864E2F9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CDBCC9-C260-2627-F71D-79B344050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3A0C5-440D-FCFF-65B5-5E440FC57286}"/>
              </a:ext>
            </a:extLst>
          </p:cNvPr>
          <p:cNvSpPr txBox="1"/>
          <p:nvPr/>
        </p:nvSpPr>
        <p:spPr>
          <a:xfrm>
            <a:off x="347472" y="82296"/>
            <a:ext cx="68655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dirty="0"/>
              <a:t>Code Standard Example- Object vs Data Structure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DD9195-ED8B-5E79-6B24-8F579CDD89A9}"/>
              </a:ext>
            </a:extLst>
          </p:cNvPr>
          <p:cNvSpPr txBox="1"/>
          <p:nvPr/>
        </p:nvSpPr>
        <p:spPr>
          <a:xfrm>
            <a:off x="462615" y="949643"/>
            <a:ext cx="6912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Rule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25329-20EC-98A3-6460-2A2CDCAD5D59}"/>
              </a:ext>
            </a:extLst>
          </p:cNvPr>
          <p:cNvSpPr txBox="1"/>
          <p:nvPr/>
        </p:nvSpPr>
        <p:spPr>
          <a:xfrm>
            <a:off x="444836" y="1462278"/>
            <a:ext cx="947640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/>
              <a:t>Prefer Objects over raw data structure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/>
              <a:t>Avoid hybrid ( half object + half data)</a:t>
            </a: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D79807-0A60-C6CB-2424-DC7926670449}"/>
              </a:ext>
            </a:extLst>
          </p:cNvPr>
          <p:cNvSpPr txBox="1"/>
          <p:nvPr/>
        </p:nvSpPr>
        <p:spPr>
          <a:xfrm>
            <a:off x="462615" y="2166786"/>
            <a:ext cx="7067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Why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958A98-B12D-102B-64D1-63669B5B70F8}"/>
              </a:ext>
            </a:extLst>
          </p:cNvPr>
          <p:cNvSpPr txBox="1"/>
          <p:nvPr/>
        </p:nvSpPr>
        <p:spPr>
          <a:xfrm>
            <a:off x="347472" y="2307305"/>
            <a:ext cx="794986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E8E8E8"/>
                </a:solidFill>
              </a:defRPr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000" dirty="0"/>
              <a:t>Objects aims for behavior expose where as data structure expose data so mixing both creates confusion</a:t>
            </a:r>
            <a:endParaRPr lang="en-US" sz="2000" dirty="0">
              <a:solidFill>
                <a:srgbClr val="FFFF00"/>
              </a:solidFill>
            </a:endParaRP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lang="en-US" sz="2000" dirty="0"/>
          </a:p>
          <a:p>
            <a:pPr algn="ctr">
              <a:defRPr sz="2200">
                <a:solidFill>
                  <a:srgbClr val="E8E8E8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7952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3080D-064C-5BD3-C0AA-D136D219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4C4226-2F89-4AED-5986-854A7C9D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2053C-75A2-893B-6711-04A7A34CEC1F}"/>
              </a:ext>
            </a:extLst>
          </p:cNvPr>
          <p:cNvSpPr txBox="1"/>
          <p:nvPr/>
        </p:nvSpPr>
        <p:spPr>
          <a:xfrm>
            <a:off x="347472" y="82296"/>
            <a:ext cx="686559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dirty="0"/>
              <a:t>Code Standard Example- Object vs Data Structure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3FB1CB-1A9E-41B3-22EE-8BDEB584F777}"/>
              </a:ext>
            </a:extLst>
          </p:cNvPr>
          <p:cNvSpPr txBox="1"/>
          <p:nvPr/>
        </p:nvSpPr>
        <p:spPr>
          <a:xfrm>
            <a:off x="444836" y="826972"/>
            <a:ext cx="11526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610AFB-E95B-5BF7-2EC7-C98398D80FD0}"/>
              </a:ext>
            </a:extLst>
          </p:cNvPr>
          <p:cNvSpPr/>
          <p:nvPr/>
        </p:nvSpPr>
        <p:spPr>
          <a:xfrm>
            <a:off x="444836" y="1313796"/>
            <a:ext cx="7712120" cy="1892015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❌ Bad (Hybrid bad design)</a:t>
            </a:r>
          </a:p>
          <a:p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name;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email;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{// logic here}</a:t>
            </a: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BC8A17F-5487-6D94-818C-D2E6B56CE9D1}"/>
              </a:ext>
            </a:extLst>
          </p:cNvPr>
          <p:cNvSpPr/>
          <p:nvPr/>
        </p:nvSpPr>
        <p:spPr>
          <a:xfrm>
            <a:off x="444836" y="3358388"/>
            <a:ext cx="7712120" cy="2672640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✅ Better (Proper Separation)</a:t>
            </a:r>
          </a:p>
          <a:p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String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name;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String email;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String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getEmail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email;}</a:t>
            </a: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EmailService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user) {// logic here}}</a:t>
            </a: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0730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674E-BCA2-0A6B-4D42-14D84893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61675B-F6C8-EBA5-7090-E04A5C6B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38E29-ED14-017D-8CF9-28E5C7825C6E}"/>
              </a:ext>
            </a:extLst>
          </p:cNvPr>
          <p:cNvSpPr txBox="1"/>
          <p:nvPr/>
        </p:nvSpPr>
        <p:spPr>
          <a:xfrm>
            <a:off x="347472" y="82296"/>
            <a:ext cx="694247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Practical Examples- Applying Inheritance &amp;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F3D21B-8038-8279-9085-098BBA81D0FE}"/>
              </a:ext>
            </a:extLst>
          </p:cNvPr>
          <p:cNvSpPr txBox="1"/>
          <p:nvPr/>
        </p:nvSpPr>
        <p:spPr>
          <a:xfrm>
            <a:off x="469044" y="871145"/>
            <a:ext cx="6912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Rule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E22C27-8EC6-1A35-8522-4DF24475D2E7}"/>
              </a:ext>
            </a:extLst>
          </p:cNvPr>
          <p:cNvSpPr txBox="1"/>
          <p:nvPr/>
        </p:nvSpPr>
        <p:spPr>
          <a:xfrm>
            <a:off x="181344" y="1302032"/>
            <a:ext cx="7600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Base class should not depend on child classes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Prefer composition over inheritance</a:t>
            </a: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6039F-63EC-3712-8CDE-1006CDC13D52}"/>
              </a:ext>
            </a:extLst>
          </p:cNvPr>
          <p:cNvSpPr txBox="1"/>
          <p:nvPr/>
        </p:nvSpPr>
        <p:spPr>
          <a:xfrm>
            <a:off x="469044" y="2029325"/>
            <a:ext cx="70679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Why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68129C-B8E0-0D41-ACDF-31133239D94B}"/>
              </a:ext>
            </a:extLst>
          </p:cNvPr>
          <p:cNvSpPr txBox="1"/>
          <p:nvPr/>
        </p:nvSpPr>
        <p:spPr>
          <a:xfrm>
            <a:off x="181344" y="2460212"/>
            <a:ext cx="7508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Reduce tight coupling  and avoiding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fragile design</a:t>
            </a:r>
          </a:p>
          <a:p>
            <a:pPr algn="ctr">
              <a:defRPr sz="2200">
                <a:solidFill>
                  <a:srgbClr val="E8E8E8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160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D416-244B-51DB-4D6E-5095AB11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E58957-92C2-5EFB-7E32-8A21BC6A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B995D-4F66-8923-2E16-8CC514DBB9FF}"/>
              </a:ext>
            </a:extLst>
          </p:cNvPr>
          <p:cNvSpPr txBox="1"/>
          <p:nvPr/>
        </p:nvSpPr>
        <p:spPr>
          <a:xfrm>
            <a:off x="347472" y="82296"/>
            <a:ext cx="929030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Practical Examples- Applying Inheritance &amp; Design Practices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557CDC-E9B4-C3A1-1D09-FEB01E519981}"/>
              </a:ext>
            </a:extLst>
          </p:cNvPr>
          <p:cNvSpPr/>
          <p:nvPr/>
        </p:nvSpPr>
        <p:spPr>
          <a:xfrm>
            <a:off x="347472" y="1302032"/>
            <a:ext cx="4063156" cy="5332285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/>
              <a:t>✅ </a:t>
            </a:r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Better (polymorphism +clean 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design)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send();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send()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 Email");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SmsNoti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send()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 SMS");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type = "EMAIL";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2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EMAIL".equals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(type)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else{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e {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SmsNoti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noti.send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400" dirty="0"/>
            </a:br>
            <a:r>
              <a:rPr lang="en-US" sz="1400" dirty="0" err="1"/>
              <a:t>notification.send</a:t>
            </a:r>
            <a:r>
              <a:rPr lang="en-US" sz="1400" dirty="0"/>
              <a:t>();</a:t>
            </a:r>
            <a:endParaRPr lang="en-US" sz="13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4C4F1F-CC01-12BB-5E67-7916C351A8DA}"/>
              </a:ext>
            </a:extLst>
          </p:cNvPr>
          <p:cNvSpPr/>
          <p:nvPr/>
        </p:nvSpPr>
        <p:spPr>
          <a:xfrm>
            <a:off x="4745736" y="1302032"/>
            <a:ext cx="4063156" cy="5175718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❌ Bad (tight coupling)</a:t>
            </a:r>
            <a:br>
              <a:rPr lang="en-US" sz="1400" dirty="0"/>
            </a:b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NotiService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US" sz="13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send(String type) {</a:t>
            </a:r>
          </a:p>
          <a:p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("</a:t>
            </a:r>
            <a:r>
              <a:rPr lang="en-US" sz="13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EMAIL".equals</a:t>
            </a:r>
            <a:r>
              <a:rPr lang="en-US" sz="13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(typ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e)) {</a:t>
            </a:r>
          </a:p>
          <a:p>
            <a:r>
              <a:rPr lang="en-US" sz="1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sz="1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US" sz="1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 else if </a:t>
            </a:r>
            <a:r>
              <a:rPr lang="en-US" sz="13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3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SMS".equals</a:t>
            </a:r>
            <a:r>
              <a:rPr lang="en-US" sz="13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(type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r>
              <a:rPr lang="en-US" sz="1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sendSms</a:t>
            </a:r>
            <a:r>
              <a:rPr lang="en-US" sz="1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}}</a:t>
            </a:r>
          </a:p>
          <a:p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</a:t>
            </a:r>
            <a:r>
              <a:rPr lang="en-US" sz="13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sendEmail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sz="13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(“email send”);</a:t>
            </a:r>
          </a:p>
          <a:p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</a:t>
            </a:r>
            <a:r>
              <a:rPr lang="en-US" sz="13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sendSms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("Send SMS");</a:t>
            </a:r>
          </a:p>
          <a:p>
            <a:r>
              <a:rPr lang="en-US" sz="1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EB7A1D-B349-69B2-F1BA-B7AD2C666444}"/>
              </a:ext>
            </a:extLst>
          </p:cNvPr>
          <p:cNvSpPr txBox="1"/>
          <p:nvPr/>
        </p:nvSpPr>
        <p:spPr>
          <a:xfrm>
            <a:off x="469044" y="871145"/>
            <a:ext cx="115262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9276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B5AA-6045-6CF4-0D4F-3DEBB9B26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A76BCB-EECB-5DB4-8B2C-2C5BCBF3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0D8C76-8149-66FC-FB64-10324180A06A}"/>
              </a:ext>
            </a:extLst>
          </p:cNvPr>
          <p:cNvSpPr txBox="1"/>
          <p:nvPr/>
        </p:nvSpPr>
        <p:spPr>
          <a:xfrm>
            <a:off x="347472" y="82296"/>
            <a:ext cx="496687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dirty="0"/>
              <a:t>Code Standard Example- Exception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32D16-7966-CF2E-3757-FA5CB80A9418}"/>
              </a:ext>
            </a:extLst>
          </p:cNvPr>
          <p:cNvSpPr txBox="1"/>
          <p:nvPr/>
        </p:nvSpPr>
        <p:spPr>
          <a:xfrm>
            <a:off x="469044" y="871145"/>
            <a:ext cx="69121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</a:rPr>
              <a:t>Rule</a:t>
            </a:r>
            <a:endParaRPr sz="2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6A685-6000-D7AD-FB81-A9AE97D58BB3}"/>
              </a:ext>
            </a:extLst>
          </p:cNvPr>
          <p:cNvSpPr txBox="1"/>
          <p:nvPr/>
        </p:nvSpPr>
        <p:spPr>
          <a:xfrm>
            <a:off x="181344" y="1302032"/>
            <a:ext cx="107183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Catch </a:t>
            </a:r>
            <a:r>
              <a:rPr lang="en-US" sz="2200" dirty="0">
                <a:solidFill>
                  <a:srgbClr val="FFC000"/>
                </a:solidFill>
              </a:rPr>
              <a:t>specific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exceptions , don’t </a:t>
            </a:r>
            <a:r>
              <a:rPr lang="en-US" sz="2200" dirty="0">
                <a:solidFill>
                  <a:srgbClr val="FFC000"/>
                </a:solidFill>
              </a:rPr>
              <a:t>swallow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exceptions silently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Log </a:t>
            </a:r>
            <a:r>
              <a:rPr lang="en-US" sz="2200" dirty="0">
                <a:solidFill>
                  <a:srgbClr val="FFC000"/>
                </a:solidFill>
              </a:rPr>
              <a:t>actionable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200" dirty="0">
                <a:solidFill>
                  <a:srgbClr val="FFC000"/>
                </a:solidFill>
              </a:rPr>
              <a:t>context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without exposing sensitive data(see more on document about log)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Wrap low-level exceptions with </a:t>
            </a:r>
            <a:r>
              <a:rPr lang="en-US" sz="2200" dirty="0">
                <a:solidFill>
                  <a:srgbClr val="FFC000"/>
                </a:solidFill>
              </a:rPr>
              <a:t>domain-relevant exceptions 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when appropriate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Avoid using </a:t>
            </a:r>
            <a:r>
              <a:rPr lang="en-US" sz="2200" dirty="0">
                <a:solidFill>
                  <a:srgbClr val="FFC000"/>
                </a:solidFill>
              </a:rPr>
              <a:t>finally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blocks for business logic; use them only for </a:t>
            </a:r>
            <a:r>
              <a:rPr lang="en-US" sz="2200" dirty="0">
                <a:solidFill>
                  <a:srgbClr val="FFC000"/>
                </a:solidFill>
              </a:rPr>
              <a:t>cleanup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logging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C4B113-49E3-9F8E-830D-C368C3182CCD}"/>
              </a:ext>
            </a:extLst>
          </p:cNvPr>
          <p:cNvSpPr/>
          <p:nvPr/>
        </p:nvSpPr>
        <p:spPr>
          <a:xfrm>
            <a:off x="347472" y="2927835"/>
            <a:ext cx="8089564" cy="2714014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❌ Bad (useless info)</a:t>
            </a:r>
          </a:p>
          <a:p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log.info("Payment failed: {}", request);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 log sensitive data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 new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("Error");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PaymentRequest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request) 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paymentRepository.save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(request);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fail to catch DB operation</a:t>
            </a:r>
            <a:br>
              <a:rPr lang="en-US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("Error:{}“,e);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useless log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49899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AF8B-AF62-5BFD-00BD-07085608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C93826-1851-4944-07A0-591880C02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E4BE3-ABAD-1807-917B-034577133399}"/>
              </a:ext>
            </a:extLst>
          </p:cNvPr>
          <p:cNvSpPr txBox="1"/>
          <p:nvPr/>
        </p:nvSpPr>
        <p:spPr>
          <a:xfrm>
            <a:off x="347472" y="82296"/>
            <a:ext cx="496687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dirty="0"/>
              <a:t>Code Standard Example- Exception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94BC3D-7212-D858-C673-B5B40E67D06C}"/>
              </a:ext>
            </a:extLst>
          </p:cNvPr>
          <p:cNvSpPr/>
          <p:nvPr/>
        </p:nvSpPr>
        <p:spPr>
          <a:xfrm>
            <a:off x="368636" y="949643"/>
            <a:ext cx="11097940" cy="5527357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✅ Good </a:t>
            </a:r>
          </a:p>
          <a:p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processPayment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PaymentRequest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request)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paymentRepository.save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(request); // DB operation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log.info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("Payment successful for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={}",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request.getOrderId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DataAccessException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ex) {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DB-specific error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("Database error while processing payment.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={}",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request.getOrderId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ex);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PaymentProcessingException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"Payment failed due to database issue", ex);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(Exception ex)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unexpected error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log.error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("Unexpected error while processing payment.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={}",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request.getOrderId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ex);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PaymentProcessingException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"Unexpected error occurred while processing payment", ex);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2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PaymentProcessingException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12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PaymentProcessingException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message, Throwable cause) {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super(message, cause);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854358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1F67-6C92-0A77-77D8-0B3A4C8F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090591-DE8A-873E-B805-897F6F5E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EFB76-B942-BA68-D51E-DA94104CD30D}"/>
              </a:ext>
            </a:extLst>
          </p:cNvPr>
          <p:cNvSpPr txBox="1"/>
          <p:nvPr/>
        </p:nvSpPr>
        <p:spPr>
          <a:xfrm>
            <a:off x="347472" y="82296"/>
            <a:ext cx="80502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D166"/>
                </a:solidFill>
              </a:defRPr>
            </a:pPr>
            <a:r>
              <a:rPr lang="en-US" dirty="0"/>
              <a:t>Code Standard Example- </a:t>
            </a:r>
            <a:r>
              <a:rPr lang="en-US" dirty="0" err="1"/>
              <a:t>Sourcecode</a:t>
            </a:r>
            <a:r>
              <a:rPr lang="en-US" dirty="0"/>
              <a:t> structure formatting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6BB8EA-059C-77FE-C0CC-F0E7313D42B9}"/>
              </a:ext>
            </a:extLst>
          </p:cNvPr>
          <p:cNvSpPr txBox="1"/>
          <p:nvPr/>
        </p:nvSpPr>
        <p:spPr>
          <a:xfrm>
            <a:off x="550926" y="925544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1800" dirty="0"/>
              <a:t>Group related methods together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1800" dirty="0"/>
              <a:t>Keep consistent indentation and spacing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1800" dirty="0"/>
              <a:t>Follow </a:t>
            </a:r>
            <a:r>
              <a:rPr lang="en-US" sz="1800" dirty="0">
                <a:solidFill>
                  <a:srgbClr val="FFFF00"/>
                </a:solidFill>
              </a:rPr>
              <a:t>logical order : </a:t>
            </a:r>
            <a:r>
              <a:rPr lang="en-US" sz="1800" dirty="0">
                <a:solidFill>
                  <a:srgbClr val="FFC000"/>
                </a:solidFill>
              </a:rPr>
              <a:t>fields ,constructors ,public methods ,private methods</a:t>
            </a:r>
          </a:p>
          <a:p>
            <a:pPr marL="342900" indent="-342900">
              <a:buFont typeface="Wingdings" panose="05000000000000000000" pitchFamily="2" charset="2"/>
              <a:buChar char="Ø"/>
              <a:defRPr sz="2200">
                <a:solidFill>
                  <a:srgbClr val="E8E8E8"/>
                </a:solidFill>
              </a:defRPr>
            </a:pPr>
            <a:r>
              <a:rPr lang="en-US" sz="1800" dirty="0"/>
              <a:t>Separate responsibilities (Controller / Service / Repository)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C51D0B-26B1-29DE-0F58-812C9E29B16A}"/>
              </a:ext>
            </a:extLst>
          </p:cNvPr>
          <p:cNvSpPr/>
          <p:nvPr/>
        </p:nvSpPr>
        <p:spPr>
          <a:xfrm>
            <a:off x="364066" y="3437467"/>
            <a:ext cx="4318000" cy="3071231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✅ Good (use important info)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UserService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int count;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UserService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{}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saveUser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user)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validateUser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(user);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business logic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validateUser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(User user) {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validation logic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28E48F-8960-AD43-CBA9-A82A1E36D1DB}"/>
              </a:ext>
            </a:extLst>
          </p:cNvPr>
          <p:cNvSpPr/>
          <p:nvPr/>
        </p:nvSpPr>
        <p:spPr>
          <a:xfrm>
            <a:off x="4898303" y="3437467"/>
            <a:ext cx="3881631" cy="3071231"/>
          </a:xfrm>
          <a:prstGeom prst="roundRect">
            <a:avLst>
              <a:gd name="adj" fmla="val 9636"/>
            </a:avLst>
          </a:prstGeom>
          <a:solidFill>
            <a:schemeClr val="tx1">
              <a:alpha val="85000"/>
            </a:schemeClr>
          </a:solidFill>
          <a:ln>
            <a:solidFill>
              <a:schemeClr val="bg1">
                <a:alpha val="98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❌ Bad (useless info)</a:t>
            </a:r>
          </a:p>
          <a:p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UserService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save() {}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count;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UserService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{}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void helper() {}</a:t>
            </a:r>
            <a:b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4443297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ad6302-fdb1-4d2b-bae6-d2fdf9a97a42">
      <Terms xmlns="http://schemas.microsoft.com/office/infopath/2007/PartnerControls"/>
    </lcf76f155ced4ddcb4097134ff3c332f>
    <TaxCatchAll xmlns="76bb2ce8-bb45-4930-a7cf-51d5c3ce9955" xsi:nil="true"/>
    <_Flow_SignoffStatus xmlns="9fad6302-fdb1-4d2b-bae6-d2fdf9a97a4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9FAA4C2747084B87058E0E0A310158" ma:contentTypeVersion="17" ma:contentTypeDescription="Create a new document." ma:contentTypeScope="" ma:versionID="0d994700019694c4b789f2f92615bef0">
  <xsd:schema xmlns:xsd="http://www.w3.org/2001/XMLSchema" xmlns:xs="http://www.w3.org/2001/XMLSchema" xmlns:p="http://schemas.microsoft.com/office/2006/metadata/properties" xmlns:ns2="9fad6302-fdb1-4d2b-bae6-d2fdf9a97a42" xmlns:ns3="76bb2ce8-bb45-4930-a7cf-51d5c3ce9955" targetNamespace="http://schemas.microsoft.com/office/2006/metadata/properties" ma:root="true" ma:fieldsID="d1a30f74a7ef0c27ba753240d6a6513d" ns2:_="" ns3:_="">
    <xsd:import namespace="9fad6302-fdb1-4d2b-bae6-d2fdf9a97a42"/>
    <xsd:import namespace="76bb2ce8-bb45-4930-a7cf-51d5c3ce9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d6302-fdb1-4d2b-bae6-d2fdf9a97a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a68c42a-fa4e-4690-8c8d-5e2b77104c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4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b2ce8-bb45-4930-a7cf-51d5c3ce99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c937087-0f51-406b-8ce9-5382fca5863b}" ma:internalName="TaxCatchAll" ma:showField="CatchAllData" ma:web="76bb2ce8-bb45-4930-a7cf-51d5c3ce9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17D971-2416-483F-8C3C-F9A2317247D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4568BD-1A8E-4633-AD94-D8FBD47F872A}">
  <ds:schemaRefs>
    <ds:schemaRef ds:uri="http://schemas.microsoft.com/office/2006/metadata/properties"/>
    <ds:schemaRef ds:uri="http://schemas.microsoft.com/office/2006/documentManagement/types"/>
    <ds:schemaRef ds:uri="76bb2ce8-bb45-4930-a7cf-51d5c3ce9955"/>
    <ds:schemaRef ds:uri="http://www.w3.org/XML/1998/namespace"/>
    <ds:schemaRef ds:uri="9fad6302-fdb1-4d2b-bae6-d2fdf9a97a42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3B31715-BA8D-4E42-B12B-716E5EB2C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ad6302-fdb1-4d2b-bae6-d2fdf9a97a42"/>
    <ds:schemaRef ds:uri="76bb2ce8-bb45-4930-a7cf-51d5c3ce99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25109</TotalTime>
  <Words>4432</Words>
  <Application>Microsoft Office PowerPoint</Application>
  <PresentationFormat>Widescreen</PresentationFormat>
  <Paragraphs>749</Paragraphs>
  <Slides>44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Aptos</vt:lpstr>
      <vt:lpstr>Arial</vt:lpstr>
      <vt:lpstr>Calibri</vt:lpstr>
      <vt:lpstr>Calibri (Headings)</vt:lpstr>
      <vt:lpstr>Cambria</vt:lpstr>
      <vt:lpstr>Consolas</vt:lpstr>
      <vt:lpstr>Courier New</vt:lpstr>
      <vt:lpstr>CourierNewPS-BoldMT</vt:lpstr>
      <vt:lpstr>CourierNewPSMT</vt:lpstr>
      <vt:lpstr>Wingdings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Phyo Thu Han</cp:lastModifiedBy>
  <cp:revision>234</cp:revision>
  <dcterms:created xsi:type="dcterms:W3CDTF">2021-01-16T06:03:56Z</dcterms:created>
  <dcterms:modified xsi:type="dcterms:W3CDTF">2026-04-21T16:34:47Z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0x010100159FAA4C2747084B87058E0E0A310158</vt:lpwstr>
  </property>
  <property fmtid="{D5CDD505-2E9C-101B-9397-08002B2CF9AE}" pid="3" name="MediaServiceImageTags">
    <vt:lpwstr/>
  </property>
</Properties>
</file>