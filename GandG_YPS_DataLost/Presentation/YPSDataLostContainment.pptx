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7"/>
  </p:notesMasterIdLst>
  <p:sldIdLst>
    <p:sldId id="2145708748" r:id="rId5"/>
    <p:sldId id="2145708753" r:id="rId6"/>
    <p:sldId id="2145708750" r:id="rId7"/>
    <p:sldId id="2145708752" r:id="rId8"/>
    <p:sldId id="2145708773" r:id="rId9"/>
    <p:sldId id="2145708761" r:id="rId10"/>
    <p:sldId id="2145708772" r:id="rId11"/>
    <p:sldId id="2145708758" r:id="rId12"/>
    <p:sldId id="2145708771" r:id="rId13"/>
    <p:sldId id="2145708770" r:id="rId14"/>
    <p:sldId id="2145708774" r:id="rId15"/>
    <p:sldId id="21457087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87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92426" autoAdjust="0"/>
  </p:normalViewPr>
  <p:slideViewPr>
    <p:cSldViewPr snapToGrid="0">
      <p:cViewPr varScale="1">
        <p:scale>
          <a:sx n="91" d="100"/>
          <a:sy n="91" d="100"/>
        </p:scale>
        <p:origin x="35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B89EC9-ADF7-4CD8-A359-4B3486574A56}"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80750-FA6C-4B62-A27E-0AEE5A77FE02}" type="slidenum">
              <a:rPr lang="en-US" smtClean="0"/>
              <a:t>‹#›</a:t>
            </a:fld>
            <a:endParaRPr lang="en-US"/>
          </a:p>
        </p:txBody>
      </p:sp>
    </p:spTree>
    <p:extLst>
      <p:ext uri="{BB962C8B-B14F-4D97-AF65-F5344CB8AC3E}">
        <p14:creationId xmlns:p14="http://schemas.microsoft.com/office/powerpoint/2010/main" val="3712467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3</a:t>
            </a:fld>
            <a:endParaRPr lang="en-US"/>
          </a:p>
        </p:txBody>
      </p:sp>
    </p:spTree>
    <p:extLst>
      <p:ext uri="{BB962C8B-B14F-4D97-AF65-F5344CB8AC3E}">
        <p14:creationId xmlns:p14="http://schemas.microsoft.com/office/powerpoint/2010/main" val="304748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4</a:t>
            </a:fld>
            <a:endParaRPr lang="en-US"/>
          </a:p>
        </p:txBody>
      </p:sp>
    </p:spTree>
    <p:extLst>
      <p:ext uri="{BB962C8B-B14F-4D97-AF65-F5344CB8AC3E}">
        <p14:creationId xmlns:p14="http://schemas.microsoft.com/office/powerpoint/2010/main" val="2543431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2727D-C7C5-BED4-16D3-D4A0ABD92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253C1-73AA-1E45-A917-D030CCEBF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944CF-77AF-20E0-4092-4EC6835020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285253-6005-D829-5DC4-C98008B09979}"/>
              </a:ext>
            </a:extLst>
          </p:cNvPr>
          <p:cNvSpPr>
            <a:spLocks noGrp="1"/>
          </p:cNvSpPr>
          <p:nvPr>
            <p:ph type="sldNum" sz="quarter" idx="5"/>
          </p:nvPr>
        </p:nvSpPr>
        <p:spPr/>
        <p:txBody>
          <a:bodyPr/>
          <a:lstStyle/>
          <a:p>
            <a:fld id="{74180750-FA6C-4B62-A27E-0AEE5A77FE02}" type="slidenum">
              <a:rPr lang="en-US" smtClean="0"/>
              <a:t>5</a:t>
            </a:fld>
            <a:endParaRPr lang="en-US"/>
          </a:p>
        </p:txBody>
      </p:sp>
    </p:spTree>
    <p:extLst>
      <p:ext uri="{BB962C8B-B14F-4D97-AF65-F5344CB8AC3E}">
        <p14:creationId xmlns:p14="http://schemas.microsoft.com/office/powerpoint/2010/main" val="3422941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6</a:t>
            </a:fld>
            <a:endParaRPr lang="en-US"/>
          </a:p>
        </p:txBody>
      </p:sp>
    </p:spTree>
    <p:extLst>
      <p:ext uri="{BB962C8B-B14F-4D97-AF65-F5344CB8AC3E}">
        <p14:creationId xmlns:p14="http://schemas.microsoft.com/office/powerpoint/2010/main" val="2645628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63136-BFF8-EB78-2165-16658AEC134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AB4DD45-BABB-0DD6-2A45-730A5E2A3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64DEE-651B-DBFF-6616-A6F7523F1B48}"/>
              </a:ext>
            </a:extLst>
          </p:cNvPr>
          <p:cNvSpPr>
            <a:spLocks noGrp="1"/>
          </p:cNvSpPr>
          <p:nvPr>
            <p:ph type="sldNum" sz="quarter" idx="12"/>
          </p:nvPr>
        </p:nvSpPr>
        <p:spPr/>
        <p:txBody>
          <a:bodyPr/>
          <a:lstStyle/>
          <a:p>
            <a:fld id="{24FE4A72-F922-477C-8EF1-5A284132E052}" type="slidenum">
              <a:rPr lang="en-US" smtClean="0"/>
              <a:t>‹#›</a:t>
            </a:fld>
            <a:endParaRPr lang="en-US"/>
          </a:p>
        </p:txBody>
      </p:sp>
    </p:spTree>
    <p:extLst>
      <p:ext uri="{BB962C8B-B14F-4D97-AF65-F5344CB8AC3E}">
        <p14:creationId xmlns:p14="http://schemas.microsoft.com/office/powerpoint/2010/main" val="3889387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86C0EAA3-C71A-43A2-91D0-C6C31102094E}"/>
              </a:ext>
            </a:extLst>
          </p:cNvPr>
          <p:cNvSpPr>
            <a:spLocks noGrp="1"/>
          </p:cNvSpPr>
          <p:nvPr>
            <p:ph type="body" sz="quarter" idx="13"/>
          </p:nvPr>
        </p:nvSpPr>
        <p:spPr>
          <a:xfrm>
            <a:off x="544635" y="3447317"/>
            <a:ext cx="7676173" cy="1893748"/>
          </a:xfrm>
        </p:spPr>
        <p:txBody>
          <a:bodyPr/>
          <a:lstStyle>
            <a:lvl1pPr>
              <a:buNone/>
              <a:defRPr sz="3600"/>
            </a:lvl1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428A08A-DC60-4455-BFC7-21B4F189180D}" type="datetime1">
              <a:rPr lang="en-US" smtClean="0">
                <a:solidFill>
                  <a:prstClr val="black">
                    <a:tint val="75000"/>
                  </a:prstClr>
                </a:solidFill>
              </a:rPr>
              <a:t>3/6/2026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Rectangle 6"/>
          <p:cNvSpPr/>
          <p:nvPr userDrawn="1"/>
        </p:nvSpPr>
        <p:spPr>
          <a:xfrm>
            <a:off x="0" y="6408288"/>
            <a:ext cx="12192000" cy="248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sz="1800">
              <a:solidFill>
                <a:prstClr val="white"/>
              </a:solidFill>
            </a:endParaRPr>
          </a:p>
        </p:txBody>
      </p:sp>
      <p:sp>
        <p:nvSpPr>
          <p:cNvPr id="6" name="Slide Number Placeholder 5"/>
          <p:cNvSpPr>
            <a:spLocks noGrp="1"/>
          </p:cNvSpPr>
          <p:nvPr>
            <p:ph type="sldNum" sz="quarter" idx="12"/>
          </p:nvPr>
        </p:nvSpPr>
        <p:spPr/>
        <p:txBody>
          <a:bodyPr/>
          <a:lstStyle>
            <a:lvl1pPr>
              <a:defRPr/>
            </a:lvl1pPr>
          </a:lstStyle>
          <a:p>
            <a:pPr>
              <a:defRPr/>
            </a:pPr>
            <a:fld id="{4204250C-5885-48A6-8300-C696669B24AB}" type="slidenum">
              <a:rPr lang="en-US">
                <a:solidFill>
                  <a:prstClr val="white">
                    <a:lumMod val="50000"/>
                  </a:prstClr>
                </a:solidFill>
              </a:rPr>
              <a:pPr>
                <a:defRPr/>
              </a:pPr>
              <a:t>‹#›</a:t>
            </a:fld>
            <a:endParaRPr lang="en-US">
              <a:solidFill>
                <a:prstClr val="white">
                  <a:lumMod val="50000"/>
                </a:prstClr>
              </a:solidFill>
            </a:endParaRPr>
          </a:p>
        </p:txBody>
      </p:sp>
      <p:pic>
        <p:nvPicPr>
          <p:cNvPr id="12" name="Picture 11">
            <a:extLst>
              <a:ext uri="{FF2B5EF4-FFF2-40B4-BE49-F238E27FC236}">
                <a16:creationId xmlns:a16="http://schemas.microsoft.com/office/drawing/2014/main" id="{CCC60379-4B22-4A26-8D53-7990592BE2BE}"/>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20387" y="6259368"/>
            <a:ext cx="1356013" cy="50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8FA9DCE2-9A27-41CD-AA22-E05C8C5DA730}"/>
              </a:ext>
            </a:extLst>
          </p:cNvPr>
          <p:cNvSpPr/>
          <p:nvPr userDrawn="1"/>
        </p:nvSpPr>
        <p:spPr>
          <a:xfrm>
            <a:off x="0" y="410547"/>
            <a:ext cx="589497" cy="335039"/>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8BA8CB8-EDC3-4B46-9A15-ACDB3324900B}"/>
              </a:ext>
            </a:extLst>
          </p:cNvPr>
          <p:cNvSpPr/>
          <p:nvPr userDrawn="1"/>
        </p:nvSpPr>
        <p:spPr>
          <a:xfrm>
            <a:off x="0" y="0"/>
            <a:ext cx="12192000" cy="742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sp>
        <p:nvSpPr>
          <p:cNvPr id="13" name="Rectangle 12">
            <a:extLst>
              <a:ext uri="{FF2B5EF4-FFF2-40B4-BE49-F238E27FC236}">
                <a16:creationId xmlns:a16="http://schemas.microsoft.com/office/drawing/2014/main" id="{2A1BDA31-1101-46FE-8D24-6516A8D2B08F}"/>
              </a:ext>
            </a:extLst>
          </p:cNvPr>
          <p:cNvSpPr/>
          <p:nvPr userDrawn="1"/>
        </p:nvSpPr>
        <p:spPr>
          <a:xfrm>
            <a:off x="0" y="6185647"/>
            <a:ext cx="121920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pic>
        <p:nvPicPr>
          <p:cNvPr id="14" name="Picture 7">
            <a:extLst>
              <a:ext uri="{FF2B5EF4-FFF2-40B4-BE49-F238E27FC236}">
                <a16:creationId xmlns:a16="http://schemas.microsoft.com/office/drawing/2014/main" id="{0D347471-B928-4112-A3B7-7591089D2ED3}"/>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39462" y="2158515"/>
            <a:ext cx="3173267" cy="118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BDBDD774-C799-4B89-A9B2-280F767B7AD9}"/>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bg1"/>
                </a:solidFill>
                <a:latin typeface="Arial" panose="020B06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151723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3C4130-7473-4328-9DB3-C3281C7D1F05}"/>
              </a:ext>
            </a:extLst>
          </p:cNvPr>
          <p:cNvSpPr/>
          <p:nvPr userDrawn="1"/>
        </p:nvSpPr>
        <p:spPr>
          <a:xfrm>
            <a:off x="0" y="6147547"/>
            <a:ext cx="121920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sp>
        <p:nvSpPr>
          <p:cNvPr id="8" name="Rectangle 7">
            <a:extLst>
              <a:ext uri="{FF2B5EF4-FFF2-40B4-BE49-F238E27FC236}">
                <a16:creationId xmlns:a16="http://schemas.microsoft.com/office/drawing/2014/main" id="{D12D724A-26F3-49B6-9B01-1DED33C73C61}"/>
              </a:ext>
            </a:extLst>
          </p:cNvPr>
          <p:cNvSpPr/>
          <p:nvPr userDrawn="1"/>
        </p:nvSpPr>
        <p:spPr>
          <a:xfrm>
            <a:off x="0" y="5995147"/>
            <a:ext cx="121920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pic>
        <p:nvPicPr>
          <p:cNvPr id="9" name="Picture 8">
            <a:extLst>
              <a:ext uri="{FF2B5EF4-FFF2-40B4-BE49-F238E27FC236}">
                <a16:creationId xmlns:a16="http://schemas.microsoft.com/office/drawing/2014/main" id="{4B9C6C64-80AF-412B-BDCC-C9B570CB105D}"/>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63237" y="6011718"/>
            <a:ext cx="1748750" cy="65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11">
            <a:extLst>
              <a:ext uri="{FF2B5EF4-FFF2-40B4-BE49-F238E27FC236}">
                <a16:creationId xmlns:a16="http://schemas.microsoft.com/office/drawing/2014/main" id="{DE81DD9C-07D6-4C15-AFFE-0D6D655994AF}"/>
              </a:ext>
            </a:extLst>
          </p:cNvPr>
          <p:cNvSpPr>
            <a:spLocks noGrp="1"/>
          </p:cNvSpPr>
          <p:nvPr>
            <p:ph type="body" sz="quarter" idx="10"/>
          </p:nvPr>
        </p:nvSpPr>
        <p:spPr>
          <a:xfrm>
            <a:off x="508000" y="508000"/>
            <a:ext cx="7137400" cy="914400"/>
          </a:xfrm>
        </p:spPr>
        <p:txBody>
          <a:bodyPr/>
          <a:lstStyle>
            <a:lvl1pPr marL="0" indent="0">
              <a:buNone/>
              <a:defRPr sz="2800" b="1">
                <a:solidFill>
                  <a:schemeClr val="bg1"/>
                </a:solidFill>
                <a:latin typeface="Arial" panose="020B0604020202020204" pitchFamily="34" charset="0"/>
                <a:cs typeface="Arial" panose="020B0604020202020204" pitchFamily="34" charset="0"/>
              </a:defRPr>
            </a:lvl1pPr>
          </a:lstStyle>
          <a:p>
            <a:pPr lvl="0"/>
            <a:endParaRPr lang="en-US"/>
          </a:p>
        </p:txBody>
      </p:sp>
      <p:sp>
        <p:nvSpPr>
          <p:cNvPr id="3" name="TextBox 2">
            <a:extLst>
              <a:ext uri="{FF2B5EF4-FFF2-40B4-BE49-F238E27FC236}">
                <a16:creationId xmlns:a16="http://schemas.microsoft.com/office/drawing/2014/main" id="{94CA29E5-4CD2-456D-8C37-AEF850980098}"/>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bg1"/>
                </a:solidFill>
                <a:latin typeface="Arial" panose="020B06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3319741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1CDCD78-8B7B-4976-8AE0-648AF1DF3CEB}" type="datetime1">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288B1A-0894-4E52-95D8-2AC74CBED725}" type="slidenum">
              <a:rPr lang="en-US" smtClean="0"/>
              <a:t>‹#›</a:t>
            </a:fld>
            <a:endParaRPr lang="en-US"/>
          </a:p>
        </p:txBody>
      </p:sp>
      <p:pic>
        <p:nvPicPr>
          <p:cNvPr id="8" name="Picture 7">
            <a:extLst>
              <a:ext uri="{FF2B5EF4-FFF2-40B4-BE49-F238E27FC236}">
                <a16:creationId xmlns:a16="http://schemas.microsoft.com/office/drawing/2014/main" id="{6E5A1445-8CA7-4094-8A1D-DA20D230DC40}"/>
              </a:ext>
            </a:extLst>
          </p:cNvPr>
          <p:cNvPicPr>
            <a:picLocks noChangeAspect="1"/>
          </p:cNvPicPr>
          <p:nvPr userDrawn="1"/>
        </p:nvPicPr>
        <p:blipFill>
          <a:blip r:embed="rId2"/>
          <a:stretch>
            <a:fillRect/>
          </a:stretch>
        </p:blipFill>
        <p:spPr>
          <a:xfrm>
            <a:off x="10505838" y="-2643"/>
            <a:ext cx="1686161" cy="733528"/>
          </a:xfrm>
          <a:prstGeom prst="rect">
            <a:avLst/>
          </a:prstGeom>
        </p:spPr>
      </p:pic>
      <p:sp>
        <p:nvSpPr>
          <p:cNvPr id="9" name="Text Placeholder 2">
            <a:extLst>
              <a:ext uri="{FF2B5EF4-FFF2-40B4-BE49-F238E27FC236}">
                <a16:creationId xmlns:a16="http://schemas.microsoft.com/office/drawing/2014/main" id="{8A781350-F6E0-498B-8852-5718643728AE}"/>
              </a:ext>
            </a:extLst>
          </p:cNvPr>
          <p:cNvSpPr>
            <a:spLocks noGrp="1"/>
          </p:cNvSpPr>
          <p:nvPr>
            <p:ph type="body" idx="1"/>
          </p:nvPr>
        </p:nvSpPr>
        <p:spPr>
          <a:xfrm>
            <a:off x="81002" y="136525"/>
            <a:ext cx="10226779" cy="465975"/>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8A9EBFB5-A964-42F9-B79F-978885BFC2B4}"/>
              </a:ext>
            </a:extLst>
          </p:cNvPr>
          <p:cNvSpPr/>
          <p:nvPr userDrawn="1"/>
        </p:nvSpPr>
        <p:spPr>
          <a:xfrm>
            <a:off x="81001" y="602501"/>
            <a:ext cx="10226779" cy="201064"/>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651526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60392" y="90127"/>
            <a:ext cx="11657086" cy="50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260392" y="695618"/>
            <a:ext cx="11657086" cy="549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ptos" panose="020B0004020202020204" pitchFamily="34" charset="0"/>
                <a:cs typeface="Arial" charset="0"/>
              </a:defRPr>
            </a:lvl1pPr>
          </a:lstStyle>
          <a:p>
            <a:pPr fontAlgn="base">
              <a:spcBef>
                <a:spcPct val="0"/>
              </a:spcBef>
              <a:spcAft>
                <a:spcPct val="0"/>
              </a:spcAft>
              <a:defRPr/>
            </a:pPr>
            <a:fld id="{9F8D69B2-525F-4B3D-93C2-BAAB7414FB32}" type="datetime1">
              <a:rPr lang="en-US" smtClean="0">
                <a:solidFill>
                  <a:prstClr val="black">
                    <a:tint val="75000"/>
                  </a:prstClr>
                </a:solidFill>
              </a:rPr>
              <a:pPr fontAlgn="base">
                <a:spcBef>
                  <a:spcPct val="0"/>
                </a:spcBef>
                <a:spcAft>
                  <a:spcPct val="0"/>
                </a:spcAft>
                <a:defRPr/>
              </a:pPr>
              <a:t>3/6/2026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dirty="0">
                <a:solidFill>
                  <a:schemeClr val="tx1">
                    <a:tint val="75000"/>
                  </a:schemeClr>
                </a:solidFill>
                <a:latin typeface="Aptos" panose="020B0004020202020204" pitchFamily="34" charset="0"/>
                <a:cs typeface="Arial" charset="0"/>
              </a:defRPr>
            </a:lvl1pPr>
          </a:lstStyle>
          <a:p>
            <a:pPr fontAlgn="base">
              <a:spcBef>
                <a:spcPct val="0"/>
              </a:spcBef>
              <a:spcAft>
                <a:spcPct val="0"/>
              </a:spcAft>
              <a:defRPr/>
            </a:pPr>
            <a:endParaRPr lang="en-US">
              <a:solidFill>
                <a:prstClr val="black">
                  <a:tint val="75000"/>
                </a:prstClr>
              </a:solidFill>
            </a:endParaRPr>
          </a:p>
        </p:txBody>
      </p:sp>
      <p:sp>
        <p:nvSpPr>
          <p:cNvPr id="9" name="Rectangle 8"/>
          <p:cNvSpPr/>
          <p:nvPr userDrawn="1"/>
        </p:nvSpPr>
        <p:spPr>
          <a:xfrm>
            <a:off x="0" y="6408288"/>
            <a:ext cx="12192000" cy="248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sz="1800">
              <a:solidFill>
                <a:prstClr val="white"/>
              </a:solidFill>
              <a:latin typeface="Aptos" panose="020B0004020202020204" pitchFamily="34" charset="0"/>
            </a:endParaRPr>
          </a:p>
        </p:txBody>
      </p:sp>
      <p:sp>
        <p:nvSpPr>
          <p:cNvPr id="6" name="Slide Number Placeholder 5"/>
          <p:cNvSpPr>
            <a:spLocks noGrp="1"/>
          </p:cNvSpPr>
          <p:nvPr>
            <p:ph type="sldNum" sz="quarter" idx="4"/>
          </p:nvPr>
        </p:nvSpPr>
        <p:spPr>
          <a:xfrm>
            <a:off x="91440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chemeClr val="bg1">
                    <a:lumMod val="50000"/>
                  </a:schemeClr>
                </a:solidFill>
                <a:latin typeface="Aptos" panose="020B0004020202020204" pitchFamily="34" charset="0"/>
              </a:defRPr>
            </a:lvl1pPr>
          </a:lstStyle>
          <a:p>
            <a:pPr fontAlgn="base">
              <a:spcBef>
                <a:spcPct val="0"/>
              </a:spcBef>
              <a:spcAft>
                <a:spcPct val="0"/>
              </a:spcAft>
              <a:defRPr/>
            </a:pPr>
            <a:fld id="{12769493-3986-45F8-8FCB-9328DFEE46FF}" type="slidenum">
              <a:rPr lang="en-US" smtClean="0">
                <a:solidFill>
                  <a:prstClr val="white">
                    <a:lumMod val="50000"/>
                  </a:prstClr>
                </a:solidFill>
                <a:cs typeface="Arial" panose="020B0604020202020204" pitchFamily="34" charset="0"/>
              </a:rPr>
              <a:pPr fontAlgn="base">
                <a:spcBef>
                  <a:spcPct val="0"/>
                </a:spcBef>
                <a:spcAft>
                  <a:spcPct val="0"/>
                </a:spcAft>
                <a:defRPr/>
              </a:pPr>
              <a:t>‹#›</a:t>
            </a:fld>
            <a:endParaRPr lang="en-US">
              <a:solidFill>
                <a:prstClr val="white">
                  <a:lumMod val="50000"/>
                </a:prstClr>
              </a:solidFill>
              <a:cs typeface="Arial" panose="020B0604020202020204" pitchFamily="34" charset="0"/>
            </a:endParaRPr>
          </a:p>
        </p:txBody>
      </p:sp>
      <p:pic>
        <p:nvPicPr>
          <p:cNvPr id="2" name="Picture 1">
            <a:extLst>
              <a:ext uri="{FF2B5EF4-FFF2-40B4-BE49-F238E27FC236}">
                <a16:creationId xmlns:a16="http://schemas.microsoft.com/office/drawing/2014/main" id="{21CC0ADF-48E4-418A-A013-832BC4C38D06}"/>
              </a:ext>
            </a:extLst>
          </p:cNvPr>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320387" y="6259368"/>
            <a:ext cx="1356013" cy="50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0EFCD6E-A29E-4E94-8D63-F18873FB12A3}"/>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tx1">
                    <a:lumMod val="50000"/>
                    <a:lumOff val="50000"/>
                  </a:schemeClr>
                </a:solidFill>
                <a:latin typeface="Aptos" panose="020B00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1892677854"/>
      </p:ext>
    </p:extLst>
  </p:cSld>
  <p:clrMap bg1="lt1" tx1="dk1" bg2="lt2" tx2="dk2" accent1="accent1" accent2="accent2" accent3="accent3" accent4="accent4" accent5="accent5" accent6="accent6" hlink="hlink" folHlink="folHlink"/>
  <p:sldLayoutIdLst>
    <p:sldLayoutId id="2147483679" r:id="rId1"/>
    <p:sldLayoutId id="2147483662" r:id="rId2"/>
    <p:sldLayoutId id="2147483663" r:id="rId3"/>
    <p:sldLayoutId id="2147483682" r:id="rId4"/>
  </p:sldLayoutIdLst>
  <p:hf hdr="0" ftr="0" dt="0"/>
  <p:txStyles>
    <p:titleStyle>
      <a:lvl1pPr algn="l" rtl="0" eaLnBrk="0" fontAlgn="base" hangingPunct="0">
        <a:spcBef>
          <a:spcPct val="0"/>
        </a:spcBef>
        <a:spcAft>
          <a:spcPct val="0"/>
        </a:spcAft>
        <a:defRPr sz="2800" kern="1200">
          <a:solidFill>
            <a:schemeClr val="tx1"/>
          </a:solidFill>
          <a:latin typeface="Aptos" panose="020B0004020202020204" pitchFamily="34" charset="0"/>
          <a:ea typeface="+mj-ea"/>
          <a:cs typeface="Arial" pitchFamily="34"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b="1" kern="1200">
          <a:solidFill>
            <a:schemeClr val="tx1"/>
          </a:solidFill>
          <a:latin typeface="Aptos" panose="020B0004020202020204" pitchFamily="34" charset="0"/>
          <a:ea typeface="+mn-ea"/>
          <a:cs typeface="Arial" pitchFamily="34" charset="0"/>
        </a:defRPr>
      </a:lvl1pPr>
      <a:lvl2pPr marL="8001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ptos" panose="020B0004020202020204"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ptos" panose="020B0004020202020204"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9CF22F-5AA4-B171-99C4-50EE2DCE24BE}"/>
              </a:ext>
            </a:extLst>
          </p:cNvPr>
          <p:cNvSpPr>
            <a:spLocks noGrp="1"/>
          </p:cNvSpPr>
          <p:nvPr>
            <p:ph type="body" sz="quarter" idx="10"/>
          </p:nvPr>
        </p:nvSpPr>
        <p:spPr>
          <a:xfrm>
            <a:off x="1647568" y="1581665"/>
            <a:ext cx="8491043" cy="1705232"/>
          </a:xfrm>
        </p:spPr>
        <p:txBody>
          <a:bodyPr/>
          <a:lstStyle/>
          <a:p>
            <a:pPr algn="ctr"/>
            <a:r>
              <a:rPr lang="en-GB" sz="3600" dirty="0">
                <a:latin typeface="Aptos Narrow" panose="020B0004020202020204" pitchFamily="34" charset="0"/>
              </a:rPr>
              <a:t>YPS Data Lost Containment Action</a:t>
            </a:r>
          </a:p>
          <a:p>
            <a:pPr algn="ctr"/>
            <a:endParaRPr lang="en-GB" sz="3600" b="0" dirty="0">
              <a:latin typeface="Aptos Narrow" panose="020B0004020202020204" pitchFamily="34" charset="0"/>
            </a:endParaRPr>
          </a:p>
          <a:p>
            <a:pPr algn="ctr"/>
            <a:endParaRPr lang="en-GB" sz="3600" b="0" dirty="0">
              <a:latin typeface="Aptos Narrow" panose="020B0004020202020204" pitchFamily="34" charset="0"/>
            </a:endParaRPr>
          </a:p>
        </p:txBody>
      </p:sp>
      <p:sp>
        <p:nvSpPr>
          <p:cNvPr id="4" name="TextBox 3">
            <a:extLst>
              <a:ext uri="{FF2B5EF4-FFF2-40B4-BE49-F238E27FC236}">
                <a16:creationId xmlns:a16="http://schemas.microsoft.com/office/drawing/2014/main" id="{DC6C52E4-7A16-A6FD-0E8E-5DB151B24147}"/>
              </a:ext>
            </a:extLst>
          </p:cNvPr>
          <p:cNvSpPr txBox="1"/>
          <p:nvPr/>
        </p:nvSpPr>
        <p:spPr>
          <a:xfrm>
            <a:off x="10335237" y="5272219"/>
            <a:ext cx="1989793" cy="646331"/>
          </a:xfrm>
          <a:prstGeom prst="rect">
            <a:avLst/>
          </a:prstGeom>
          <a:noFill/>
        </p:spPr>
        <p:txBody>
          <a:bodyPr wrap="square" rtlCol="0">
            <a:spAutoFit/>
          </a:bodyPr>
          <a:lstStyle/>
          <a:p>
            <a:r>
              <a:rPr lang="en-US" dirty="0">
                <a:solidFill>
                  <a:schemeClr val="bg1"/>
                </a:solidFill>
              </a:rPr>
              <a:t>Phyo Thu Han</a:t>
            </a:r>
          </a:p>
          <a:p>
            <a:r>
              <a:rPr lang="en-US" dirty="0">
                <a:solidFill>
                  <a:schemeClr val="bg1"/>
                </a:solidFill>
              </a:rPr>
              <a:t>05-March-2026</a:t>
            </a:r>
          </a:p>
        </p:txBody>
      </p:sp>
    </p:spTree>
    <p:extLst>
      <p:ext uri="{BB962C8B-B14F-4D97-AF65-F5344CB8AC3E}">
        <p14:creationId xmlns:p14="http://schemas.microsoft.com/office/powerpoint/2010/main" val="308816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8E6E57-DFA7-2AA6-9256-8F406F450CBB}"/>
              </a:ext>
            </a:extLst>
          </p:cNvPr>
          <p:cNvSpPr>
            <a:spLocks noGrp="1"/>
          </p:cNvSpPr>
          <p:nvPr>
            <p:ph type="sldNum" sz="quarter" idx="12"/>
          </p:nvPr>
        </p:nvSpPr>
        <p:spPr/>
        <p:txBody>
          <a:bodyPr/>
          <a:lstStyle/>
          <a:p>
            <a:fld id="{93288B1A-0894-4E52-95D8-2AC74CBED725}" type="slidenum">
              <a:rPr lang="en-US" smtClean="0"/>
              <a:t>2</a:t>
            </a:fld>
            <a:endParaRPr lang="en-US"/>
          </a:p>
        </p:txBody>
      </p:sp>
      <p:sp>
        <p:nvSpPr>
          <p:cNvPr id="3" name="Text Placeholder 2">
            <a:extLst>
              <a:ext uri="{FF2B5EF4-FFF2-40B4-BE49-F238E27FC236}">
                <a16:creationId xmlns:a16="http://schemas.microsoft.com/office/drawing/2014/main" id="{BB450111-7510-0566-CEE8-E74AC3EFBBD5}"/>
              </a:ext>
            </a:extLst>
          </p:cNvPr>
          <p:cNvSpPr>
            <a:spLocks noGrp="1"/>
          </p:cNvSpPr>
          <p:nvPr>
            <p:ph type="body" idx="1"/>
          </p:nvPr>
        </p:nvSpPr>
        <p:spPr/>
        <p:txBody>
          <a:bodyPr/>
          <a:lstStyle/>
          <a:p>
            <a:r>
              <a:rPr lang="en-US" sz="2000" dirty="0"/>
              <a:t>Objective</a:t>
            </a:r>
          </a:p>
        </p:txBody>
      </p:sp>
      <p:sp>
        <p:nvSpPr>
          <p:cNvPr id="5" name="TextBox 4">
            <a:extLst>
              <a:ext uri="{FF2B5EF4-FFF2-40B4-BE49-F238E27FC236}">
                <a16:creationId xmlns:a16="http://schemas.microsoft.com/office/drawing/2014/main" id="{0593737A-557D-4275-BFFD-F497422CC921}"/>
              </a:ext>
            </a:extLst>
          </p:cNvPr>
          <p:cNvSpPr txBox="1"/>
          <p:nvPr/>
        </p:nvSpPr>
        <p:spPr>
          <a:xfrm>
            <a:off x="475285" y="1124125"/>
            <a:ext cx="9060901" cy="1711366"/>
          </a:xfrm>
          <a:prstGeom prst="rect">
            <a:avLst/>
          </a:prstGeom>
          <a:noFill/>
        </p:spPr>
        <p:txBody>
          <a:bodyPr wrap="square">
            <a:spAutoFit/>
          </a:bodyPr>
          <a:lstStyle/>
          <a:p>
            <a:pPr>
              <a:lnSpc>
                <a:spcPct val="150000"/>
              </a:lnSpc>
            </a:pPr>
            <a:r>
              <a:rPr lang="en-US" dirty="0"/>
              <a:t>Prevent data loss between </a:t>
            </a:r>
            <a:r>
              <a:rPr lang="en-US" b="1" dirty="0"/>
              <a:t>YPS</a:t>
            </a:r>
            <a:r>
              <a:rPr lang="en-US" dirty="0"/>
              <a:t> and </a:t>
            </a:r>
            <a:r>
              <a:rPr lang="en-US" b="1" dirty="0"/>
              <a:t>G&amp;G systems</a:t>
            </a:r>
            <a:r>
              <a:rPr lang="en-US" dirty="0"/>
              <a:t> by addressing the following areas:</a:t>
            </a:r>
          </a:p>
          <a:p>
            <a:pPr marL="285750" indent="-285750">
              <a:lnSpc>
                <a:spcPct val="150000"/>
              </a:lnSpc>
              <a:buFont typeface="Wingdings" panose="05000000000000000000" pitchFamily="2" charset="2"/>
              <a:buChar char="§"/>
            </a:pPr>
            <a:r>
              <a:rPr lang="en-US" dirty="0"/>
              <a:t>Ensure </a:t>
            </a:r>
            <a:r>
              <a:rPr lang="en-US" b="1" dirty="0"/>
              <a:t>YPS transaction data is received by G&amp;G in real time without interruption</a:t>
            </a:r>
            <a:endParaRPr lang="en-US" dirty="0"/>
          </a:p>
          <a:p>
            <a:pPr marL="285750" indent="-285750">
              <a:lnSpc>
                <a:spcPct val="150000"/>
              </a:lnSpc>
              <a:buFont typeface="Wingdings" panose="05000000000000000000" pitchFamily="2" charset="2"/>
              <a:buChar char="§"/>
            </a:pPr>
            <a:r>
              <a:rPr lang="en-US" dirty="0"/>
              <a:t>Enable </a:t>
            </a:r>
            <a:r>
              <a:rPr lang="en-US" b="1" dirty="0"/>
              <a:t>recovery of failed transactions caused by invalid or incomplete data</a:t>
            </a:r>
            <a:endParaRPr lang="en-US" dirty="0"/>
          </a:p>
          <a:p>
            <a:pPr marL="285750" indent="-285750">
              <a:lnSpc>
                <a:spcPct val="150000"/>
              </a:lnSpc>
              <a:buFont typeface="Wingdings" panose="05000000000000000000" pitchFamily="2" charset="2"/>
              <a:buChar char="§"/>
            </a:pPr>
            <a:r>
              <a:rPr lang="en-US" dirty="0"/>
              <a:t>Provide </a:t>
            </a:r>
            <a:r>
              <a:rPr lang="en-US" b="1" dirty="0"/>
              <a:t>manual recovery mechanisms for transactions that do not reach the system</a:t>
            </a:r>
            <a:endParaRPr lang="en-US" dirty="0"/>
          </a:p>
        </p:txBody>
      </p:sp>
    </p:spTree>
    <p:extLst>
      <p:ext uri="{BB962C8B-B14F-4D97-AF65-F5344CB8AC3E}">
        <p14:creationId xmlns:p14="http://schemas.microsoft.com/office/powerpoint/2010/main" val="3932400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F5CF6-2FC2-DAA9-FFF3-85FDAEDC377C}"/>
              </a:ext>
            </a:extLst>
          </p:cNvPr>
          <p:cNvSpPr>
            <a:spLocks noGrp="1"/>
          </p:cNvSpPr>
          <p:nvPr>
            <p:ph type="sldNum" sz="quarter" idx="12"/>
          </p:nvPr>
        </p:nvSpPr>
        <p:spPr/>
        <p:txBody>
          <a:bodyPr/>
          <a:lstStyle/>
          <a:p>
            <a:fld id="{93288B1A-0894-4E52-95D8-2AC74CBED725}" type="slidenum">
              <a:rPr lang="en-US" smtClean="0"/>
              <a:t>3</a:t>
            </a:fld>
            <a:endParaRPr lang="en-US"/>
          </a:p>
        </p:txBody>
      </p:sp>
      <p:sp>
        <p:nvSpPr>
          <p:cNvPr id="3" name="Text Placeholder 2">
            <a:extLst>
              <a:ext uri="{FF2B5EF4-FFF2-40B4-BE49-F238E27FC236}">
                <a16:creationId xmlns:a16="http://schemas.microsoft.com/office/drawing/2014/main" id="{18BF5E4B-B356-09D4-A2FB-5CF5B996F068}"/>
              </a:ext>
            </a:extLst>
          </p:cNvPr>
          <p:cNvSpPr>
            <a:spLocks noGrp="1"/>
          </p:cNvSpPr>
          <p:nvPr>
            <p:ph type="body" idx="1"/>
          </p:nvPr>
        </p:nvSpPr>
        <p:spPr/>
        <p:txBody>
          <a:bodyPr/>
          <a:lstStyle/>
          <a:p>
            <a:r>
              <a:rPr lang="en-US" dirty="0"/>
              <a:t>Context</a:t>
            </a:r>
          </a:p>
        </p:txBody>
      </p:sp>
      <p:sp>
        <p:nvSpPr>
          <p:cNvPr id="6" name="TextBox 5">
            <a:extLst>
              <a:ext uri="{FF2B5EF4-FFF2-40B4-BE49-F238E27FC236}">
                <a16:creationId xmlns:a16="http://schemas.microsoft.com/office/drawing/2014/main" id="{97BAE36D-AC8D-4B6D-C998-2565361549E0}"/>
              </a:ext>
            </a:extLst>
          </p:cNvPr>
          <p:cNvSpPr txBox="1"/>
          <p:nvPr/>
        </p:nvSpPr>
        <p:spPr>
          <a:xfrm>
            <a:off x="362824" y="981079"/>
            <a:ext cx="10643532" cy="2957861"/>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US" dirty="0"/>
              <a:t>Currently, </a:t>
            </a:r>
            <a:r>
              <a:rPr lang="en-US" b="1" dirty="0"/>
              <a:t>YPS transaction data is sent to the G&amp;G backend and stored in the Integration Table</a:t>
            </a:r>
            <a:r>
              <a:rPr lang="en-US" dirty="0"/>
              <a:t>, with an average of </a:t>
            </a:r>
            <a:r>
              <a:rPr lang="en-US" b="1" dirty="0"/>
              <a:t>approximately 4,000 transactions per day</a:t>
            </a:r>
            <a:r>
              <a:rPr lang="en-US" dirty="0"/>
              <a:t>.</a:t>
            </a:r>
          </a:p>
          <a:p>
            <a:pPr marL="285750" indent="-285750">
              <a:lnSpc>
                <a:spcPct val="150000"/>
              </a:lnSpc>
              <a:buFont typeface="Wingdings" panose="05000000000000000000" pitchFamily="2" charset="2"/>
              <a:buChar char="§"/>
            </a:pPr>
            <a:r>
              <a:rPr lang="en-US" dirty="0"/>
              <a:t>However, some transactions </a:t>
            </a:r>
            <a:r>
              <a:rPr lang="en-US" b="1" dirty="0"/>
              <a:t>fail to reach the system and return a 499 error</a:t>
            </a:r>
            <a:r>
              <a:rPr lang="en-US" dirty="0"/>
              <a:t>.</a:t>
            </a:r>
          </a:p>
          <a:p>
            <a:pPr marL="1257300" lvl="2" indent="-342900">
              <a:lnSpc>
                <a:spcPct val="150000"/>
              </a:lnSpc>
              <a:buFont typeface="+mj-lt"/>
              <a:buAutoNum type="alphaLcPeriod"/>
            </a:pPr>
            <a:r>
              <a:rPr lang="en-US" dirty="0"/>
              <a:t>	On normal days, </a:t>
            </a:r>
            <a:r>
              <a:rPr lang="en-US" b="1" dirty="0"/>
              <a:t>1–10 transactions (less than 1%) may be missing</a:t>
            </a:r>
            <a:endParaRPr lang="en-US" dirty="0"/>
          </a:p>
          <a:p>
            <a:pPr marL="1257300" lvl="2" indent="-342900">
              <a:lnSpc>
                <a:spcPct val="150000"/>
              </a:lnSpc>
              <a:buFont typeface="+mj-lt"/>
              <a:buAutoNum type="alphaLcPeriod"/>
            </a:pPr>
            <a:r>
              <a:rPr lang="en-US" dirty="0"/>
              <a:t>	On certain days(worse case scenario), the missing rate </a:t>
            </a:r>
            <a:r>
              <a:rPr lang="en-US" b="1" dirty="0"/>
              <a:t>can reach between 40% and 60%</a:t>
            </a:r>
            <a:endParaRPr lang="en-US" dirty="0"/>
          </a:p>
          <a:p>
            <a:pPr marL="285750" indent="-285750">
              <a:lnSpc>
                <a:spcPct val="150000"/>
              </a:lnSpc>
              <a:buFont typeface="Wingdings" panose="05000000000000000000" pitchFamily="2" charset="2"/>
              <a:buChar char="§"/>
            </a:pPr>
            <a:r>
              <a:rPr lang="en-US" dirty="0"/>
              <a:t>To address this issue and ensure </a:t>
            </a:r>
            <a:r>
              <a:rPr lang="en-US" b="1" dirty="0"/>
              <a:t>data reliability and recovery</a:t>
            </a:r>
            <a:r>
              <a:rPr lang="en-US" dirty="0"/>
              <a:t>, improvements need to be implemented </a:t>
            </a:r>
            <a:r>
              <a:rPr lang="en-US" b="1" dirty="0"/>
              <a:t>on both the YPS side and the G&amp;G side</a:t>
            </a:r>
            <a:r>
              <a:rPr lang="en-US" dirty="0"/>
              <a:t>.</a:t>
            </a:r>
          </a:p>
        </p:txBody>
      </p:sp>
    </p:spTree>
    <p:extLst>
      <p:ext uri="{BB962C8B-B14F-4D97-AF65-F5344CB8AC3E}">
        <p14:creationId xmlns:p14="http://schemas.microsoft.com/office/powerpoint/2010/main" val="615142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F5CF6-2FC2-DAA9-FFF3-85FDAEDC377C}"/>
              </a:ext>
            </a:extLst>
          </p:cNvPr>
          <p:cNvSpPr>
            <a:spLocks noGrp="1"/>
          </p:cNvSpPr>
          <p:nvPr>
            <p:ph type="sldNum" sz="quarter" idx="12"/>
          </p:nvPr>
        </p:nvSpPr>
        <p:spPr/>
        <p:txBody>
          <a:bodyPr/>
          <a:lstStyle/>
          <a:p>
            <a:fld id="{93288B1A-0894-4E52-95D8-2AC74CBED725}" type="slidenum">
              <a:rPr lang="en-US" smtClean="0"/>
              <a:t>4</a:t>
            </a:fld>
            <a:endParaRPr lang="en-US"/>
          </a:p>
        </p:txBody>
      </p:sp>
      <p:sp>
        <p:nvSpPr>
          <p:cNvPr id="3" name="Text Placeholder 2">
            <a:extLst>
              <a:ext uri="{FF2B5EF4-FFF2-40B4-BE49-F238E27FC236}">
                <a16:creationId xmlns:a16="http://schemas.microsoft.com/office/drawing/2014/main" id="{18BF5E4B-B356-09D4-A2FB-5CF5B996F068}"/>
              </a:ext>
            </a:extLst>
          </p:cNvPr>
          <p:cNvSpPr>
            <a:spLocks noGrp="1"/>
          </p:cNvSpPr>
          <p:nvPr>
            <p:ph type="body" idx="1"/>
          </p:nvPr>
        </p:nvSpPr>
        <p:spPr/>
        <p:txBody>
          <a:bodyPr/>
          <a:lstStyle/>
          <a:p>
            <a:r>
              <a:rPr lang="en-US" dirty="0"/>
              <a:t>Proposed Plan on YPS Side</a:t>
            </a:r>
          </a:p>
        </p:txBody>
      </p:sp>
      <p:sp>
        <p:nvSpPr>
          <p:cNvPr id="8" name="TextBox 7">
            <a:extLst>
              <a:ext uri="{FF2B5EF4-FFF2-40B4-BE49-F238E27FC236}">
                <a16:creationId xmlns:a16="http://schemas.microsoft.com/office/drawing/2014/main" id="{DAA7E5ED-EF88-83D8-AC9D-38A378F4849C}"/>
              </a:ext>
            </a:extLst>
          </p:cNvPr>
          <p:cNvSpPr txBox="1"/>
          <p:nvPr/>
        </p:nvSpPr>
        <p:spPr>
          <a:xfrm>
            <a:off x="346045" y="1051656"/>
            <a:ext cx="11432098" cy="5450851"/>
          </a:xfrm>
          <a:prstGeom prst="rect">
            <a:avLst/>
          </a:prstGeom>
          <a:noFill/>
        </p:spPr>
        <p:txBody>
          <a:bodyPr wrap="square">
            <a:spAutoFit/>
          </a:bodyPr>
          <a:lstStyle/>
          <a:p>
            <a:pPr>
              <a:lnSpc>
                <a:spcPct val="150000"/>
              </a:lnSpc>
              <a:buNone/>
            </a:pPr>
            <a:r>
              <a:rPr lang="en-US" b="1" dirty="0"/>
              <a:t>Transaction Handling</a:t>
            </a:r>
          </a:p>
          <a:p>
            <a:pPr marL="285750" indent="-285750">
              <a:lnSpc>
                <a:spcPct val="150000"/>
              </a:lnSpc>
              <a:buFont typeface="Wingdings" panose="05000000000000000000" pitchFamily="2" charset="2"/>
              <a:buChar char="§"/>
            </a:pPr>
            <a:r>
              <a:rPr lang="en-US" dirty="0"/>
              <a:t>Maintain </a:t>
            </a:r>
            <a:r>
              <a:rPr lang="en-US" b="1" dirty="0"/>
              <a:t>15-second timeout</a:t>
            </a:r>
            <a:r>
              <a:rPr lang="en-US" dirty="0"/>
              <a:t> for YPS transaction requests.</a:t>
            </a:r>
          </a:p>
          <a:p>
            <a:pPr marL="285750" indent="-285750">
              <a:lnSpc>
                <a:spcPct val="150000"/>
              </a:lnSpc>
              <a:buFont typeface="Wingdings" panose="05000000000000000000" pitchFamily="2" charset="2"/>
              <a:buChar char="§"/>
            </a:pPr>
            <a:r>
              <a:rPr lang="en-US" dirty="0"/>
              <a:t>If a request fails, apply </a:t>
            </a:r>
            <a:r>
              <a:rPr lang="en-US" b="1" dirty="0"/>
              <a:t>automatic retry mechanism</a:t>
            </a:r>
            <a:r>
              <a:rPr lang="en-US" dirty="0"/>
              <a:t>:</a:t>
            </a:r>
          </a:p>
          <a:p>
            <a:pPr marL="800100" lvl="1" indent="-342900">
              <a:lnSpc>
                <a:spcPct val="150000"/>
              </a:lnSpc>
              <a:buFont typeface="+mj-lt"/>
              <a:buAutoNum type="alphaLcPeriod"/>
            </a:pPr>
            <a:r>
              <a:rPr lang="en-US" dirty="0"/>
              <a:t>Retry delay: </a:t>
            </a:r>
            <a:r>
              <a:rPr lang="en-US" b="1" dirty="0"/>
              <a:t>5 minutes</a:t>
            </a:r>
            <a:endParaRPr lang="en-US" dirty="0"/>
          </a:p>
          <a:p>
            <a:pPr marL="800100" lvl="1" indent="-342900">
              <a:lnSpc>
                <a:spcPct val="150000"/>
              </a:lnSpc>
              <a:buFont typeface="+mj-lt"/>
              <a:buAutoNum type="alphaLcPeriod"/>
            </a:pPr>
            <a:r>
              <a:rPr lang="en-US" dirty="0"/>
              <a:t>Maximum retries: </a:t>
            </a:r>
            <a:r>
              <a:rPr lang="en-US" b="1" dirty="0"/>
              <a:t>4 attempts</a:t>
            </a:r>
            <a:endParaRPr lang="en-US" dirty="0"/>
          </a:p>
          <a:p>
            <a:pPr marL="285750" indent="-285750">
              <a:lnSpc>
                <a:spcPct val="150000"/>
              </a:lnSpc>
              <a:buFont typeface="Wingdings" panose="05000000000000000000" pitchFamily="2" charset="2"/>
              <a:buChar char="§"/>
            </a:pPr>
            <a:r>
              <a:rPr lang="en-US" dirty="0"/>
              <a:t>If </a:t>
            </a:r>
            <a:r>
              <a:rPr lang="en-US" b="1" dirty="0"/>
              <a:t>success response (000000)</a:t>
            </a:r>
            <a:r>
              <a:rPr lang="en-US" dirty="0"/>
              <a:t> is received → </a:t>
            </a:r>
            <a:r>
              <a:rPr lang="en-US" b="1" dirty="0"/>
              <a:t>stop retry immediately</a:t>
            </a:r>
            <a:r>
              <a:rPr lang="en-US" dirty="0"/>
              <a:t>.</a:t>
            </a:r>
          </a:p>
          <a:p>
            <a:pPr>
              <a:lnSpc>
                <a:spcPct val="150000"/>
              </a:lnSpc>
              <a:buNone/>
            </a:pPr>
            <a:r>
              <a:rPr lang="en-US" b="1" dirty="0"/>
              <a:t>Failure Recording</a:t>
            </a:r>
          </a:p>
          <a:p>
            <a:pPr marL="285750" indent="-285750">
              <a:lnSpc>
                <a:spcPct val="150000"/>
              </a:lnSpc>
              <a:buFont typeface="Wingdings" panose="05000000000000000000" pitchFamily="2" charset="2"/>
              <a:buChar char="§"/>
            </a:pPr>
            <a:r>
              <a:rPr lang="en-US" dirty="0"/>
              <a:t>If transaction </a:t>
            </a:r>
            <a:r>
              <a:rPr lang="en-US" b="1" dirty="0"/>
              <a:t>still fails after max retries</a:t>
            </a:r>
            <a:r>
              <a:rPr lang="en-US" dirty="0"/>
              <a:t>:</a:t>
            </a:r>
          </a:p>
          <a:p>
            <a:pPr marL="742950" lvl="1" indent="-285750">
              <a:lnSpc>
                <a:spcPct val="150000"/>
              </a:lnSpc>
              <a:buFont typeface="Wingdings" panose="05000000000000000000" pitchFamily="2" charset="2"/>
              <a:buChar char="§"/>
            </a:pPr>
            <a:r>
              <a:rPr lang="en-US" dirty="0"/>
              <a:t>Store transaction in </a:t>
            </a:r>
            <a:r>
              <a:rPr lang="en-US" b="1" dirty="0"/>
              <a:t>failure list</a:t>
            </a:r>
            <a:r>
              <a:rPr lang="en-US" dirty="0"/>
              <a:t> as </a:t>
            </a:r>
            <a:r>
              <a:rPr lang="en-US" b="1" dirty="0"/>
              <a:t>JSON payload</a:t>
            </a:r>
            <a:r>
              <a:rPr lang="en-US" dirty="0"/>
              <a:t>.</a:t>
            </a:r>
          </a:p>
          <a:p>
            <a:pPr>
              <a:lnSpc>
                <a:spcPct val="150000"/>
              </a:lnSpc>
              <a:buNone/>
            </a:pPr>
            <a:r>
              <a:rPr lang="en-US" b="1" dirty="0"/>
              <a:t>End-of-Day Recovery</a:t>
            </a:r>
          </a:p>
          <a:p>
            <a:pPr marL="285750" indent="-285750">
              <a:lnSpc>
                <a:spcPct val="150000"/>
              </a:lnSpc>
              <a:buFont typeface="Wingdings" panose="05000000000000000000" pitchFamily="2" charset="2"/>
              <a:buChar char="§"/>
            </a:pPr>
            <a:r>
              <a:rPr lang="en-US" dirty="0"/>
              <a:t>Scheduler generates </a:t>
            </a:r>
            <a:r>
              <a:rPr lang="en-US" b="1" dirty="0"/>
              <a:t>failed transaction file (Excel/CSV)</a:t>
            </a:r>
            <a:r>
              <a:rPr lang="en-US" dirty="0"/>
              <a:t>.</a:t>
            </a:r>
          </a:p>
          <a:p>
            <a:pPr marL="285750" indent="-285750">
              <a:lnSpc>
                <a:spcPct val="150000"/>
              </a:lnSpc>
              <a:buFont typeface="Wingdings" panose="05000000000000000000" pitchFamily="2" charset="2"/>
              <a:buChar char="§"/>
            </a:pPr>
            <a:r>
              <a:rPr lang="en-US" dirty="0"/>
              <a:t>File is stored in </a:t>
            </a:r>
            <a:r>
              <a:rPr lang="en-US" b="1" dirty="0"/>
              <a:t>Failed Transaction Folder on File Server</a:t>
            </a:r>
            <a:r>
              <a:rPr lang="en-US" dirty="0"/>
              <a:t>.</a:t>
            </a:r>
          </a:p>
          <a:p>
            <a:pPr marL="285750" indent="-285750">
              <a:lnSpc>
                <a:spcPct val="150000"/>
              </a:lnSpc>
              <a:buFont typeface="Wingdings" panose="05000000000000000000" pitchFamily="2" charset="2"/>
              <a:buChar char="§"/>
            </a:pPr>
            <a:r>
              <a:rPr lang="en-US" dirty="0"/>
              <a:t>G&amp;G system will later </a:t>
            </a:r>
            <a:r>
              <a:rPr lang="en-US" b="1" dirty="0"/>
              <a:t>import this file for recovery processing</a:t>
            </a:r>
            <a:r>
              <a:rPr lang="en-US" dirty="0"/>
              <a:t>.</a:t>
            </a:r>
          </a:p>
        </p:txBody>
      </p:sp>
    </p:spTree>
    <p:extLst>
      <p:ext uri="{BB962C8B-B14F-4D97-AF65-F5344CB8AC3E}">
        <p14:creationId xmlns:p14="http://schemas.microsoft.com/office/powerpoint/2010/main" val="2253167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E44C2-A140-0CB9-5001-51FDC1A48C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D99D22-8468-3E7B-DDC1-D247A795D8D7}"/>
              </a:ext>
            </a:extLst>
          </p:cNvPr>
          <p:cNvSpPr>
            <a:spLocks noGrp="1"/>
          </p:cNvSpPr>
          <p:nvPr>
            <p:ph type="sldNum" sz="quarter" idx="12"/>
          </p:nvPr>
        </p:nvSpPr>
        <p:spPr/>
        <p:txBody>
          <a:bodyPr/>
          <a:lstStyle/>
          <a:p>
            <a:fld id="{93288B1A-0894-4E52-95D8-2AC74CBED725}" type="slidenum">
              <a:rPr lang="en-US" smtClean="0"/>
              <a:t>5</a:t>
            </a:fld>
            <a:endParaRPr lang="en-US"/>
          </a:p>
        </p:txBody>
      </p:sp>
      <p:sp>
        <p:nvSpPr>
          <p:cNvPr id="18" name="Text Placeholder 2">
            <a:extLst>
              <a:ext uri="{FF2B5EF4-FFF2-40B4-BE49-F238E27FC236}">
                <a16:creationId xmlns:a16="http://schemas.microsoft.com/office/drawing/2014/main" id="{1D2F3526-BE35-5712-FD81-235ABFF88669}"/>
              </a:ext>
            </a:extLst>
          </p:cNvPr>
          <p:cNvSpPr>
            <a:spLocks noGrp="1"/>
          </p:cNvSpPr>
          <p:nvPr>
            <p:ph type="body" idx="1"/>
          </p:nvPr>
        </p:nvSpPr>
        <p:spPr>
          <a:xfrm>
            <a:off x="81002" y="48294"/>
            <a:ext cx="10226779" cy="465975"/>
          </a:xfrm>
        </p:spPr>
        <p:txBody>
          <a:bodyPr/>
          <a:lstStyle/>
          <a:p>
            <a:r>
              <a:rPr lang="en-US" dirty="0"/>
              <a:t>Proposed Plan on G&amp;G Side Failed Tx(End Of Date Import) at real time</a:t>
            </a:r>
          </a:p>
        </p:txBody>
      </p:sp>
      <p:sp>
        <p:nvSpPr>
          <p:cNvPr id="19" name="TextBox 18">
            <a:extLst>
              <a:ext uri="{FF2B5EF4-FFF2-40B4-BE49-F238E27FC236}">
                <a16:creationId xmlns:a16="http://schemas.microsoft.com/office/drawing/2014/main" id="{D30AFDE8-8450-68EF-537A-15D67127266E}"/>
              </a:ext>
            </a:extLst>
          </p:cNvPr>
          <p:cNvSpPr txBox="1"/>
          <p:nvPr/>
        </p:nvSpPr>
        <p:spPr>
          <a:xfrm>
            <a:off x="81002" y="864974"/>
            <a:ext cx="11420304" cy="5770811"/>
          </a:xfrm>
          <a:prstGeom prst="rect">
            <a:avLst/>
          </a:prstGeom>
          <a:noFill/>
        </p:spPr>
        <p:txBody>
          <a:bodyPr wrap="square">
            <a:spAutoFit/>
          </a:bodyPr>
          <a:lstStyle/>
          <a:p>
            <a:pPr>
              <a:lnSpc>
                <a:spcPct val="150000"/>
              </a:lnSpc>
            </a:pPr>
            <a:r>
              <a:rPr lang="en-US" b="1" dirty="0"/>
              <a:t>Failed Transaction Import</a:t>
            </a:r>
          </a:p>
          <a:p>
            <a:pPr marL="285750" indent="-285750">
              <a:lnSpc>
                <a:spcPct val="150000"/>
              </a:lnSpc>
              <a:buFont typeface="Wingdings" panose="05000000000000000000" pitchFamily="2" charset="2"/>
              <a:buChar char="§"/>
            </a:pPr>
            <a:r>
              <a:rPr lang="en-US" dirty="0"/>
              <a:t>Scheduler runs </a:t>
            </a:r>
            <a:r>
              <a:rPr lang="en-US" b="1" dirty="0"/>
              <a:t>1:30 AM daily</a:t>
            </a:r>
            <a:r>
              <a:rPr lang="en-US" dirty="0"/>
              <a:t>.</a:t>
            </a:r>
          </a:p>
          <a:p>
            <a:pPr marL="285750" indent="-285750">
              <a:lnSpc>
                <a:spcPct val="150000"/>
              </a:lnSpc>
              <a:buFont typeface="Wingdings" panose="05000000000000000000" pitchFamily="2" charset="2"/>
              <a:buChar char="§"/>
            </a:pPr>
            <a:r>
              <a:rPr lang="en-US" dirty="0"/>
              <a:t>Fetch failed transaction </a:t>
            </a:r>
            <a:r>
              <a:rPr lang="en-US" b="1" dirty="0"/>
              <a:t>CSV file from file server</a:t>
            </a:r>
            <a:r>
              <a:rPr lang="en-US" dirty="0"/>
              <a:t>.</a:t>
            </a:r>
          </a:p>
          <a:p>
            <a:pPr marL="285750" indent="-285750">
              <a:lnSpc>
                <a:spcPct val="150000"/>
              </a:lnSpc>
              <a:buFont typeface="Wingdings" panose="05000000000000000000" pitchFamily="2" charset="2"/>
              <a:buChar char="§"/>
            </a:pPr>
            <a:r>
              <a:rPr lang="en-US" dirty="0"/>
              <a:t>Retry file access </a:t>
            </a:r>
            <a:r>
              <a:rPr lang="en-US" b="1" dirty="0"/>
              <a:t>3 times (15-minute interval)</a:t>
            </a:r>
            <a:endParaRPr lang="en-US" dirty="0"/>
          </a:p>
          <a:p>
            <a:pPr marL="285750" indent="-285750">
              <a:lnSpc>
                <a:spcPct val="150000"/>
              </a:lnSpc>
              <a:buFont typeface="Wingdings" panose="05000000000000000000" pitchFamily="2" charset="2"/>
              <a:buChar char="§"/>
            </a:pPr>
            <a:r>
              <a:rPr lang="en-US" dirty="0"/>
              <a:t>Prevent duplicate import using </a:t>
            </a:r>
            <a:r>
              <a:rPr lang="en-US" b="1" dirty="0" err="1"/>
              <a:t>import_record</a:t>
            </a:r>
            <a:r>
              <a:rPr lang="en-US" b="1" dirty="0"/>
              <a:t> table and send email for failed import</a:t>
            </a:r>
          </a:p>
          <a:p>
            <a:pPr marL="285750" indent="-285750">
              <a:lnSpc>
                <a:spcPct val="150000"/>
              </a:lnSpc>
              <a:buFont typeface="Wingdings" panose="05000000000000000000" pitchFamily="2" charset="2"/>
              <a:buChar char="§"/>
            </a:pPr>
            <a:r>
              <a:rPr lang="en-US" dirty="0"/>
              <a:t>Insert CSV records into </a:t>
            </a:r>
            <a:r>
              <a:rPr lang="en-US" b="1" dirty="0" err="1"/>
              <a:t>yps_integration</a:t>
            </a:r>
            <a:r>
              <a:rPr lang="en-US" dirty="0"/>
              <a:t> (</a:t>
            </a:r>
            <a:r>
              <a:rPr lang="en-US" dirty="0" err="1"/>
              <a:t>fromOnline</a:t>
            </a:r>
            <a:r>
              <a:rPr lang="en-US" dirty="0"/>
              <a:t> = false).</a:t>
            </a:r>
          </a:p>
          <a:p>
            <a:pPr>
              <a:lnSpc>
                <a:spcPct val="150000"/>
              </a:lnSpc>
            </a:pPr>
            <a:r>
              <a:rPr lang="en-US" b="1" dirty="0"/>
              <a:t>Shift Ending</a:t>
            </a:r>
          </a:p>
          <a:p>
            <a:pPr marL="285750" indent="-285750">
              <a:lnSpc>
                <a:spcPct val="150000"/>
              </a:lnSpc>
              <a:buFont typeface="Wingdings" panose="05000000000000000000" pitchFamily="2" charset="2"/>
              <a:buChar char="§"/>
            </a:pPr>
            <a:r>
              <a:rPr lang="en-US" dirty="0"/>
              <a:t>Shift Ending scheduled processes at </a:t>
            </a:r>
            <a:r>
              <a:rPr lang="en-US" b="1" dirty="0"/>
              <a:t>8:00 AM</a:t>
            </a:r>
            <a:r>
              <a:rPr lang="en-US" dirty="0"/>
              <a:t>:</a:t>
            </a:r>
          </a:p>
          <a:p>
            <a:pPr marL="285750" indent="-285750">
              <a:lnSpc>
                <a:spcPct val="150000"/>
              </a:lnSpc>
              <a:buFont typeface="Wingdings" panose="05000000000000000000" pitchFamily="2" charset="2"/>
              <a:buChar char="§"/>
            </a:pPr>
            <a:r>
              <a:rPr lang="en-US" dirty="0"/>
              <a:t>Fetch shift which still open although sale transaction finish</a:t>
            </a:r>
          </a:p>
          <a:p>
            <a:pPr marL="285750" indent="-285750">
              <a:lnSpc>
                <a:spcPct val="150000"/>
              </a:lnSpc>
              <a:buFont typeface="Wingdings" panose="05000000000000000000" pitchFamily="2" charset="2"/>
              <a:buChar char="§"/>
            </a:pPr>
            <a:r>
              <a:rPr lang="en-US" dirty="0"/>
              <a:t>End shift and update shift ending status</a:t>
            </a:r>
            <a:endParaRPr lang="en-US" b="1" dirty="0"/>
          </a:p>
          <a:p>
            <a:pPr>
              <a:lnSpc>
                <a:spcPct val="150000"/>
              </a:lnSpc>
            </a:pPr>
            <a:r>
              <a:rPr lang="en-US" b="1" dirty="0"/>
              <a:t>Failed Transaction Alert</a:t>
            </a:r>
          </a:p>
          <a:p>
            <a:pPr marL="285750" indent="-285750">
              <a:lnSpc>
                <a:spcPct val="150000"/>
              </a:lnSpc>
              <a:buFont typeface="Arial" panose="020B0604020202020204" pitchFamily="34" charset="0"/>
              <a:buChar char="•"/>
            </a:pPr>
            <a:r>
              <a:rPr lang="en-US" dirty="0"/>
              <a:t>Fetch failed transaction from </a:t>
            </a:r>
            <a:r>
              <a:rPr lang="en-US" dirty="0" err="1"/>
              <a:t>yps</a:t>
            </a:r>
            <a:r>
              <a:rPr lang="en-US" dirty="0"/>
              <a:t> integration table at </a:t>
            </a:r>
            <a:r>
              <a:rPr lang="en-US" b="1" dirty="0"/>
              <a:t>8:00 AM</a:t>
            </a:r>
          </a:p>
          <a:p>
            <a:pPr marL="285750" indent="-285750">
              <a:lnSpc>
                <a:spcPct val="150000"/>
              </a:lnSpc>
              <a:buFont typeface="Arial" panose="020B0604020202020204" pitchFamily="34" charset="0"/>
              <a:buChar char="•"/>
            </a:pPr>
            <a:r>
              <a:rPr lang="en-US" dirty="0"/>
              <a:t>Send email with failed transaction number</a:t>
            </a:r>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4114026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53FD79-DFAF-0975-69EF-FB3463742E2D}"/>
              </a:ext>
            </a:extLst>
          </p:cNvPr>
          <p:cNvSpPr>
            <a:spLocks noGrp="1"/>
          </p:cNvSpPr>
          <p:nvPr>
            <p:ph type="sldNum" sz="quarter" idx="12"/>
          </p:nvPr>
        </p:nvSpPr>
        <p:spPr/>
        <p:txBody>
          <a:bodyPr/>
          <a:lstStyle/>
          <a:p>
            <a:fld id="{93288B1A-0894-4E52-95D8-2AC74CBED725}" type="slidenum">
              <a:rPr lang="en-US" smtClean="0"/>
              <a:t>6</a:t>
            </a:fld>
            <a:endParaRPr lang="en-US"/>
          </a:p>
        </p:txBody>
      </p:sp>
      <p:sp>
        <p:nvSpPr>
          <p:cNvPr id="18" name="Text Placeholder 2">
            <a:extLst>
              <a:ext uri="{FF2B5EF4-FFF2-40B4-BE49-F238E27FC236}">
                <a16:creationId xmlns:a16="http://schemas.microsoft.com/office/drawing/2014/main" id="{B6A3574E-BCA8-647A-9EAA-2CEFC6088E80}"/>
              </a:ext>
            </a:extLst>
          </p:cNvPr>
          <p:cNvSpPr>
            <a:spLocks noGrp="1"/>
          </p:cNvSpPr>
          <p:nvPr>
            <p:ph type="body" idx="1"/>
          </p:nvPr>
        </p:nvSpPr>
        <p:spPr>
          <a:xfrm>
            <a:off x="81002" y="48294"/>
            <a:ext cx="10226779" cy="465975"/>
          </a:xfrm>
        </p:spPr>
        <p:txBody>
          <a:bodyPr/>
          <a:lstStyle/>
          <a:p>
            <a:r>
              <a:rPr lang="en-US" dirty="0"/>
              <a:t>Proposed Plan on G&amp;G Side for YPS Retry</a:t>
            </a:r>
          </a:p>
        </p:txBody>
      </p:sp>
      <p:sp>
        <p:nvSpPr>
          <p:cNvPr id="19" name="TextBox 18">
            <a:extLst>
              <a:ext uri="{FF2B5EF4-FFF2-40B4-BE49-F238E27FC236}">
                <a16:creationId xmlns:a16="http://schemas.microsoft.com/office/drawing/2014/main" id="{85B4683E-03BA-A611-0997-F9DE828A7C96}"/>
              </a:ext>
            </a:extLst>
          </p:cNvPr>
          <p:cNvSpPr txBox="1"/>
          <p:nvPr/>
        </p:nvSpPr>
        <p:spPr>
          <a:xfrm>
            <a:off x="81002" y="864974"/>
            <a:ext cx="11420304" cy="4619854"/>
          </a:xfrm>
          <a:prstGeom prst="rect">
            <a:avLst/>
          </a:prstGeom>
          <a:noFill/>
        </p:spPr>
        <p:txBody>
          <a:bodyPr wrap="square">
            <a:spAutoFit/>
          </a:bodyPr>
          <a:lstStyle/>
          <a:p>
            <a:pPr>
              <a:lnSpc>
                <a:spcPct val="150000"/>
              </a:lnSpc>
            </a:pPr>
            <a:r>
              <a:rPr lang="en-US" sz="1600" b="1" dirty="0">
                <a:solidFill>
                  <a:schemeClr val="bg1">
                    <a:lumMod val="50000"/>
                  </a:schemeClr>
                </a:solidFill>
              </a:rPr>
              <a:t>Import Processing Detail</a:t>
            </a:r>
          </a:p>
          <a:p>
            <a:pPr marL="285750" indent="-285750">
              <a:lnSpc>
                <a:spcPct val="150000"/>
              </a:lnSpc>
              <a:buFont typeface="Wingdings" panose="05000000000000000000" pitchFamily="2" charset="2"/>
              <a:buChar char="§"/>
            </a:pPr>
            <a:r>
              <a:rPr lang="en-US" dirty="0"/>
              <a:t>Create </a:t>
            </a:r>
            <a:r>
              <a:rPr lang="en-US" b="1" dirty="0" err="1"/>
              <a:t>yps_integration</a:t>
            </a:r>
            <a:r>
              <a:rPr lang="en-US" b="1" dirty="0"/>
              <a:t> table</a:t>
            </a:r>
            <a:r>
              <a:rPr lang="en-US" dirty="0"/>
              <a:t> to record all YPS transaction with following key fields</a:t>
            </a:r>
          </a:p>
          <a:p>
            <a:pPr marL="1257300" lvl="2" indent="-342900">
              <a:lnSpc>
                <a:spcPct val="150000"/>
              </a:lnSpc>
              <a:buFont typeface="+mj-lt"/>
              <a:buAutoNum type="alphaLcPeriod"/>
            </a:pPr>
            <a:r>
              <a:rPr lang="en-US" b="1" dirty="0" err="1"/>
              <a:t>censeq</a:t>
            </a:r>
            <a:r>
              <a:rPr lang="en-US" dirty="0"/>
              <a:t> – Unique transaction key</a:t>
            </a:r>
          </a:p>
          <a:p>
            <a:pPr marL="1257300" lvl="2" indent="-342900">
              <a:lnSpc>
                <a:spcPct val="150000"/>
              </a:lnSpc>
              <a:buFont typeface="+mj-lt"/>
              <a:buAutoNum type="alphaLcPeriod"/>
            </a:pPr>
            <a:r>
              <a:rPr lang="en-US" b="1" dirty="0" err="1"/>
              <a:t>transaction_frequency</a:t>
            </a:r>
            <a:r>
              <a:rPr lang="en-US" dirty="0"/>
              <a:t> – Number of times transaction received</a:t>
            </a:r>
          </a:p>
          <a:p>
            <a:pPr marL="1257300" lvl="2" indent="-342900">
              <a:lnSpc>
                <a:spcPct val="150000"/>
              </a:lnSpc>
              <a:buFont typeface="+mj-lt"/>
              <a:buAutoNum type="alphaLcPeriod"/>
            </a:pPr>
            <a:r>
              <a:rPr lang="en-US" b="1" dirty="0" err="1"/>
              <a:t>last_transaction_time</a:t>
            </a:r>
            <a:r>
              <a:rPr lang="en-US" dirty="0"/>
              <a:t> – Latest transaction timestamp</a:t>
            </a:r>
          </a:p>
          <a:p>
            <a:pPr marL="285750" indent="-285750">
              <a:lnSpc>
                <a:spcPct val="150000"/>
              </a:lnSpc>
              <a:buFont typeface="Wingdings" panose="05000000000000000000" pitchFamily="2" charset="2"/>
              <a:buChar char="§"/>
            </a:pPr>
            <a:r>
              <a:rPr lang="en-US" dirty="0"/>
              <a:t>YPS sends transaction to G&amp;G.</a:t>
            </a:r>
          </a:p>
          <a:p>
            <a:pPr marL="285750" indent="-285750">
              <a:lnSpc>
                <a:spcPct val="150000"/>
              </a:lnSpc>
              <a:buFont typeface="Wingdings" panose="05000000000000000000" pitchFamily="2" charset="2"/>
              <a:buChar char="§"/>
            </a:pPr>
            <a:r>
              <a:rPr lang="en-US" dirty="0"/>
              <a:t>System checks </a:t>
            </a:r>
            <a:r>
              <a:rPr lang="en-US" b="1" dirty="0" err="1"/>
              <a:t>censeq</a:t>
            </a:r>
            <a:r>
              <a:rPr lang="en-US" dirty="0"/>
              <a:t> in </a:t>
            </a:r>
            <a:r>
              <a:rPr lang="en-US" dirty="0" err="1"/>
              <a:t>yps_integration</a:t>
            </a:r>
            <a:r>
              <a:rPr lang="en-US" dirty="0"/>
              <a:t>.</a:t>
            </a:r>
          </a:p>
          <a:p>
            <a:pPr marL="285750" indent="-285750">
              <a:lnSpc>
                <a:spcPct val="150000"/>
              </a:lnSpc>
              <a:buFont typeface="Wingdings" panose="05000000000000000000" pitchFamily="2" charset="2"/>
              <a:buChar char="§"/>
            </a:pPr>
            <a:r>
              <a:rPr lang="en-US" dirty="0"/>
              <a:t>If record exists:</a:t>
            </a:r>
          </a:p>
          <a:p>
            <a:pPr marL="800100" lvl="1" indent="-342900">
              <a:lnSpc>
                <a:spcPct val="150000"/>
              </a:lnSpc>
              <a:buFont typeface="+mj-lt"/>
              <a:buAutoNum type="alphaLcPeriod"/>
            </a:pPr>
            <a:r>
              <a:rPr lang="en-US" dirty="0"/>
              <a:t>Update </a:t>
            </a:r>
            <a:r>
              <a:rPr lang="en-US" b="1" dirty="0" err="1"/>
              <a:t>transaction_frequency</a:t>
            </a:r>
            <a:endParaRPr lang="en-US" dirty="0"/>
          </a:p>
          <a:p>
            <a:pPr marL="800100" lvl="1" indent="-342900">
              <a:lnSpc>
                <a:spcPct val="150000"/>
              </a:lnSpc>
              <a:buFont typeface="+mj-lt"/>
              <a:buAutoNum type="alphaLcPeriod"/>
            </a:pPr>
            <a:r>
              <a:rPr lang="en-US" dirty="0"/>
              <a:t>Update </a:t>
            </a:r>
            <a:r>
              <a:rPr lang="en-US" b="1" dirty="0" err="1"/>
              <a:t>last_transaction_time</a:t>
            </a:r>
            <a:endParaRPr lang="en-US" dirty="0"/>
          </a:p>
          <a:p>
            <a:pPr marL="285750" indent="-285750">
              <a:lnSpc>
                <a:spcPct val="150000"/>
              </a:lnSpc>
              <a:buFont typeface="Wingdings" panose="05000000000000000000" pitchFamily="2" charset="2"/>
              <a:buChar char="§"/>
            </a:pPr>
            <a:r>
              <a:rPr lang="en-US" dirty="0"/>
              <a:t>Process transaction and return </a:t>
            </a:r>
            <a:r>
              <a:rPr lang="en-US" b="1" dirty="0"/>
              <a:t>000000 success code</a:t>
            </a:r>
            <a:r>
              <a:rPr lang="en-US" dirty="0"/>
              <a:t>.</a:t>
            </a:r>
          </a:p>
        </p:txBody>
      </p:sp>
    </p:spTree>
    <p:extLst>
      <p:ext uri="{BB962C8B-B14F-4D97-AF65-F5344CB8AC3E}">
        <p14:creationId xmlns:p14="http://schemas.microsoft.com/office/powerpoint/2010/main" val="1235559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11442-BE8A-8698-CF82-91735BCC7A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D4704E-C033-38E8-7317-FCC6018C331F}"/>
              </a:ext>
            </a:extLst>
          </p:cNvPr>
          <p:cNvSpPr>
            <a:spLocks noGrp="1"/>
          </p:cNvSpPr>
          <p:nvPr>
            <p:ph type="sldNum" sz="quarter" idx="12"/>
          </p:nvPr>
        </p:nvSpPr>
        <p:spPr/>
        <p:txBody>
          <a:bodyPr/>
          <a:lstStyle/>
          <a:p>
            <a:fld id="{93288B1A-0894-4E52-95D8-2AC74CBED725}" type="slidenum">
              <a:rPr lang="en-US" smtClean="0"/>
              <a:t>7</a:t>
            </a:fld>
            <a:endParaRPr lang="en-US"/>
          </a:p>
        </p:txBody>
      </p:sp>
      <p:sp>
        <p:nvSpPr>
          <p:cNvPr id="3" name="Text Placeholder 2">
            <a:extLst>
              <a:ext uri="{FF2B5EF4-FFF2-40B4-BE49-F238E27FC236}">
                <a16:creationId xmlns:a16="http://schemas.microsoft.com/office/drawing/2014/main" id="{4E2EB858-F82C-26B2-5839-36729F05CD4D}"/>
              </a:ext>
            </a:extLst>
          </p:cNvPr>
          <p:cNvSpPr>
            <a:spLocks noGrp="1"/>
          </p:cNvSpPr>
          <p:nvPr>
            <p:ph type="body" idx="1"/>
          </p:nvPr>
        </p:nvSpPr>
        <p:spPr>
          <a:xfrm>
            <a:off x="72613" y="0"/>
            <a:ext cx="10226779" cy="465975"/>
          </a:xfrm>
        </p:spPr>
        <p:txBody>
          <a:bodyPr/>
          <a:lstStyle/>
          <a:p>
            <a:r>
              <a:rPr lang="en-US" dirty="0"/>
              <a:t>Sequence Diagram for retry flow</a:t>
            </a:r>
          </a:p>
        </p:txBody>
      </p:sp>
      <p:pic>
        <p:nvPicPr>
          <p:cNvPr id="5" name="Picture 4">
            <a:extLst>
              <a:ext uri="{FF2B5EF4-FFF2-40B4-BE49-F238E27FC236}">
                <a16:creationId xmlns:a16="http://schemas.microsoft.com/office/drawing/2014/main" id="{78FBA6B3-7242-DB24-9D94-3A63AD763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400" y="1225448"/>
            <a:ext cx="6848475" cy="5229225"/>
          </a:xfrm>
          <a:prstGeom prst="rect">
            <a:avLst/>
          </a:prstGeom>
        </p:spPr>
      </p:pic>
    </p:spTree>
    <p:extLst>
      <p:ext uri="{BB962C8B-B14F-4D97-AF65-F5344CB8AC3E}">
        <p14:creationId xmlns:p14="http://schemas.microsoft.com/office/powerpoint/2010/main" val="1551459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D99018-257E-E80B-CC48-12AEEEDA48FB}"/>
              </a:ext>
            </a:extLst>
          </p:cNvPr>
          <p:cNvSpPr>
            <a:spLocks noGrp="1"/>
          </p:cNvSpPr>
          <p:nvPr>
            <p:ph type="sldNum" sz="quarter" idx="12"/>
          </p:nvPr>
        </p:nvSpPr>
        <p:spPr/>
        <p:txBody>
          <a:bodyPr/>
          <a:lstStyle/>
          <a:p>
            <a:fld id="{93288B1A-0894-4E52-95D8-2AC74CBED725}" type="slidenum">
              <a:rPr lang="en-US" smtClean="0"/>
              <a:t>8</a:t>
            </a:fld>
            <a:endParaRPr lang="en-US"/>
          </a:p>
        </p:txBody>
      </p:sp>
      <p:sp>
        <p:nvSpPr>
          <p:cNvPr id="3" name="Text Placeholder 2">
            <a:extLst>
              <a:ext uri="{FF2B5EF4-FFF2-40B4-BE49-F238E27FC236}">
                <a16:creationId xmlns:a16="http://schemas.microsoft.com/office/drawing/2014/main" id="{F43F683D-1547-ED8B-AFDE-8F3ED9815590}"/>
              </a:ext>
            </a:extLst>
          </p:cNvPr>
          <p:cNvSpPr>
            <a:spLocks noGrp="1"/>
          </p:cNvSpPr>
          <p:nvPr>
            <p:ph type="body" idx="1"/>
          </p:nvPr>
        </p:nvSpPr>
        <p:spPr>
          <a:xfrm>
            <a:off x="72613" y="0"/>
            <a:ext cx="10226779" cy="465975"/>
          </a:xfrm>
        </p:spPr>
        <p:txBody>
          <a:bodyPr/>
          <a:lstStyle/>
          <a:p>
            <a:r>
              <a:rPr lang="en-US" dirty="0"/>
              <a:t>Sequence Diagram for import flow</a:t>
            </a:r>
          </a:p>
        </p:txBody>
      </p:sp>
      <p:pic>
        <p:nvPicPr>
          <p:cNvPr id="7" name="Picture 6">
            <a:extLst>
              <a:ext uri="{FF2B5EF4-FFF2-40B4-BE49-F238E27FC236}">
                <a16:creationId xmlns:a16="http://schemas.microsoft.com/office/drawing/2014/main" id="{125581E7-3A83-17F1-518F-D679FC18FC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9512"/>
            <a:ext cx="11632255" cy="6858000"/>
          </a:xfrm>
          <a:prstGeom prst="rect">
            <a:avLst/>
          </a:prstGeom>
        </p:spPr>
      </p:pic>
    </p:spTree>
    <p:extLst>
      <p:ext uri="{BB962C8B-B14F-4D97-AF65-F5344CB8AC3E}">
        <p14:creationId xmlns:p14="http://schemas.microsoft.com/office/powerpoint/2010/main" val="3363287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E8CB5-34EE-E139-79CB-841565A6C8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3030DC-8040-8A61-818D-9FB213B798E0}"/>
              </a:ext>
            </a:extLst>
          </p:cNvPr>
          <p:cNvSpPr>
            <a:spLocks noGrp="1"/>
          </p:cNvSpPr>
          <p:nvPr>
            <p:ph type="sldNum" sz="quarter" idx="12"/>
          </p:nvPr>
        </p:nvSpPr>
        <p:spPr/>
        <p:txBody>
          <a:bodyPr/>
          <a:lstStyle/>
          <a:p>
            <a:fld id="{93288B1A-0894-4E52-95D8-2AC74CBED725}" type="slidenum">
              <a:rPr lang="en-US" smtClean="0"/>
              <a:t>9</a:t>
            </a:fld>
            <a:endParaRPr lang="en-US"/>
          </a:p>
        </p:txBody>
      </p:sp>
      <p:sp>
        <p:nvSpPr>
          <p:cNvPr id="3" name="Text Placeholder 2">
            <a:extLst>
              <a:ext uri="{FF2B5EF4-FFF2-40B4-BE49-F238E27FC236}">
                <a16:creationId xmlns:a16="http://schemas.microsoft.com/office/drawing/2014/main" id="{830A4FC5-2322-9284-64EE-D788EEF10D02}"/>
              </a:ext>
            </a:extLst>
          </p:cNvPr>
          <p:cNvSpPr>
            <a:spLocks noGrp="1"/>
          </p:cNvSpPr>
          <p:nvPr>
            <p:ph type="body" idx="1"/>
          </p:nvPr>
        </p:nvSpPr>
        <p:spPr>
          <a:xfrm>
            <a:off x="81002" y="-136524"/>
            <a:ext cx="10226779" cy="465975"/>
          </a:xfrm>
        </p:spPr>
        <p:txBody>
          <a:bodyPr/>
          <a:lstStyle/>
          <a:p>
            <a:r>
              <a:rPr lang="en-US" dirty="0"/>
              <a:t>Sequence Diagram for Ending shift</a:t>
            </a:r>
          </a:p>
        </p:txBody>
      </p:sp>
      <p:pic>
        <p:nvPicPr>
          <p:cNvPr id="9" name="Picture 8">
            <a:extLst>
              <a:ext uri="{FF2B5EF4-FFF2-40B4-BE49-F238E27FC236}">
                <a16:creationId xmlns:a16="http://schemas.microsoft.com/office/drawing/2014/main" id="{F7B8FFE7-D208-C321-7EA5-4A228A184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7195"/>
            <a:ext cx="12192000" cy="4875279"/>
          </a:xfrm>
          <a:prstGeom prst="rect">
            <a:avLst/>
          </a:prstGeom>
        </p:spPr>
      </p:pic>
    </p:spTree>
    <p:extLst>
      <p:ext uri="{BB962C8B-B14F-4D97-AF65-F5344CB8AC3E}">
        <p14:creationId xmlns:p14="http://schemas.microsoft.com/office/powerpoint/2010/main" val="758818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BCDA9-ECC6-347E-1582-399FFBFDF8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FFEC43-5979-58FE-87C3-C261DCB91555}"/>
              </a:ext>
            </a:extLst>
          </p:cNvPr>
          <p:cNvSpPr>
            <a:spLocks noGrp="1"/>
          </p:cNvSpPr>
          <p:nvPr>
            <p:ph type="sldNum" sz="quarter" idx="12"/>
          </p:nvPr>
        </p:nvSpPr>
        <p:spPr/>
        <p:txBody>
          <a:bodyPr/>
          <a:lstStyle/>
          <a:p>
            <a:fld id="{93288B1A-0894-4E52-95D8-2AC74CBED725}" type="slidenum">
              <a:rPr lang="en-US" smtClean="0"/>
              <a:t>10</a:t>
            </a:fld>
            <a:endParaRPr lang="en-US"/>
          </a:p>
        </p:txBody>
      </p:sp>
      <p:sp>
        <p:nvSpPr>
          <p:cNvPr id="3" name="Text Placeholder 2">
            <a:extLst>
              <a:ext uri="{FF2B5EF4-FFF2-40B4-BE49-F238E27FC236}">
                <a16:creationId xmlns:a16="http://schemas.microsoft.com/office/drawing/2014/main" id="{8A775D65-0CF4-B3BC-6357-7642771FF0D2}"/>
              </a:ext>
            </a:extLst>
          </p:cNvPr>
          <p:cNvSpPr>
            <a:spLocks noGrp="1"/>
          </p:cNvSpPr>
          <p:nvPr>
            <p:ph type="body" idx="1"/>
          </p:nvPr>
        </p:nvSpPr>
        <p:spPr>
          <a:xfrm>
            <a:off x="81002" y="-136524"/>
            <a:ext cx="10226779" cy="465975"/>
          </a:xfrm>
        </p:spPr>
        <p:txBody>
          <a:bodyPr/>
          <a:lstStyle/>
          <a:p>
            <a:r>
              <a:rPr lang="en-US" dirty="0"/>
              <a:t>Sequence Diagram for </a:t>
            </a:r>
            <a:r>
              <a:rPr lang="en-US" dirty="0" err="1"/>
              <a:t>FailedTx</a:t>
            </a:r>
            <a:r>
              <a:rPr lang="en-US" dirty="0"/>
              <a:t> Email Sending</a:t>
            </a:r>
          </a:p>
        </p:txBody>
      </p:sp>
      <p:pic>
        <p:nvPicPr>
          <p:cNvPr id="7" name="Picture 6">
            <a:extLst>
              <a:ext uri="{FF2B5EF4-FFF2-40B4-BE49-F238E27FC236}">
                <a16:creationId xmlns:a16="http://schemas.microsoft.com/office/drawing/2014/main" id="{5644DBC8-0171-8EE0-AB2D-715528405E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52734"/>
            <a:ext cx="12192000" cy="6152532"/>
          </a:xfrm>
          <a:prstGeom prst="rect">
            <a:avLst/>
          </a:prstGeom>
        </p:spPr>
      </p:pic>
    </p:spTree>
    <p:extLst>
      <p:ext uri="{BB962C8B-B14F-4D97-AF65-F5344CB8AC3E}">
        <p14:creationId xmlns:p14="http://schemas.microsoft.com/office/powerpoint/2010/main" val="2215197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0BD5F9-DA32-C616-F2CD-B2FCAEA22517}"/>
              </a:ext>
            </a:extLst>
          </p:cNvPr>
          <p:cNvSpPr>
            <a:spLocks noGrp="1"/>
          </p:cNvSpPr>
          <p:nvPr>
            <p:ph type="sldNum" sz="quarter" idx="12"/>
          </p:nvPr>
        </p:nvSpPr>
        <p:spPr/>
        <p:txBody>
          <a:bodyPr/>
          <a:lstStyle/>
          <a:p>
            <a:fld id="{93288B1A-0894-4E52-95D8-2AC74CBED725}" type="slidenum">
              <a:rPr lang="en-US" smtClean="0"/>
              <a:t>11</a:t>
            </a:fld>
            <a:endParaRPr lang="en-US"/>
          </a:p>
        </p:txBody>
      </p:sp>
      <p:sp>
        <p:nvSpPr>
          <p:cNvPr id="3" name="Text Placeholder 2">
            <a:extLst>
              <a:ext uri="{FF2B5EF4-FFF2-40B4-BE49-F238E27FC236}">
                <a16:creationId xmlns:a16="http://schemas.microsoft.com/office/drawing/2014/main" id="{71C3C1B9-F37B-13E1-3B2C-6E70D70D3527}"/>
              </a:ext>
            </a:extLst>
          </p:cNvPr>
          <p:cNvSpPr>
            <a:spLocks noGrp="1"/>
          </p:cNvSpPr>
          <p:nvPr>
            <p:ph type="body" idx="1"/>
          </p:nvPr>
        </p:nvSpPr>
        <p:spPr/>
        <p:txBody>
          <a:bodyPr/>
          <a:lstStyle/>
          <a:p>
            <a:r>
              <a:rPr lang="en-US" dirty="0"/>
              <a:t>Question by KK</a:t>
            </a:r>
          </a:p>
        </p:txBody>
      </p:sp>
      <p:sp>
        <p:nvSpPr>
          <p:cNvPr id="6" name="TextBox 5">
            <a:extLst>
              <a:ext uri="{FF2B5EF4-FFF2-40B4-BE49-F238E27FC236}">
                <a16:creationId xmlns:a16="http://schemas.microsoft.com/office/drawing/2014/main" id="{B93DBE10-9740-3002-B39E-7878831B46C5}"/>
              </a:ext>
            </a:extLst>
          </p:cNvPr>
          <p:cNvSpPr txBox="1"/>
          <p:nvPr/>
        </p:nvSpPr>
        <p:spPr>
          <a:xfrm>
            <a:off x="81002" y="864974"/>
            <a:ext cx="11420304" cy="5820183"/>
          </a:xfrm>
          <a:prstGeom prst="rect">
            <a:avLst/>
          </a:prstGeom>
          <a:noFill/>
        </p:spPr>
        <p:txBody>
          <a:bodyPr wrap="square">
            <a:spAutoFit/>
          </a:bodyPr>
          <a:lstStyle/>
          <a:p>
            <a:pPr>
              <a:lnSpc>
                <a:spcPct val="150000"/>
              </a:lnSpc>
            </a:pPr>
            <a:r>
              <a:rPr lang="en-US" sz="1600" b="1" dirty="0">
                <a:solidFill>
                  <a:schemeClr val="bg1">
                    <a:lumMod val="50000"/>
                  </a:schemeClr>
                </a:solidFill>
              </a:rPr>
              <a:t>What kk said</a:t>
            </a:r>
          </a:p>
          <a:p>
            <a:pPr marL="285750" indent="-285750">
              <a:lnSpc>
                <a:spcPct val="150000"/>
              </a:lnSpc>
              <a:buFont typeface="Wingdings" panose="05000000000000000000" pitchFamily="2" charset="2"/>
              <a:buChar char="§"/>
            </a:pPr>
            <a:r>
              <a:rPr lang="en-US" dirty="0"/>
              <a:t>Separate </a:t>
            </a:r>
            <a:r>
              <a:rPr lang="en-US" dirty="0" err="1"/>
              <a:t>yps</a:t>
            </a:r>
            <a:r>
              <a:rPr lang="en-US" dirty="0"/>
              <a:t> service for processing </a:t>
            </a:r>
            <a:r>
              <a:rPr lang="en-US" dirty="0" err="1"/>
              <a:t>yps</a:t>
            </a:r>
            <a:endParaRPr lang="en-US" dirty="0"/>
          </a:p>
          <a:p>
            <a:pPr marL="285750" indent="-285750">
              <a:lnSpc>
                <a:spcPct val="150000"/>
              </a:lnSpc>
              <a:buFont typeface="Wingdings" panose="05000000000000000000" pitchFamily="2" charset="2"/>
              <a:buChar char="§"/>
            </a:pPr>
            <a:r>
              <a:rPr lang="en-US" dirty="0"/>
              <a:t>Create new </a:t>
            </a:r>
            <a:r>
              <a:rPr lang="en-US" dirty="0" err="1"/>
              <a:t>yps</a:t>
            </a:r>
            <a:r>
              <a:rPr lang="en-US" dirty="0"/>
              <a:t> schema with table like </a:t>
            </a:r>
            <a:r>
              <a:rPr lang="en-US" dirty="0" err="1"/>
              <a:t>import_record</a:t>
            </a:r>
            <a:r>
              <a:rPr lang="en-US" dirty="0"/>
              <a:t> ,</a:t>
            </a:r>
            <a:r>
              <a:rPr lang="en-US" dirty="0" err="1"/>
              <a:t>import_session</a:t>
            </a:r>
            <a:r>
              <a:rPr lang="en-US" dirty="0"/>
              <a:t> , </a:t>
            </a:r>
            <a:r>
              <a:rPr lang="en-US" dirty="0" err="1"/>
              <a:t>file_config</a:t>
            </a:r>
            <a:r>
              <a:rPr lang="en-US" dirty="0"/>
              <a:t>, </a:t>
            </a:r>
            <a:r>
              <a:rPr lang="en-US" dirty="0" err="1"/>
              <a:t>yps_integration</a:t>
            </a:r>
            <a:r>
              <a:rPr lang="en-US" dirty="0"/>
              <a:t> table</a:t>
            </a:r>
          </a:p>
          <a:p>
            <a:pPr marL="285750" indent="-285750">
              <a:lnSpc>
                <a:spcPct val="150000"/>
              </a:lnSpc>
              <a:buFont typeface="Wingdings" panose="05000000000000000000" pitchFamily="2" charset="2"/>
              <a:buChar char="§"/>
            </a:pPr>
            <a:r>
              <a:rPr lang="en-US" dirty="0"/>
              <a:t>What he expect is only sending data require for sale transactions and not hold or store </a:t>
            </a:r>
            <a:r>
              <a:rPr lang="en-US" dirty="0" err="1"/>
              <a:t>yps</a:t>
            </a:r>
            <a:r>
              <a:rPr lang="en-US" dirty="0"/>
              <a:t> data</a:t>
            </a:r>
          </a:p>
          <a:p>
            <a:pPr marL="285750" indent="-285750">
              <a:lnSpc>
                <a:spcPct val="150000"/>
              </a:lnSpc>
              <a:buFont typeface="Wingdings" panose="05000000000000000000" pitchFamily="2" charset="2"/>
              <a:buChar char="§"/>
            </a:pPr>
            <a:r>
              <a:rPr lang="en-US" dirty="0"/>
              <a:t>He expect </a:t>
            </a:r>
            <a:r>
              <a:rPr lang="en-US" dirty="0" err="1"/>
              <a:t>g&amp;g</a:t>
            </a:r>
            <a:r>
              <a:rPr lang="en-US" dirty="0"/>
              <a:t> revamp should pin point area which need to revamp and we have to point out step by step revamp.</a:t>
            </a:r>
          </a:p>
          <a:p>
            <a:pPr marL="285750" indent="-285750">
              <a:lnSpc>
                <a:spcPct val="150000"/>
              </a:lnSpc>
              <a:buFont typeface="Wingdings" panose="05000000000000000000" pitchFamily="2" charset="2"/>
              <a:buChar char="§"/>
            </a:pPr>
            <a:r>
              <a:rPr lang="en-US" dirty="0"/>
              <a:t>Currently my pain point is targeting </a:t>
            </a:r>
            <a:r>
              <a:rPr lang="en-US" dirty="0" err="1"/>
              <a:t>yps</a:t>
            </a:r>
            <a:r>
              <a:rPr lang="en-US" dirty="0"/>
              <a:t> part  it is good but kk pain point is top up point which does not match in balance</a:t>
            </a:r>
          </a:p>
          <a:p>
            <a:pPr marL="285750" indent="-285750">
              <a:lnSpc>
                <a:spcPct val="150000"/>
              </a:lnSpc>
              <a:buFont typeface="Wingdings" panose="05000000000000000000" pitchFamily="2" charset="2"/>
              <a:buChar char="§"/>
            </a:pPr>
            <a:r>
              <a:rPr lang="en-US" dirty="0"/>
              <a:t>According to ko </a:t>
            </a:r>
            <a:r>
              <a:rPr lang="en-US" dirty="0" err="1"/>
              <a:t>nyi</a:t>
            </a:r>
            <a:r>
              <a:rPr lang="en-US" dirty="0"/>
              <a:t>(technical own) , there is no top up  issues and accounting match ,problem happen due to time out </a:t>
            </a:r>
            <a:r>
              <a:rPr lang="en-US" dirty="0" err="1"/>
              <a:t>issues.Ko</a:t>
            </a:r>
            <a:r>
              <a:rPr lang="en-US" dirty="0"/>
              <a:t> Thura </a:t>
            </a:r>
            <a:r>
              <a:rPr lang="en-US" dirty="0" err="1"/>
              <a:t>sugges</a:t>
            </a:r>
            <a:r>
              <a:rPr lang="en-US" dirty="0"/>
              <a:t> to check log to know time out issues</a:t>
            </a:r>
          </a:p>
          <a:p>
            <a:pPr marL="285750" indent="-285750">
              <a:lnSpc>
                <a:spcPct val="150000"/>
              </a:lnSpc>
              <a:buFont typeface="Wingdings" panose="05000000000000000000" pitchFamily="2" charset="2"/>
              <a:buChar char="§"/>
            </a:pPr>
            <a:r>
              <a:rPr lang="en-US" dirty="0"/>
              <a:t>Current flow is </a:t>
            </a:r>
            <a:r>
              <a:rPr lang="en-US" dirty="0" err="1"/>
              <a:t>g_gendpoint</a:t>
            </a:r>
            <a:r>
              <a:rPr lang="en-US" dirty="0"/>
              <a:t> connect to CCN </a:t>
            </a:r>
            <a:r>
              <a:rPr lang="en-US" dirty="0" err="1"/>
              <a:t>Eservice</a:t>
            </a:r>
            <a:r>
              <a:rPr lang="en-US" dirty="0"/>
              <a:t>(</a:t>
            </a:r>
            <a:r>
              <a:rPr lang="en-US" dirty="0" err="1"/>
              <a:t>middlieware</a:t>
            </a:r>
            <a:r>
              <a:rPr lang="en-US" dirty="0"/>
              <a:t>) which connect to third party top up. </a:t>
            </a:r>
          </a:p>
          <a:p>
            <a:pPr marL="285750" indent="-285750">
              <a:lnSpc>
                <a:spcPct val="150000"/>
              </a:lnSpc>
              <a:buFont typeface="Wingdings" panose="05000000000000000000" pitchFamily="2" charset="2"/>
              <a:buChar char="§"/>
            </a:pPr>
            <a:r>
              <a:rPr lang="en-US" dirty="0"/>
              <a:t>Problem happen when top up does not response in time so that CCN </a:t>
            </a:r>
            <a:r>
              <a:rPr lang="en-US" dirty="0" err="1"/>
              <a:t>Eervice</a:t>
            </a:r>
            <a:r>
              <a:rPr lang="en-US" dirty="0"/>
              <a:t> cant response in time so that </a:t>
            </a:r>
            <a:r>
              <a:rPr lang="en-US" dirty="0" err="1"/>
              <a:t>g&amp;g</a:t>
            </a:r>
            <a:r>
              <a:rPr lang="en-US" dirty="0"/>
              <a:t> end point receive timeout so transaction fail and user return home.at that time transaction success at phone bill provider and success return to eservice middleware but at that time no transaction wait at </a:t>
            </a:r>
            <a:r>
              <a:rPr lang="en-US" dirty="0" err="1"/>
              <a:t>g&amp;g</a:t>
            </a:r>
            <a:r>
              <a:rPr lang="en-US" dirty="0"/>
              <a:t> part but customer receive phone bill .so money lost at CCN </a:t>
            </a:r>
            <a:r>
              <a:rPr lang="en-US" dirty="0" err="1"/>
              <a:t>Eservice</a:t>
            </a:r>
            <a:r>
              <a:rPr lang="en-US" dirty="0"/>
              <a:t> side.</a:t>
            </a:r>
          </a:p>
        </p:txBody>
      </p:sp>
    </p:spTree>
    <p:extLst>
      <p:ext uri="{BB962C8B-B14F-4D97-AF65-F5344CB8AC3E}">
        <p14:creationId xmlns:p14="http://schemas.microsoft.com/office/powerpoint/2010/main" val="682446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9C983F-458B-06E6-E4F8-F1462FB49156}"/>
              </a:ext>
            </a:extLst>
          </p:cNvPr>
          <p:cNvSpPr>
            <a:spLocks noGrp="1"/>
          </p:cNvSpPr>
          <p:nvPr>
            <p:ph type="sldNum" sz="quarter" idx="12"/>
          </p:nvPr>
        </p:nvSpPr>
        <p:spPr/>
        <p:txBody>
          <a:bodyPr/>
          <a:lstStyle/>
          <a:p>
            <a:fld id="{93288B1A-0894-4E52-95D8-2AC74CBED725}" type="slidenum">
              <a:rPr lang="en-US" smtClean="0"/>
              <a:t>12</a:t>
            </a:fld>
            <a:endParaRPr lang="en-US"/>
          </a:p>
        </p:txBody>
      </p:sp>
      <p:sp>
        <p:nvSpPr>
          <p:cNvPr id="3" name="Text Placeholder 2">
            <a:extLst>
              <a:ext uri="{FF2B5EF4-FFF2-40B4-BE49-F238E27FC236}">
                <a16:creationId xmlns:a16="http://schemas.microsoft.com/office/drawing/2014/main" id="{E2F2EA55-F46C-8AB0-0140-A4E9772F2B82}"/>
              </a:ext>
            </a:extLst>
          </p:cNvPr>
          <p:cNvSpPr>
            <a:spLocks noGrp="1"/>
          </p:cNvSpPr>
          <p:nvPr>
            <p:ph type="body" idx="1"/>
          </p:nvPr>
        </p:nvSpPr>
        <p:spPr>
          <a:xfrm>
            <a:off x="0" y="3000635"/>
            <a:ext cx="12191999" cy="518983"/>
          </a:xfrm>
        </p:spPr>
        <p:txBody>
          <a:bodyPr/>
          <a:lstStyle/>
          <a:p>
            <a:pPr algn="ctr"/>
            <a:r>
              <a:rPr lang="en-US" dirty="0"/>
              <a:t>Thank You!</a:t>
            </a:r>
          </a:p>
        </p:txBody>
      </p:sp>
    </p:spTree>
    <p:extLst>
      <p:ext uri="{BB962C8B-B14F-4D97-AF65-F5344CB8AC3E}">
        <p14:creationId xmlns:p14="http://schemas.microsoft.com/office/powerpoint/2010/main" val="1784669213"/>
      </p:ext>
    </p:extLst>
  </p:cSld>
  <p:clrMapOvr>
    <a:masterClrMapping/>
  </p:clrMapOvr>
</p:sld>
</file>

<file path=ppt/theme/theme1.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fad6302-fdb1-4d2b-bae6-d2fdf9a97a42">
      <Terms xmlns="http://schemas.microsoft.com/office/infopath/2007/PartnerControls"/>
    </lcf76f155ced4ddcb4097134ff3c332f>
    <TaxCatchAll xmlns="76bb2ce8-bb45-4930-a7cf-51d5c3ce9955" xsi:nil="true"/>
    <_Flow_SignoffStatus xmlns="9fad6302-fdb1-4d2b-bae6-d2fdf9a97a4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9FAA4C2747084B87058E0E0A310158" ma:contentTypeVersion="17" ma:contentTypeDescription="Create a new document." ma:contentTypeScope="" ma:versionID="308a7ec859734336ea922c45310870ea">
  <xsd:schema xmlns:xsd="http://www.w3.org/2001/XMLSchema" xmlns:xs="http://www.w3.org/2001/XMLSchema" xmlns:p="http://schemas.microsoft.com/office/2006/metadata/properties" xmlns:ns2="9fad6302-fdb1-4d2b-bae6-d2fdf9a97a42" xmlns:ns3="76bb2ce8-bb45-4930-a7cf-51d5c3ce9955" targetNamespace="http://schemas.microsoft.com/office/2006/metadata/properties" ma:root="true" ma:fieldsID="bf01b6feaad3e4a003090b47518a3d89" ns2:_="" ns3:_="">
    <xsd:import namespace="9fad6302-fdb1-4d2b-bae6-d2fdf9a97a42"/>
    <xsd:import namespace="76bb2ce8-bb45-4930-a7cf-51d5c3ce995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ad6302-fdb1-4d2b-bae6-d2fdf9a97a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a68c42a-fa4e-4690-8c8d-5e2b77104c2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_Flow_SignoffStatus" ma:index="24"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bb2ce8-bb45-4930-a7cf-51d5c3ce995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ec937087-0f51-406b-8ce9-5382fca5863b}" ma:internalName="TaxCatchAll" ma:showField="CatchAllData" ma:web="76bb2ce8-bb45-4930-a7cf-51d5c3ce99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17D971-2416-483F-8C3C-F9A2317247D7}">
  <ds:schemaRefs>
    <ds:schemaRef ds:uri="http://schemas.microsoft.com/sharepoint/v3/contenttype/forms"/>
  </ds:schemaRefs>
</ds:datastoreItem>
</file>

<file path=customXml/itemProps2.xml><?xml version="1.0" encoding="utf-8"?>
<ds:datastoreItem xmlns:ds="http://schemas.openxmlformats.org/officeDocument/2006/customXml" ds:itemID="{EB4568BD-1A8E-4633-AD94-D8FBD47F872A}">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76bb2ce8-bb45-4930-a7cf-51d5c3ce9955"/>
    <ds:schemaRef ds:uri="http://www.w3.org/XML/1998/namespace"/>
    <ds:schemaRef ds:uri="http://purl.org/dc/dcmitype/"/>
    <ds:schemaRef ds:uri="9fad6302-fdb1-4d2b-bae6-d2fdf9a97a42"/>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1B421569-689E-49A7-AF86-5AEF24E8F5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ad6302-fdb1-4d2b-bae6-d2fdf9a97a42"/>
    <ds:schemaRef ds:uri="76bb2ce8-bb45-4930-a7cf-51d5c3ce99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17420</TotalTime>
  <Words>757</Words>
  <Application>Microsoft Office PowerPoint</Application>
  <PresentationFormat>Widescreen</PresentationFormat>
  <Paragraphs>84</Paragraphs>
  <Slides>12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Narrow</vt:lpstr>
      <vt:lpstr>Arial</vt:lpstr>
      <vt:lpstr>Calibri</vt:lpstr>
      <vt:lpstr>Wingdings</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Phyo Thu Han</cp:lastModifiedBy>
  <cp:revision>166</cp:revision>
  <dcterms:created xsi:type="dcterms:W3CDTF">2021-01-16T06:03:56Z</dcterms:created>
  <dcterms:modified xsi:type="dcterms:W3CDTF">2026-03-06T09:32:30Z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0x010100159FAA4C2747084B87058E0E0A310158</vt:lpwstr>
  </property>
  <property fmtid="{D5CDD505-2E9C-101B-9397-08002B2CF9AE}" pid="3" name="MediaServiceImageTags">
    <vt:lpwstr/>
  </property>
</Properties>
</file>