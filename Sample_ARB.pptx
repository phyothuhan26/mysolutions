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84" r:id="rId4"/>
  </p:sldMasterIdLst>
  <p:notesMasterIdLst>
    <p:notesMasterId r:id="rId31"/>
  </p:notesMasterIdLst>
  <p:sldIdLst>
    <p:sldId id="2145708748" r:id="rId5"/>
    <p:sldId id="2145708771" r:id="rId6"/>
    <p:sldId id="2145708772" r:id="rId7"/>
    <p:sldId id="2145708750" r:id="rId8"/>
    <p:sldId id="2145708752" r:id="rId9"/>
    <p:sldId id="2145708813" r:id="rId10"/>
    <p:sldId id="2145708785" r:id="rId11"/>
    <p:sldId id="2145708761" r:id="rId12"/>
    <p:sldId id="2145708814" r:id="rId13"/>
    <p:sldId id="2145708787" r:id="rId14"/>
    <p:sldId id="2145708773" r:id="rId15"/>
    <p:sldId id="2145708815" r:id="rId16"/>
    <p:sldId id="2145708758" r:id="rId17"/>
    <p:sldId id="2145708762" r:id="rId18"/>
    <p:sldId id="2145708780" r:id="rId19"/>
    <p:sldId id="2145708816" r:id="rId20"/>
    <p:sldId id="2145708778" r:id="rId21"/>
    <p:sldId id="2145708819" r:id="rId22"/>
    <p:sldId id="2145708818" r:id="rId23"/>
    <p:sldId id="2145708757" r:id="rId24"/>
    <p:sldId id="2145708817" r:id="rId25"/>
    <p:sldId id="2145708756" r:id="rId26"/>
    <p:sldId id="2145708760" r:id="rId27"/>
    <p:sldId id="2145708805" r:id="rId28"/>
    <p:sldId id="2145708803" r:id="rId29"/>
    <p:sldId id="2145708766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F87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36" autoAdjust="0"/>
    <p:restoredTop sz="88255" autoAdjust="0"/>
  </p:normalViewPr>
  <p:slideViewPr>
    <p:cSldViewPr snapToGrid="0">
      <p:cViewPr varScale="1">
        <p:scale>
          <a:sx n="82" d="100"/>
          <a:sy n="82" d="100"/>
        </p:scale>
        <p:origin x="86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89EC9-ADF7-4CD8-A359-4B3486574A56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180750-FA6C-4B62-A27E-0AEE5A77FE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467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928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28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9FE2-0ADD-64BE-C0FC-80301BAE1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957CC5-D423-4111-3014-0B4789399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DDD3D9-6367-E6BC-C5A5-0EAD2997F6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D3C82-B2EF-9E4B-A4D6-56853A275C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1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570585-199B-79AA-B53A-FE42F001B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8477ED-5566-01F5-6506-B6EFDAEEFB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FB4DEA-C250-819F-9D90-E496250E5B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15CAD9-9363-368E-5754-060B100C69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5452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10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5CF1-E897-6B2F-4523-70D3E6230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276CAA-4DE4-2550-EA74-2A2A72D344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63F645-12A9-0EFC-FF35-9409618AA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7976C-C953-BAE6-DB4A-974F891053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020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B8FD0-D96A-E66C-F81B-F69003E42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52CACF-46AC-13F1-5389-52BD684A8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58C20A-7C3B-AA82-42AF-C6CD3583DD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1789E-B378-7C40-60FC-4164579CA7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117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074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180750-FA6C-4B62-A27E-0AEE5A77FE0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97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62111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975493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399790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354325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95927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7243973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53763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316134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0004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071058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632180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5214199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59710908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291239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557854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7574537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63136-BFF8-EB78-2165-16658AEC1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4DD45-BABB-0DD6-2A45-730A5E2A3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A64DEE-651B-DBFF-6616-A6F7523F1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E4A72-F922-477C-8EF1-5A284132E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086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CDCD78-8B7B-4976-8AE0-648AF1DF3CEB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E5A1445-8CA7-4094-8A1D-DA20D230DC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05838" y="-2643"/>
            <a:ext cx="1686161" cy="733528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A781350-F6E0-498B-8852-571864372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136525"/>
            <a:ext cx="10226779" cy="465975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9EBFB5-A964-42F9-B79F-978885BFC2B4}"/>
              </a:ext>
            </a:extLst>
          </p:cNvPr>
          <p:cNvSpPr/>
          <p:nvPr userDrawn="1"/>
        </p:nvSpPr>
        <p:spPr>
          <a:xfrm>
            <a:off x="81001" y="602501"/>
            <a:ext cx="10226779" cy="20106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8091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C0EAA3-C71A-43A2-91D0-C6C3110209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4635" y="3447317"/>
            <a:ext cx="7676173" cy="1893748"/>
          </a:xfrm>
        </p:spPr>
        <p:txBody>
          <a:bodyPr/>
          <a:lstStyle>
            <a:lvl1pPr>
              <a:buNone/>
              <a:defRPr sz="3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28A08A-DC60-4455-BFC7-21B4F189180D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04250C-5885-48A6-8300-C696669B24AB}" type="slidenum">
              <a:rPr lang="en-US">
                <a:solidFill>
                  <a:prstClr val="white">
                    <a:lumMod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CC60379-4B22-4A26-8D53-7990592BE2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FA9DCE2-9A27-41CD-AA22-E05C8C5DA730}"/>
              </a:ext>
            </a:extLst>
          </p:cNvPr>
          <p:cNvSpPr/>
          <p:nvPr userDrawn="1"/>
        </p:nvSpPr>
        <p:spPr>
          <a:xfrm>
            <a:off x="0" y="410547"/>
            <a:ext cx="589497" cy="33503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BA8CB8-EDC3-4B46-9A15-ACDB3324900B}"/>
              </a:ext>
            </a:extLst>
          </p:cNvPr>
          <p:cNvSpPr/>
          <p:nvPr userDrawn="1"/>
        </p:nvSpPr>
        <p:spPr>
          <a:xfrm>
            <a:off x="0" y="0"/>
            <a:ext cx="12192000" cy="742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1BDA31-1101-46FE-8D24-6516A8D2B08F}"/>
              </a:ext>
            </a:extLst>
          </p:cNvPr>
          <p:cNvSpPr/>
          <p:nvPr userDrawn="1"/>
        </p:nvSpPr>
        <p:spPr>
          <a:xfrm>
            <a:off x="0" y="6185647"/>
            <a:ext cx="121920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solidFill>
                <a:prstClr val="white"/>
              </a:solidFill>
            </a:endParaRPr>
          </a:p>
        </p:txBody>
      </p:sp>
      <p:pic>
        <p:nvPicPr>
          <p:cNvPr id="14" name="Picture 7">
            <a:extLst>
              <a:ext uri="{FF2B5EF4-FFF2-40B4-BE49-F238E27FC236}">
                <a16:creationId xmlns:a16="http://schemas.microsoft.com/office/drawing/2014/main" id="{0D347471-B928-4112-A3B7-7591089D2ED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39462" y="2158515"/>
            <a:ext cx="3173267" cy="1189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DBDD774-C799-4B89-A9B2-280F767B7AD9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1517239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F8D69B2-525F-4B3D-93C2-BAAB7414FB32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2769493-3986-45F8-8FCB-9328DFEE46FF}" type="slidenum">
              <a:rPr lang="en-US" smtClean="0">
                <a:solidFill>
                  <a:prstClr val="white">
                    <a:lumMod val="50000"/>
                  </a:prstClr>
                </a:solidFill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>
              <a:solidFill>
                <a:prstClr val="white">
                  <a:lumMod val="50000"/>
                </a:prstClr>
              </a:solidFill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CE4042D-9F02-E53D-2848-9DB8C1B8D1E5}"/>
              </a:ext>
            </a:extLst>
          </p:cNvPr>
          <p:cNvSpPr/>
          <p:nvPr userDrawn="1"/>
        </p:nvSpPr>
        <p:spPr>
          <a:xfrm>
            <a:off x="0" y="6408288"/>
            <a:ext cx="12192000" cy="24844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 sz="1800">
              <a:solidFill>
                <a:prstClr val="white"/>
              </a:solidFill>
              <a:latin typeface="Aptos" panose="020B00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77273A-CAD1-2B48-7DE9-D1EE36BC10C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0387" y="6259368"/>
            <a:ext cx="1356013" cy="5085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FE90334-E447-7280-88A2-F78D63BD31EB}"/>
              </a:ext>
            </a:extLst>
          </p:cNvPr>
          <p:cNvSpPr txBox="1"/>
          <p:nvPr userDrawn="1"/>
        </p:nvSpPr>
        <p:spPr>
          <a:xfrm>
            <a:off x="0" y="6629249"/>
            <a:ext cx="12192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i="1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The information on this document is confidential and proprietary to CDSG. Do not copy or distribute this document.</a:t>
            </a:r>
          </a:p>
        </p:txBody>
      </p:sp>
    </p:spTree>
    <p:extLst>
      <p:ext uri="{BB962C8B-B14F-4D97-AF65-F5344CB8AC3E}">
        <p14:creationId xmlns:p14="http://schemas.microsoft.com/office/powerpoint/2010/main" val="81863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  <p:sldLayoutId id="2147483986" r:id="rId2"/>
    <p:sldLayoutId id="2147483987" r:id="rId3"/>
    <p:sldLayoutId id="2147483988" r:id="rId4"/>
    <p:sldLayoutId id="2147483989" r:id="rId5"/>
    <p:sldLayoutId id="2147483990" r:id="rId6"/>
    <p:sldLayoutId id="2147483991" r:id="rId7"/>
    <p:sldLayoutId id="2147483992" r:id="rId8"/>
    <p:sldLayoutId id="2147483993" r:id="rId9"/>
    <p:sldLayoutId id="2147483994" r:id="rId10"/>
    <p:sldLayoutId id="2147483995" r:id="rId11"/>
    <p:sldLayoutId id="2147483996" r:id="rId12"/>
    <p:sldLayoutId id="2147483997" r:id="rId13"/>
    <p:sldLayoutId id="2147483998" r:id="rId14"/>
    <p:sldLayoutId id="2147483999" r:id="rId15"/>
    <p:sldLayoutId id="2147484000" r:id="rId16"/>
    <p:sldLayoutId id="2147484001" r:id="rId17"/>
    <p:sldLayoutId id="2147484002" r:id="rId18"/>
    <p:sldLayoutId id="2147483662" r:id="rId19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9CF22F-5AA4-B171-99C4-50EE2DCE24B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0" y="1581150"/>
            <a:ext cx="8491538" cy="1704975"/>
          </a:xfrm>
        </p:spPr>
        <p:txBody>
          <a:bodyPr/>
          <a:lstStyle/>
          <a:p>
            <a:pPr algn="ctr"/>
            <a:r>
              <a:rPr lang="en-GB" sz="3600" dirty="0">
                <a:latin typeface="Aptos Narrow" panose="020B0004020202020204" pitchFamily="34" charset="0"/>
              </a:rPr>
              <a:t>Sample Slide</a:t>
            </a:r>
          </a:p>
          <a:p>
            <a:pPr algn="ctr"/>
            <a:r>
              <a:rPr lang="en-GB" sz="3600" b="0" dirty="0">
                <a:latin typeface="Aptos Narrow" panose="020B0004020202020204" pitchFamily="34" charset="0"/>
              </a:rPr>
              <a:t>Solution Architecture Proposal</a:t>
            </a: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  <a:p>
            <a:pPr algn="ctr"/>
            <a:endParaRPr lang="en-GB" sz="3600" b="0" dirty="0">
              <a:latin typeface="Aptos Narrow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C52E4-7A16-A6FD-0E8E-5DB151B24147}"/>
              </a:ext>
            </a:extLst>
          </p:cNvPr>
          <p:cNvSpPr txBox="1"/>
          <p:nvPr/>
        </p:nvSpPr>
        <p:spPr>
          <a:xfrm>
            <a:off x="7162800" y="5272219"/>
            <a:ext cx="4860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Solution Architect :Phyo Thu Han</a:t>
            </a:r>
          </a:p>
        </p:txBody>
      </p:sp>
    </p:spTree>
    <p:extLst>
      <p:ext uri="{BB962C8B-B14F-4D97-AF65-F5344CB8AC3E}">
        <p14:creationId xmlns:p14="http://schemas.microsoft.com/office/powerpoint/2010/main" val="308816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FEB63-53AA-830E-7FB7-37CB890CD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A3D199-E19C-0DAE-7DFD-CE9386111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BA8B55-BEB5-5E54-D328-A8D0F3CE60FD}"/>
              </a:ext>
            </a:extLst>
          </p:cNvPr>
          <p:cNvSpPr txBox="1"/>
          <p:nvPr/>
        </p:nvSpPr>
        <p:spPr>
          <a:xfrm>
            <a:off x="140043" y="932935"/>
            <a:ext cx="1120346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Provides a wide range of services, including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search engine ,record searching and search with images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Following services are included in system.</a:t>
            </a:r>
          </a:p>
          <a:p>
            <a:pPr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Service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image, video, and text search with fast response using Redis caching and RabbitMQ async processing</a:t>
            </a:r>
          </a:p>
          <a:p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1" dirty="0">
                <a:solidFill>
                  <a:srgbClr val="FF0000"/>
                </a:solidFill>
              </a:rPr>
              <a:t>Example: Customer Screening 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Customer uploads PEP data (CSV/Excel), and the system processes and indexes the data, making it available for search and external system API integration for screening.</a:t>
            </a:r>
            <a:r>
              <a:rPr lang="en-US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Data Service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Process and index search data efficiently using queue-based ingestion and batch processing 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Browser Caching</a:t>
            </a:r>
          </a:p>
          <a:p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 user experience and reduce backend load using browser caching and CDN 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3437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4829482-12A2-CA82-7477-896C25456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528F96-2813-B2FF-27CB-B48BDCF5FB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03A43F-14AA-7985-EB0B-5F3E571969E7}"/>
              </a:ext>
            </a:extLst>
          </p:cNvPr>
          <p:cNvSpPr txBox="1"/>
          <p:nvPr/>
        </p:nvSpPr>
        <p:spPr>
          <a:xfrm>
            <a:off x="213233" y="959242"/>
            <a:ext cx="1151031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Provide accurate search results within acceptable response time while supporting multiple search formats and capturing search data for future performance optimization.</a:t>
            </a:r>
            <a:endParaRPr lang="en-US" dirty="0">
              <a:latin typeface="Calibri (Headings)"/>
            </a:endParaRPr>
          </a:p>
        </p:txBody>
      </p:sp>
    </p:spTree>
    <p:extLst>
      <p:ext uri="{BB962C8B-B14F-4D97-AF65-F5344CB8AC3E}">
        <p14:creationId xmlns:p14="http://schemas.microsoft.com/office/powerpoint/2010/main" val="976537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F5CF6-2FC2-DAA9-FFF3-85FDAEDC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F5E4B-B356-09D4-A2FB-5CF5B996F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Principles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2147B73-A5EB-2054-4919-5110728ED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986030"/>
              </p:ext>
            </p:extLst>
          </p:nvPr>
        </p:nvGraphicFramePr>
        <p:xfrm>
          <a:off x="555787" y="1163557"/>
          <a:ext cx="10226778" cy="28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1668">
                  <a:extLst>
                    <a:ext uri="{9D8B030D-6E8A-4147-A177-3AD203B41FA5}">
                      <a16:colId xmlns:a16="http://schemas.microsoft.com/office/drawing/2014/main" val="3117481561"/>
                    </a:ext>
                  </a:extLst>
                </a:gridCol>
                <a:gridCol w="7375110">
                  <a:extLst>
                    <a:ext uri="{9D8B030D-6E8A-4147-A177-3AD203B41FA5}">
                      <a16:colId xmlns:a16="http://schemas.microsoft.com/office/drawing/2014/main" val="1277055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381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Simplicity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 a </a:t>
                      </a:r>
                      <a:r>
                        <a:rPr lang="en-US" sz="1400" b="1" dirty="0"/>
                        <a:t>.NET modular microservice architecture</a:t>
                      </a:r>
                      <a:r>
                        <a:rPr lang="en-US" sz="1400" dirty="0"/>
                        <a:t> to keep the system straightforward, scalable, and easy to maintain.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9114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Clean Code Architecture &amp; SOLID Principle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Develop each service using </a:t>
                      </a:r>
                      <a:r>
                        <a:rPr lang="en-US" sz="1400" b="1" dirty="0"/>
                        <a:t>Clean Architecture, modular design, and SOLID principles</a:t>
                      </a:r>
                      <a:r>
                        <a:rPr lang="en-US" sz="1400" dirty="0"/>
                        <a:t> to improve maintainability, testability, and future enhancement.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4970480"/>
                  </a:ext>
                </a:extLst>
              </a:tr>
              <a:tr h="370063">
                <a:tc>
                  <a:txBody>
                    <a:bodyPr/>
                    <a:lstStyle/>
                    <a:p>
                      <a:r>
                        <a:rPr lang="en-US" sz="1300" dirty="0"/>
                        <a:t>Security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Use </a:t>
                      </a:r>
                      <a:r>
                        <a:rPr lang="en-US" sz="1400" b="1" dirty="0"/>
                        <a:t>JWT/OAuth2</a:t>
                      </a:r>
                      <a:r>
                        <a:rPr lang="en-US" sz="1400" dirty="0"/>
                        <a:t> for authentication and authorization. </a:t>
                      </a:r>
                    </a:p>
                    <a:p>
                      <a:r>
                        <a:rPr lang="en-US" sz="1400" dirty="0"/>
                        <a:t>Apply </a:t>
                      </a:r>
                      <a:r>
                        <a:rPr lang="en-US" sz="1400" b="1" dirty="0"/>
                        <a:t>RBAC</a:t>
                      </a:r>
                      <a:r>
                        <a:rPr lang="en-US" sz="1400" dirty="0"/>
                        <a:t> for business functions and sensitive data access.</a:t>
                      </a:r>
                    </a:p>
                    <a:p>
                      <a:r>
                        <a:rPr lang="en-US" sz="1400" dirty="0"/>
                        <a:t> Implement </a:t>
                      </a:r>
                      <a:r>
                        <a:rPr lang="en-US" sz="1400" b="1" dirty="0"/>
                        <a:t>API Gateway security controls</a:t>
                      </a:r>
                      <a:r>
                        <a:rPr lang="en-US" sz="1400" dirty="0"/>
                        <a:t> including rate limiting, request validation, IP allowlist, and centralized authentication.</a:t>
                      </a:r>
                      <a:endParaRPr lang="en-US" sz="13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3871858"/>
                  </a:ext>
                </a:extLst>
              </a:tr>
              <a:tr h="450711">
                <a:tc>
                  <a:txBody>
                    <a:bodyPr/>
                    <a:lstStyle/>
                    <a:p>
                      <a:r>
                        <a:rPr lang="en-US" sz="1300" dirty="0"/>
                        <a:t>Audit 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Log all user and system actions at detailed action level for traceability, compliance, and issue investigation.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55785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14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F5CF6-2FC2-DAA9-FFF3-85FDAEDC3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BF5E4B-B356-09D4-A2FB-5CF5B996F0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 Scope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08F4D0-3A0B-98D3-152B-8DA7EAE1C4AE}"/>
              </a:ext>
            </a:extLst>
          </p:cNvPr>
          <p:cNvSpPr txBox="1"/>
          <p:nvPr/>
        </p:nvSpPr>
        <p:spPr>
          <a:xfrm>
            <a:off x="336464" y="740376"/>
            <a:ext cx="11195222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Search Service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Handle user search requests (image, video, text) with fast response using Redis caching and RabbitMQ async processing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Retrieve cached results from Redis and query search index for real-time data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Publish search activity to RabbitMQ for logging and analytics processing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Return ranked search results and cache frequent queries for performance improvement </a:t>
            </a:r>
          </a:p>
          <a:p>
            <a:endParaRPr lang="en-US" dirty="0"/>
          </a:p>
          <a:p>
            <a:r>
              <a:rPr lang="en-US" b="1" dirty="0"/>
              <a:t>Search Data Service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Ingest raw data and publish to RabbitMQ for asynchronous indexing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Process and index data into search engine database for fast retrieval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Update Redis cache with frequently accessed search data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Execute batch indexing to handle large-scale data updates efficiently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253167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76AF4B-F034-CC3F-48D6-D47D5C1CB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04DBF7-3AA5-1776-FDB7-94A7CEE05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333EE-5BEF-9327-5DE6-7AC73C045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Propose Scope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982FC1-51D7-81FE-2827-C716786746E7}"/>
              </a:ext>
            </a:extLst>
          </p:cNvPr>
          <p:cNvSpPr txBox="1"/>
          <p:nvPr/>
        </p:nvSpPr>
        <p:spPr>
          <a:xfrm>
            <a:off x="382184" y="970344"/>
            <a:ext cx="10567756" cy="21171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/>
              <a:t>Browser Caching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Cache search responses using browser caching (Cache-Control, ETag)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Reduce repeated backend requests by serving cached results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Use CDN to deliver content closer to users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Validate cached data before making backend calls</a:t>
            </a:r>
          </a:p>
        </p:txBody>
      </p:sp>
    </p:spTree>
    <p:extLst>
      <p:ext uri="{BB962C8B-B14F-4D97-AF65-F5344CB8AC3E}">
        <p14:creationId xmlns:p14="http://schemas.microsoft.com/office/powerpoint/2010/main" val="519222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7539CC-91C8-CE6C-7864-AD93F8C5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D309A1-B26D-0A21-2A99-3B98EE7BA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7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5F536-B441-9EDC-BAFC-BBBCA5922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Solution Boundaries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9F9DB5E-FB6C-9DC2-4D9B-103F4CAF1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" y="741000"/>
            <a:ext cx="1118997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Indexing and archival apply only to selected datasets; historical data may require manual query access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Retry mechanism applies only to search processing and data ingestion (indexing pipeline) </a:t>
            </a:r>
            <a:endParaRPr lang="en-US" altLang="en-US" dirty="0"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data source failures/timeouts (e.g., third-party content providers) are outside system control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synchronization is near real-time (not real-time) due to end of data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uplod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Incomplete or failed data ingestion may require manual reprocessing or re-upload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caching behavior depends on client configuration and cannot be fully controlled by backend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infrastructure changes (e.g., hardware upgrades, CDN expansion) are included in this scope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features (e.g., AI ranking, recommendation engine) are excluded from this phase </a:t>
            </a:r>
          </a:p>
        </p:txBody>
      </p:sp>
    </p:spTree>
    <p:extLst>
      <p:ext uri="{BB962C8B-B14F-4D97-AF65-F5344CB8AC3E}">
        <p14:creationId xmlns:p14="http://schemas.microsoft.com/office/powerpoint/2010/main" val="1386108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53FD79-DFAF-0975-69EF-FB3463742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8</a:t>
            </a:fld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6A3574E-BCA8-647A-9EAA-2CEFC6088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48294"/>
            <a:ext cx="10226779" cy="465975"/>
          </a:xfrm>
        </p:spPr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B4683E-03BA-A611-0997-F9DE828A7C96}"/>
              </a:ext>
            </a:extLst>
          </p:cNvPr>
          <p:cNvSpPr txBox="1"/>
          <p:nvPr/>
        </p:nvSpPr>
        <p:spPr>
          <a:xfrm>
            <a:off x="81001" y="864974"/>
            <a:ext cx="11460209" cy="6755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Search Platform</a:t>
            </a:r>
          </a:p>
          <a:p>
            <a:r>
              <a:rPr lang="en-US" dirty="0"/>
              <a:t>Search data sources are valid and consistently available for indexing and querying </a:t>
            </a:r>
          </a:p>
          <a:p>
            <a:r>
              <a:rPr lang="en-US" dirty="0"/>
              <a:t>User search patterns are predictable and suitable for caching and optimization </a:t>
            </a:r>
          </a:p>
          <a:p>
            <a:r>
              <a:rPr lang="en-US" dirty="0"/>
              <a:t>Data volume is within manageable limits for indexing and retrieval performance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Data Synchronization</a:t>
            </a:r>
          </a:p>
          <a:p>
            <a:r>
              <a:rPr lang="en-US" dirty="0"/>
              <a:t>External systems provide accessible APIs or data feeds for synchronization </a:t>
            </a:r>
          </a:p>
          <a:p>
            <a:r>
              <a:rPr lang="en-US" dirty="0"/>
              <a:t>Data synchronization frequency supports near real-time (not real-time) updates </a:t>
            </a:r>
          </a:p>
          <a:p>
            <a:r>
              <a:rPr lang="en-US" dirty="0"/>
              <a:t>Batch processing is sufficient to handle incoming data volume </a:t>
            </a:r>
          </a:p>
          <a:p>
            <a:endParaRPr lang="en-US" dirty="0"/>
          </a:p>
          <a:p>
            <a:r>
              <a:rPr lang="en-US" dirty="0"/>
              <a:t>Example</a:t>
            </a:r>
          </a:p>
          <a:p>
            <a:r>
              <a:rPr lang="en-US" b="1" dirty="0">
                <a:solidFill>
                  <a:srgbClr val="FF0000"/>
                </a:solidFill>
              </a:rPr>
              <a:t> Data Integration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Upload PEP data via CSV/Excel → system processes and indexes for search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Configure rules via form or Excel for screening logic </a:t>
            </a:r>
          </a:p>
          <a:p>
            <a:pPr marL="285750" lvl="0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dirty="0">
                <a:solidFill>
                  <a:srgbClr val="FF0000"/>
                </a:solidFill>
                <a:latin typeface="Arial" panose="020B0604020202020204" pitchFamily="34" charset="0"/>
              </a:rPr>
              <a:t>Upload T+1 data to file server for batch ingestion </a:t>
            </a:r>
          </a:p>
          <a:p>
            <a:endParaRPr lang="en-US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screening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 data received → system checks blacklist and transaction patterns → returns screening result </a:t>
            </a:r>
          </a:p>
          <a:p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</a:pPr>
            <a:endParaRPr lang="en-US" b="1" dirty="0">
              <a:latin typeface="Calibri (Headings)"/>
            </a:endParaRP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235559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14E72F9-DAC5-2512-BDBC-5A27D249B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8D5E849-FE25-8563-338C-97F8BE296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9</a:t>
            </a:fld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19D2A9BD-37D1-8301-7B89-5813A5A52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48294"/>
            <a:ext cx="10226779" cy="465975"/>
          </a:xfrm>
        </p:spPr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01967B-F5C0-BF51-248E-3D9BAE34C79B}"/>
              </a:ext>
            </a:extLst>
          </p:cNvPr>
          <p:cNvSpPr txBox="1"/>
          <p:nvPr/>
        </p:nvSpPr>
        <p:spPr>
          <a:xfrm>
            <a:off x="81001" y="864974"/>
            <a:ext cx="11460209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Caching &amp; Messaging</a:t>
            </a:r>
          </a:p>
          <a:p>
            <a:r>
              <a:rPr lang="en-US" dirty="0"/>
              <a:t>Redis is available for high-frequency data caching and low-latency access </a:t>
            </a:r>
          </a:p>
          <a:p>
            <a:r>
              <a:rPr lang="en-US" dirty="0"/>
              <a:t>RabbitMQ is stable and supports asynchronous processing for search and indexing flows </a:t>
            </a:r>
          </a:p>
          <a:p>
            <a:r>
              <a:rPr lang="en-US" dirty="0"/>
              <a:t>Queue processing latency is within acceptable limits for near real-time behavior</a:t>
            </a:r>
          </a:p>
          <a:p>
            <a:br>
              <a:rPr lang="en-US" dirty="0"/>
            </a:br>
            <a:br>
              <a:rPr lang="en-US" dirty="0"/>
            </a:br>
            <a:endParaRPr lang="en-US" dirty="0"/>
          </a:p>
          <a:p>
            <a:r>
              <a:rPr lang="en-US" b="1" dirty="0"/>
              <a:t>Client &amp; Performance</a:t>
            </a:r>
          </a:p>
          <a:p>
            <a:r>
              <a:rPr lang="en-US" dirty="0"/>
              <a:t>Client applications (browser/mobile) support caching mechanisms (Cache-Control, ETag) </a:t>
            </a:r>
          </a:p>
          <a:p>
            <a:r>
              <a:rPr lang="en-US" dirty="0"/>
              <a:t>Network latency between services is within acceptable range </a:t>
            </a:r>
          </a:p>
          <a:p>
            <a:r>
              <a:rPr lang="en-US" dirty="0"/>
              <a:t>Monitoring and logging mechanisms are available for system observability</a:t>
            </a:r>
          </a:p>
          <a:p>
            <a:pPr>
              <a:lnSpc>
                <a:spcPct val="150000"/>
              </a:lnSpc>
            </a:pPr>
            <a:endParaRPr lang="en-US" b="1" dirty="0">
              <a:latin typeface="Calibri (Headings)"/>
            </a:endParaRPr>
          </a:p>
          <a:p>
            <a:endParaRPr lang="en-US" sz="1400" dirty="0"/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94209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DEA218B-60FE-E60A-0F3E-7C0182F08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62DA9F6-2BEA-B047-60D3-23A45794C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10</a:t>
            </a:fld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C4C7B635-1912-E4A1-9A59-FFB0B088A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002" y="48294"/>
            <a:ext cx="10226779" cy="465975"/>
          </a:xfrm>
        </p:spPr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5E2067-42E3-DDF2-488A-30B226A5E1D3}"/>
              </a:ext>
            </a:extLst>
          </p:cNvPr>
          <p:cNvSpPr txBox="1"/>
          <p:nvPr/>
        </p:nvSpPr>
        <p:spPr>
          <a:xfrm>
            <a:off x="319898" y="1062682"/>
            <a:ext cx="11229549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latin typeface="Arial" panose="020B0604020202020204" pitchFamily="34" charset="0"/>
              </a:rPr>
              <a:t> </a:t>
            </a:r>
          </a:p>
          <a:p>
            <a:endParaRPr lang="en-US" sz="1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1400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4C37804-6003-FC01-DB07-DA9C488799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02" y="722018"/>
            <a:ext cx="10307781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Eventual consistency model → temporary mismatch between source data and search index is possible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Retry mechanism → risk of duplicate indexing or duplicate processing without idempotency control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Redis dependency → cache failure may impact search response time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 index dependency → index failure may affect search accuracy and result availability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External data source dependency → limited control over third-party API/feed failures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Browser caching limitation → cached results may be outdated until cache refresh or invalidation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system complexity → requires monitoring, alerting, and operational readiness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Near real-time synchronization → search results may not reflect latest data immediately </a:t>
            </a:r>
          </a:p>
        </p:txBody>
      </p:sp>
    </p:spTree>
    <p:extLst>
      <p:ext uri="{BB962C8B-B14F-4D97-AF65-F5344CB8AC3E}">
        <p14:creationId xmlns:p14="http://schemas.microsoft.com/office/powerpoint/2010/main" val="2018470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5422F2-7454-7627-91EE-5B441571B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1556" y="2117724"/>
            <a:ext cx="10226779" cy="46597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 diagram , although this sample diagram is acceptable(not 100% correct due to unclear scenario) but I don’t like much but I add as sample .what I prefer is only following C4 </a:t>
            </a:r>
            <a:r>
              <a:rPr lang="en-US" dirty="0" err="1">
                <a:solidFill>
                  <a:srgbClr val="FF0000"/>
                </a:solidFill>
              </a:rPr>
              <a:t>url</a:t>
            </a:r>
            <a:r>
              <a:rPr lang="en-US" dirty="0">
                <a:solidFill>
                  <a:srgbClr val="FF0000"/>
                </a:solidFill>
              </a:rPr>
              <a:t> diagram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5B46D8-4146-AC4E-9E33-60C3CBD4D663}"/>
              </a:ext>
            </a:extLst>
          </p:cNvPr>
          <p:cNvSpPr txBox="1"/>
          <p:nvPr/>
        </p:nvSpPr>
        <p:spPr>
          <a:xfrm>
            <a:off x="3094892" y="3244334"/>
            <a:ext cx="61897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https://c4model.com/diagrams/system-context</a:t>
            </a:r>
          </a:p>
        </p:txBody>
      </p:sp>
    </p:spTree>
    <p:extLst>
      <p:ext uri="{BB962C8B-B14F-4D97-AF65-F5344CB8AC3E}">
        <p14:creationId xmlns:p14="http://schemas.microsoft.com/office/powerpoint/2010/main" val="2224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4295-A377-80B1-39A7-8D9292EA0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D255F5C-B957-E46F-A65F-0B0982802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717E7A-4E1A-33CE-53D2-924EA9559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4DF5C-AD9F-127F-2BCD-EAB8798E2533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0" y="136525"/>
            <a:ext cx="10226675" cy="466725"/>
          </a:xfrm>
        </p:spPr>
        <p:txBody>
          <a:bodyPr/>
          <a:lstStyle/>
          <a:p>
            <a:r>
              <a:rPr lang="en-US" dirty="0"/>
              <a:t>System Overview C4 System context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734A0C-96B1-0881-BBE7-0BD5F2910E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1364" y="515750"/>
            <a:ext cx="7787436" cy="603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04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F683D-1547-ED8B-AFDE-8F3ED98155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High Level Architecture (C4 Container Diagram)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1A0E2DF-AFF9-E8B7-ACF5-148C9DABF4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842108"/>
            <a:ext cx="9023838" cy="601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287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55D4C7-5BB5-FF19-92CE-65503AB70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7A27D2-3989-9BB6-7123-D448AD8D2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Components (C4 Component Diagram for Search Service)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801677-CC02-10E2-9302-C659BB014A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685800"/>
            <a:ext cx="9258300" cy="617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90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8F0646CA-2DB2-33B4-AC79-AB8522E21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1091DDC-64D3-AEC1-3001-CD5C4DC47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15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EF1F56-C17A-0D2D-1D42-8B981DBEB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Components (Component Diagram for Notification Service)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0EA5B0-7642-7A24-64B3-5EBFE126EF7E}"/>
              </a:ext>
            </a:extLst>
          </p:cNvPr>
          <p:cNvSpPr txBox="1"/>
          <p:nvPr/>
        </p:nvSpPr>
        <p:spPr>
          <a:xfrm>
            <a:off x="239068" y="506576"/>
            <a:ext cx="991064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you need to add more than one diagram if you need to explore more detail for each component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11563F-D244-137D-C897-077D54554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475154"/>
            <a:ext cx="10114085" cy="472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1740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EF23CA2-40B9-2710-5DD8-536C31C87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3FC468-7F8F-18B0-7426-25965A0B1E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Key Components (Component Diagram for Search Service)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2E6B1-70AE-B67D-9C1C-4A14A36941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756138"/>
            <a:ext cx="9152792" cy="610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4078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EB25EF-88E3-154B-60A8-18D70F3CBC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Swimlane Example( </a:t>
            </a:r>
            <a:r>
              <a:rPr lang="en-US" dirty="0">
                <a:solidFill>
                  <a:srgbClr val="FF0000"/>
                </a:solidFill>
              </a:rPr>
              <a:t>Add more than one diagram base on process which you high light screening diagram , report diagram  , alert diagram</a:t>
            </a:r>
            <a:r>
              <a:rPr lang="en-US" dirty="0"/>
              <a:t>)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5E4F60-A58E-92D1-0EF4-7B980D0E0A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527" y="896726"/>
            <a:ext cx="6529532" cy="4742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131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20CE5-70F7-8765-15B0-3D39A4974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2F8E2-886A-8CD3-EEEE-B9D20327F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Swimlane Diagram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5C9928-6355-E1CC-490C-666760813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73" y="828524"/>
            <a:ext cx="11062996" cy="57089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380928-EF50-C09B-1B83-A6649F674415}"/>
              </a:ext>
            </a:extLst>
          </p:cNvPr>
          <p:cNvSpPr/>
          <p:nvPr/>
        </p:nvSpPr>
        <p:spPr>
          <a:xfrm>
            <a:off x="4142792" y="951722"/>
            <a:ext cx="3498979" cy="26125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Swimlane diagram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75DE10-29DF-6685-3E6A-ECFCA8C15A7F}"/>
              </a:ext>
            </a:extLst>
          </p:cNvPr>
          <p:cNvSpPr txBox="1"/>
          <p:nvPr/>
        </p:nvSpPr>
        <p:spPr>
          <a:xfrm>
            <a:off x="8416212" y="4049485"/>
            <a:ext cx="30324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 your </a:t>
            </a:r>
            <a:r>
              <a:rPr lang="en-US" dirty="0" err="1">
                <a:solidFill>
                  <a:srgbClr val="FF0000"/>
                </a:solidFill>
              </a:rPr>
              <a:t>swimlane</a:t>
            </a:r>
            <a:r>
              <a:rPr lang="en-US" dirty="0">
                <a:solidFill>
                  <a:srgbClr val="FF0000"/>
                </a:solidFill>
              </a:rPr>
              <a:t> you should add </a:t>
            </a:r>
            <a:r>
              <a:rPr lang="en-US" dirty="0" err="1">
                <a:solidFill>
                  <a:srgbClr val="FF0000"/>
                </a:solidFill>
              </a:rPr>
              <a:t>ctz</a:t>
            </a:r>
            <a:r>
              <a:rPr lang="en-US" dirty="0">
                <a:solidFill>
                  <a:srgbClr val="FF0000"/>
                </a:solidFill>
              </a:rPr>
              <a:t> pay(in place of user) ,</a:t>
            </a:r>
            <a:r>
              <a:rPr lang="en-US" dirty="0" err="1">
                <a:solidFill>
                  <a:srgbClr val="FF0000"/>
                </a:solidFill>
              </a:rPr>
              <a:t>yoursystemsearch</a:t>
            </a:r>
            <a:r>
              <a:rPr lang="en-US" dirty="0">
                <a:solidFill>
                  <a:srgbClr val="FF0000"/>
                </a:solidFill>
              </a:rPr>
              <a:t> engine , </a:t>
            </a:r>
            <a:r>
              <a:rPr lang="en-US" dirty="0" err="1">
                <a:solidFill>
                  <a:srgbClr val="FF0000"/>
                </a:solidFill>
              </a:rPr>
              <a:t>ruleengine</a:t>
            </a:r>
            <a:r>
              <a:rPr lang="en-US" dirty="0">
                <a:solidFill>
                  <a:srgbClr val="FF0000"/>
                </a:solidFill>
              </a:rPr>
              <a:t> ,</a:t>
            </a:r>
            <a:r>
              <a:rPr lang="en-US" dirty="0" err="1">
                <a:solidFill>
                  <a:srgbClr val="FF0000"/>
                </a:solidFill>
              </a:rPr>
              <a:t>etc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6474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C6F5A0D-6E4D-0D40-2948-31E7F7BE2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D283FF-961A-E352-52A6-8CD111E0B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Sequence Diagram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EBB8E-0F4F-C640-206C-5FEE64962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5362" y="1190312"/>
            <a:ext cx="8421275" cy="447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588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6D1A3D-D8D1-97E3-EFD0-0A8F2EB4A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20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3407A6-CDE3-D3A9-EF51-C54D92FB1B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707E94-4D5C-141B-8505-FADA64B746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787782"/>
            <a:ext cx="9008918" cy="60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694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AE83CB59-581C-56E8-464F-AFBC987F9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F6A69-A41A-3442-39B6-FB3CFCEC7B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Deployment Diagram ( </a:t>
            </a:r>
            <a:r>
              <a:rPr lang="en-US" dirty="0">
                <a:solidFill>
                  <a:srgbClr val="FF0000"/>
                </a:solidFill>
              </a:rPr>
              <a:t>Another Example for another System not search engine simple deployment</a:t>
            </a:r>
            <a:r>
              <a:rPr lang="en-US" dirty="0"/>
              <a:t>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CFB1F5-2C10-EEB0-E346-FEEF475F62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827" y="775853"/>
            <a:ext cx="8510155" cy="5347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38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22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 Stack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D86AEC2E-9D21-4669-85D3-73EF3BB5D4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814574"/>
              </p:ext>
            </p:extLst>
          </p:nvPr>
        </p:nvGraphicFramePr>
        <p:xfrm>
          <a:off x="81002" y="1057418"/>
          <a:ext cx="7257058" cy="4373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318">
                  <a:extLst>
                    <a:ext uri="{9D8B030D-6E8A-4147-A177-3AD203B41FA5}">
                      <a16:colId xmlns:a16="http://schemas.microsoft.com/office/drawing/2014/main" val="37560991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944906923"/>
                    </a:ext>
                  </a:extLst>
                </a:gridCol>
                <a:gridCol w="1668780">
                  <a:extLst>
                    <a:ext uri="{9D8B030D-6E8A-4147-A177-3AD203B41FA5}">
                      <a16:colId xmlns:a16="http://schemas.microsoft.com/office/drawing/2014/main" val="926208245"/>
                    </a:ext>
                  </a:extLst>
                </a:gridCol>
                <a:gridCol w="1661160">
                  <a:extLst>
                    <a:ext uri="{9D8B030D-6E8A-4147-A177-3AD203B41FA5}">
                      <a16:colId xmlns:a16="http://schemas.microsoft.com/office/drawing/2014/main" val="19347007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Technology/Tools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IDE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750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Frontend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React 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VSCode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54276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Application Platform Infra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Backend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Java(Spring Boot)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Intellij</a:t>
                      </a:r>
                      <a:r>
                        <a:rPr lang="en-US" sz="1300" dirty="0"/>
                        <a:t>, </a:t>
                      </a:r>
                      <a:r>
                        <a:rPr lang="en-US" sz="1300" dirty="0" err="1"/>
                        <a:t>VSCode</a:t>
                      </a:r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46185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Runtime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Ali Cloud Kubernetes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5486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Data Storage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Backend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 err="1"/>
                        <a:t>ApsaraDB</a:t>
                      </a:r>
                      <a:r>
                        <a:rPr lang="en-US" sz="1300" dirty="0"/>
                        <a:t> For MySQL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6726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Message Broker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Rabbit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11313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Cache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Redis Cache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85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Integration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API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WSO2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713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Interfacing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675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300" dirty="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API docs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Swagger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40361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8361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23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398AE5EF-5909-EC42-BCAA-9907DC0D46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74827"/>
              </p:ext>
            </p:extLst>
          </p:nvPr>
        </p:nvGraphicFramePr>
        <p:xfrm>
          <a:off x="144779" y="1143001"/>
          <a:ext cx="9406990" cy="26046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9047">
                  <a:extLst>
                    <a:ext uri="{9D8B030D-6E8A-4147-A177-3AD203B41FA5}">
                      <a16:colId xmlns:a16="http://schemas.microsoft.com/office/drawing/2014/main" val="2048063751"/>
                    </a:ext>
                  </a:extLst>
                </a:gridCol>
                <a:gridCol w="2146299">
                  <a:extLst>
                    <a:ext uri="{9D8B030D-6E8A-4147-A177-3AD203B41FA5}">
                      <a16:colId xmlns:a16="http://schemas.microsoft.com/office/drawing/2014/main" val="3374596826"/>
                    </a:ext>
                  </a:extLst>
                </a:gridCol>
                <a:gridCol w="947193">
                  <a:extLst>
                    <a:ext uri="{9D8B030D-6E8A-4147-A177-3AD203B41FA5}">
                      <a16:colId xmlns:a16="http://schemas.microsoft.com/office/drawing/2014/main" val="1921714934"/>
                    </a:ext>
                  </a:extLst>
                </a:gridCol>
                <a:gridCol w="974062">
                  <a:extLst>
                    <a:ext uri="{9D8B030D-6E8A-4147-A177-3AD203B41FA5}">
                      <a16:colId xmlns:a16="http://schemas.microsoft.com/office/drawing/2014/main" val="3309252802"/>
                    </a:ext>
                  </a:extLst>
                </a:gridCol>
                <a:gridCol w="906886">
                  <a:extLst>
                    <a:ext uri="{9D8B030D-6E8A-4147-A177-3AD203B41FA5}">
                      <a16:colId xmlns:a16="http://schemas.microsoft.com/office/drawing/2014/main" val="503383076"/>
                    </a:ext>
                  </a:extLst>
                </a:gridCol>
                <a:gridCol w="520619">
                  <a:extLst>
                    <a:ext uri="{9D8B030D-6E8A-4147-A177-3AD203B41FA5}">
                      <a16:colId xmlns:a16="http://schemas.microsoft.com/office/drawing/2014/main" val="3325115333"/>
                    </a:ext>
                  </a:extLst>
                </a:gridCol>
                <a:gridCol w="1726442">
                  <a:extLst>
                    <a:ext uri="{9D8B030D-6E8A-4147-A177-3AD203B41FA5}">
                      <a16:colId xmlns:a16="http://schemas.microsoft.com/office/drawing/2014/main" val="3942792913"/>
                    </a:ext>
                  </a:extLst>
                </a:gridCol>
                <a:gridCol w="1726442">
                  <a:extLst>
                    <a:ext uri="{9D8B030D-6E8A-4147-A177-3AD203B41FA5}">
                      <a16:colId xmlns:a16="http://schemas.microsoft.com/office/drawing/2014/main" val="3435817981"/>
                    </a:ext>
                  </a:extLst>
                </a:gridCol>
              </a:tblGrid>
              <a:tr h="37158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vCPU(Cores)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Memory(GB)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Storage (GB)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Remark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1727"/>
                  </a:ext>
                </a:extLst>
              </a:tr>
              <a:tr h="371580">
                <a:tc>
                  <a:txBody>
                    <a:bodyPr/>
                    <a:lstStyle/>
                    <a:p>
                      <a:r>
                        <a:rPr lang="en-US" sz="13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ACK(Kubernetes Cluster)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3 nodes cluster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37958"/>
                  </a:ext>
                </a:extLst>
              </a:tr>
              <a:tr h="344130">
                <a:tc>
                  <a:txBody>
                    <a:bodyPr/>
                    <a:lstStyle/>
                    <a:p>
                      <a:r>
                        <a:rPr lang="en-US" sz="13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ALB(Kubernetes ingress)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3401621"/>
                  </a:ext>
                </a:extLst>
              </a:tr>
              <a:tr h="344130">
                <a:tc>
                  <a:txBody>
                    <a:bodyPr/>
                    <a:lstStyle/>
                    <a:p>
                      <a:r>
                        <a:rPr lang="en-US" sz="13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266158"/>
                  </a:ext>
                </a:extLst>
              </a:tr>
              <a:tr h="330171">
                <a:tc>
                  <a:txBody>
                    <a:bodyPr/>
                    <a:lstStyle/>
                    <a:p>
                      <a:r>
                        <a:rPr lang="en-US" sz="1300" dirty="0"/>
                        <a:t>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Cloud 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670364"/>
                  </a:ext>
                </a:extLst>
              </a:tr>
              <a:tr h="305408">
                <a:tc>
                  <a:txBody>
                    <a:bodyPr/>
                    <a:lstStyle/>
                    <a:p>
                      <a:r>
                        <a:rPr lang="en-US" sz="13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0200074"/>
                  </a:ext>
                </a:extLst>
              </a:tr>
              <a:tr h="305408">
                <a:tc>
                  <a:txBody>
                    <a:bodyPr/>
                    <a:lstStyle/>
                    <a:p>
                      <a:r>
                        <a:rPr lang="en-US" sz="13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Rabbit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36033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424A366-1B5F-1CCD-6477-79A97E868083}"/>
              </a:ext>
            </a:extLst>
          </p:cNvPr>
          <p:cNvSpPr txBox="1"/>
          <p:nvPr/>
        </p:nvSpPr>
        <p:spPr>
          <a:xfrm>
            <a:off x="57668" y="791504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Non-Prod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34898658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6E574E71-0A0B-7B1A-A634-3797162F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44CBBE-7501-846C-0CF3-D2B220899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24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ABB1DC-8C9E-199B-8D7A-AA26292AA6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E37982-3AE2-5427-17FF-0D6D86E13B17}"/>
              </a:ext>
            </a:extLst>
          </p:cNvPr>
          <p:cNvSpPr txBox="1"/>
          <p:nvPr/>
        </p:nvSpPr>
        <p:spPr>
          <a:xfrm>
            <a:off x="144779" y="969113"/>
            <a:ext cx="60960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b="1" dirty="0"/>
              <a:t>Production</a:t>
            </a:r>
            <a:endParaRPr lang="en-US" sz="1500" dirty="0"/>
          </a:p>
        </p:txBody>
      </p:sp>
      <p:graphicFrame>
        <p:nvGraphicFramePr>
          <p:cNvPr id="9" name="Table 4">
            <a:extLst>
              <a:ext uri="{FF2B5EF4-FFF2-40B4-BE49-F238E27FC236}">
                <a16:creationId xmlns:a16="http://schemas.microsoft.com/office/drawing/2014/main" id="{60542F3E-122D-13D4-C076-B1F6E21902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734522"/>
              </p:ext>
            </p:extLst>
          </p:nvPr>
        </p:nvGraphicFramePr>
        <p:xfrm>
          <a:off x="327659" y="1420294"/>
          <a:ext cx="9411094" cy="22752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418">
                  <a:extLst>
                    <a:ext uri="{9D8B030D-6E8A-4147-A177-3AD203B41FA5}">
                      <a16:colId xmlns:a16="http://schemas.microsoft.com/office/drawing/2014/main" val="2048063751"/>
                    </a:ext>
                  </a:extLst>
                </a:gridCol>
                <a:gridCol w="2609813">
                  <a:extLst>
                    <a:ext uri="{9D8B030D-6E8A-4147-A177-3AD203B41FA5}">
                      <a16:colId xmlns:a16="http://schemas.microsoft.com/office/drawing/2014/main" val="3374596826"/>
                    </a:ext>
                  </a:extLst>
                </a:gridCol>
                <a:gridCol w="1200189">
                  <a:extLst>
                    <a:ext uri="{9D8B030D-6E8A-4147-A177-3AD203B41FA5}">
                      <a16:colId xmlns:a16="http://schemas.microsoft.com/office/drawing/2014/main" val="1921714934"/>
                    </a:ext>
                  </a:extLst>
                </a:gridCol>
                <a:gridCol w="1202725">
                  <a:extLst>
                    <a:ext uri="{9D8B030D-6E8A-4147-A177-3AD203B41FA5}">
                      <a16:colId xmlns:a16="http://schemas.microsoft.com/office/drawing/2014/main" val="3309252802"/>
                    </a:ext>
                  </a:extLst>
                </a:gridCol>
                <a:gridCol w="1112108">
                  <a:extLst>
                    <a:ext uri="{9D8B030D-6E8A-4147-A177-3AD203B41FA5}">
                      <a16:colId xmlns:a16="http://schemas.microsoft.com/office/drawing/2014/main" val="503383076"/>
                    </a:ext>
                  </a:extLst>
                </a:gridCol>
                <a:gridCol w="613717">
                  <a:extLst>
                    <a:ext uri="{9D8B030D-6E8A-4147-A177-3AD203B41FA5}">
                      <a16:colId xmlns:a16="http://schemas.microsoft.com/office/drawing/2014/main" val="3325115333"/>
                    </a:ext>
                  </a:extLst>
                </a:gridCol>
                <a:gridCol w="2117124">
                  <a:extLst>
                    <a:ext uri="{9D8B030D-6E8A-4147-A177-3AD203B41FA5}">
                      <a16:colId xmlns:a16="http://schemas.microsoft.com/office/drawing/2014/main" val="3942792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vCPU (Cores)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Memory(GB)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Storage (GB)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Qty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Remark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1727"/>
                  </a:ext>
                </a:extLst>
              </a:tr>
              <a:tr h="339727">
                <a:tc>
                  <a:txBody>
                    <a:bodyPr/>
                    <a:lstStyle/>
                    <a:p>
                      <a:r>
                        <a:rPr lang="en-US" sz="130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ACK(Kubernetes Cluster)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3 nodes cluster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3737958"/>
                  </a:ext>
                </a:extLst>
              </a:tr>
              <a:tr h="288324">
                <a:tc>
                  <a:txBody>
                    <a:bodyPr/>
                    <a:lstStyle/>
                    <a:p>
                      <a:r>
                        <a:rPr lang="en-US" sz="130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Pod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0.256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9123329"/>
                  </a:ext>
                </a:extLst>
              </a:tr>
              <a:tr h="288324">
                <a:tc>
                  <a:txBody>
                    <a:bodyPr/>
                    <a:lstStyle/>
                    <a:p>
                      <a:r>
                        <a:rPr lang="en-US" sz="1300" dirty="0"/>
                        <a:t>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ALB (Kubernetes ingress)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141497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r>
                        <a:rPr lang="en-US" sz="1300" dirty="0"/>
                        <a:t>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Redis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0145469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r>
                        <a:rPr lang="en-US" sz="1300" dirty="0"/>
                        <a:t>7.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Cloud Backup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5340554"/>
                  </a:ext>
                </a:extLst>
              </a:tr>
              <a:tr h="238897">
                <a:tc>
                  <a:txBody>
                    <a:bodyPr/>
                    <a:lstStyle/>
                    <a:p>
                      <a:r>
                        <a:rPr lang="en-US" sz="1300" dirty="0"/>
                        <a:t>8.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dirty="0"/>
                        <a:t>Rabbit MQ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20 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5215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10960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25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Required APIs For External Api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682D5B-10CB-4BA0-1FBF-944A9CED5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0674745"/>
              </p:ext>
            </p:extLst>
          </p:nvPr>
        </p:nvGraphicFramePr>
        <p:xfrm>
          <a:off x="81002" y="943091"/>
          <a:ext cx="11458575" cy="873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614">
                  <a:extLst>
                    <a:ext uri="{9D8B030D-6E8A-4147-A177-3AD203B41FA5}">
                      <a16:colId xmlns:a16="http://schemas.microsoft.com/office/drawing/2014/main" val="3324346749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4257615665"/>
                    </a:ext>
                  </a:extLst>
                </a:gridCol>
                <a:gridCol w="7958136">
                  <a:extLst>
                    <a:ext uri="{9D8B030D-6E8A-4147-A177-3AD203B41FA5}">
                      <a16:colId xmlns:a16="http://schemas.microsoft.com/office/drawing/2014/main" val="669345070"/>
                    </a:ext>
                  </a:extLst>
                </a:gridCol>
              </a:tblGrid>
              <a:tr h="465969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No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API Name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/>
                        <a:t>Description</a:t>
                      </a:r>
                      <a:endParaRPr 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7563516"/>
                  </a:ext>
                </a:extLst>
              </a:tr>
              <a:tr h="407447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/>
                        <a:t>1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check/AML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Myanmar Text" panose="020B0502040204020203" pitchFamily="34" charset="0"/>
                        </a:rPr>
                        <a:t>To top up mobile number</a:t>
                      </a: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5297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14875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9C983F-458B-06E6-E4F8-F1462FB49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288B1A-0894-4E52-95D8-2AC74CBED725}" type="slidenum">
              <a:rPr lang="en-US" smtClean="0"/>
              <a:t>26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2EA55-F46C-8AB0-0140-A4E9772F2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000635"/>
            <a:ext cx="12191999" cy="518983"/>
          </a:xfrm>
        </p:spPr>
        <p:txBody>
          <a:bodyPr/>
          <a:lstStyle/>
          <a:p>
            <a:pPr algn="ctr"/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84669213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fad6302-fdb1-4d2b-bae6-d2fdf9a97a42">
      <Terms xmlns="http://schemas.microsoft.com/office/infopath/2007/PartnerControls"/>
    </lcf76f155ced4ddcb4097134ff3c332f>
    <TaxCatchAll xmlns="76bb2ce8-bb45-4930-a7cf-51d5c3ce9955" xsi:nil="true"/>
    <_Flow_SignoffStatus xmlns="9fad6302-fdb1-4d2b-bae6-d2fdf9a97a4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9FAA4C2747084B87058E0E0A310158" ma:contentTypeVersion="17" ma:contentTypeDescription="Create a new document." ma:contentTypeScope="" ma:versionID="0d994700019694c4b789f2f92615bef0">
  <xsd:schema xmlns:xsd="http://www.w3.org/2001/XMLSchema" xmlns:xs="http://www.w3.org/2001/XMLSchema" xmlns:p="http://schemas.microsoft.com/office/2006/metadata/properties" xmlns:ns2="9fad6302-fdb1-4d2b-bae6-d2fdf9a97a42" xmlns:ns3="76bb2ce8-bb45-4930-a7cf-51d5c3ce9955" targetNamespace="http://schemas.microsoft.com/office/2006/metadata/properties" ma:root="true" ma:fieldsID="d1a30f74a7ef0c27ba753240d6a6513d" ns2:_="" ns3:_="">
    <xsd:import namespace="9fad6302-fdb1-4d2b-bae6-d2fdf9a97a42"/>
    <xsd:import namespace="76bb2ce8-bb45-4930-a7cf-51d5c3ce995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DateTaken" minOccurs="0"/>
                <xsd:element ref="ns2:MediaLengthInSecond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ad6302-fdb1-4d2b-bae6-d2fdf9a97a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a68c42a-fa4e-4690-8c8d-5e2b77104c2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_Flow_SignoffStatus" ma:index="24" nillable="true" ma:displayName="Sign-off status" ma:internalName="_x0024_Resources_x003a_core_x002c_Signoff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bb2ce8-bb45-4930-a7cf-51d5c3ce995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ec937087-0f51-406b-8ce9-5382fca5863b}" ma:internalName="TaxCatchAll" ma:showField="CatchAllData" ma:web="76bb2ce8-bb45-4930-a7cf-51d5c3ce995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B4568BD-1A8E-4633-AD94-D8FBD47F872A}">
  <ds:schemaRefs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http://schemas.microsoft.com/office/2006/metadata/properties"/>
    <ds:schemaRef ds:uri="76bb2ce8-bb45-4930-a7cf-51d5c3ce9955"/>
    <ds:schemaRef ds:uri="9fad6302-fdb1-4d2b-bae6-d2fdf9a97a42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33B31715-BA8D-4E42-B12B-716E5EB2C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fad6302-fdb1-4d2b-bae6-d2fdf9a97a42"/>
    <ds:schemaRef ds:uri="76bb2ce8-bb45-4930-a7cf-51d5c3ce995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217D971-2416-483F-8C3C-F9A2317247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25361</TotalTime>
  <Words>1255</Words>
  <Application>Microsoft Office PowerPoint</Application>
  <PresentationFormat>Widescreen</PresentationFormat>
  <Paragraphs>264</Paragraphs>
  <Slides>26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Aptos</vt:lpstr>
      <vt:lpstr>Aptos Narrow</vt:lpstr>
      <vt:lpstr>Arial</vt:lpstr>
      <vt:lpstr>Calibri</vt:lpstr>
      <vt:lpstr>Calibri (Headings)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Phyo Thu Han</cp:lastModifiedBy>
  <cp:revision>238</cp:revision>
  <dcterms:created xsi:type="dcterms:W3CDTF">2021-01-16T06:03:56Z</dcterms:created>
  <dcterms:modified xsi:type="dcterms:W3CDTF">2026-04-30T09:23:27Z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0x010100159FAA4C2747084B87058E0E0A310158</vt:lpwstr>
  </property>
  <property fmtid="{D5CDD505-2E9C-101B-9397-08002B2CF9AE}" pid="3" name="MediaServiceImageTags">
    <vt:lpwstr/>
  </property>
</Properties>
</file>