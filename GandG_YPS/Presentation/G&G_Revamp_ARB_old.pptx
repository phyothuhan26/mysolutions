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4"/>
  </p:sldMasterIdLst>
  <p:notesMasterIdLst>
    <p:notesMasterId r:id="rId40"/>
  </p:notesMasterIdLst>
  <p:sldIdLst>
    <p:sldId id="2145708748" r:id="rId5"/>
    <p:sldId id="2145708771" r:id="rId6"/>
    <p:sldId id="2145708772" r:id="rId7"/>
    <p:sldId id="2145708781" r:id="rId8"/>
    <p:sldId id="2145708783" r:id="rId9"/>
    <p:sldId id="2145708782" r:id="rId10"/>
    <p:sldId id="2145708750" r:id="rId11"/>
    <p:sldId id="2145708752" r:id="rId12"/>
    <p:sldId id="2145708785" r:id="rId13"/>
    <p:sldId id="2145708761" r:id="rId14"/>
    <p:sldId id="2145708787" r:id="rId15"/>
    <p:sldId id="2145708773" r:id="rId16"/>
    <p:sldId id="2145708791" r:id="rId17"/>
    <p:sldId id="2145708758" r:id="rId18"/>
    <p:sldId id="2145708762" r:id="rId19"/>
    <p:sldId id="2145708780" r:id="rId20"/>
    <p:sldId id="2145708779" r:id="rId21"/>
    <p:sldId id="2145708778" r:id="rId22"/>
    <p:sldId id="2145708792" r:id="rId23"/>
    <p:sldId id="2145708804" r:id="rId24"/>
    <p:sldId id="2145708757" r:id="rId25"/>
    <p:sldId id="2145708806" r:id="rId26"/>
    <p:sldId id="2145708807" r:id="rId27"/>
    <p:sldId id="2145708756" r:id="rId28"/>
    <p:sldId id="2145708760" r:id="rId29"/>
    <p:sldId id="2145708805" r:id="rId30"/>
    <p:sldId id="2145708803" r:id="rId31"/>
    <p:sldId id="2145708793" r:id="rId32"/>
    <p:sldId id="2145708788" r:id="rId33"/>
    <p:sldId id="2145708796" r:id="rId34"/>
    <p:sldId id="2145708799" r:id="rId35"/>
    <p:sldId id="2145708794" r:id="rId36"/>
    <p:sldId id="2145708795" r:id="rId37"/>
    <p:sldId id="2145708798" r:id="rId38"/>
    <p:sldId id="214570876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8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88255" autoAdjust="0"/>
  </p:normalViewPr>
  <p:slideViewPr>
    <p:cSldViewPr snapToGrid="0">
      <p:cViewPr varScale="1">
        <p:scale>
          <a:sx n="84" d="100"/>
          <a:sy n="84" d="100"/>
        </p:scale>
        <p:origin x="56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89EC9-ADF7-4CD8-A359-4B3486574A56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80750-FA6C-4B62-A27E-0AEE5A77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67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9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985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28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70585-199B-79AA-B53A-FE42F001B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477ED-5566-01F5-6506-B6EFDAEEF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B4DEA-C250-819F-9D90-E496250E5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5CAD9-9363-368E-5754-060B100C6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45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169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10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5CF1-E897-6B2F-4523-70D3E623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76CAA-4DE4-2550-EA74-2A2A72D34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3F645-12A9-0EFC-FF35-9409618AA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7976C-C953-BAE6-DB4A-974F89105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204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2C5E7-9F2B-490A-D94F-8D70754E8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5ADEE9-69A7-3A8C-0404-849CD9678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96280D-F1C5-9264-5FD4-31D2E4A09B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9F398-F8D1-63E8-7F40-CE7F906F6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6647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074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AAB93-17BB-BF8C-2E83-28E0B406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67799-8E92-4239-665D-53401C985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7E28F0-DC8E-50B8-8768-49BE117D0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EBB59-74EC-BCA7-58B5-E701A4C47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89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90E22-90DB-F9C8-4A73-69668F894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30EE2A-58E5-E49A-8306-1F888A293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4A464-CC46-6EB1-9B42-364A08821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C1DD1-1351-421A-B06B-5A2F03BF54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7923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42D36-3CA6-329A-89A2-D7151B9B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AD65A-03F0-BF10-8094-C182DD1E16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8274FA-F7D4-7B56-DD7B-4221B5549E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254D7-B475-EB83-EC95-A55428F8AE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28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77B4-329C-41EF-7BD1-4C3650259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F713FB-31C4-C9AC-7964-B12C4DA430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B1595B-3451-42E7-E65C-669F627A0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708E92-13CB-2033-2F98-68E45C28FC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91012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972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4881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946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44DBB-B4F9-D29F-3B3C-99415CDA6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9C567-5694-69B0-5D95-23CC931252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7B3A4-E485-090A-EE05-0012CBA3F7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FB7B4-1F90-EF07-FDF7-34A5140EE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397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A61D8-AD97-DC3A-3EEF-C352061F6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D947CA-2590-BC11-065B-54B9A208A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51E42-EC84-37DF-E645-331435314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F5BC6-3C8A-102F-9421-F58D47253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30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3136-BFF8-EB78-2165-16658AEC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4DD45-BABB-0DD6-2A45-730A5E2A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64DEE-651B-DBFF-6616-A6F7523F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E4A72-F922-477C-8EF1-5A284132E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87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C0EAA3-C71A-43A2-91D0-C6C31102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635" y="3447317"/>
            <a:ext cx="7676173" cy="1893748"/>
          </a:xfrm>
        </p:spPr>
        <p:txBody>
          <a:bodyPr/>
          <a:lstStyle>
            <a:lvl1pPr>
              <a:buNone/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8A08A-DC60-4455-BFC7-21B4F189180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4250C-5885-48A6-8300-C696669B24AB}" type="slidenum">
              <a:rPr lang="en-US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C60379-4B22-4A26-8D53-7990592BE2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A9DCE2-9A27-41CD-AA22-E05C8C5DA730}"/>
              </a:ext>
            </a:extLst>
          </p:cNvPr>
          <p:cNvSpPr/>
          <p:nvPr userDrawn="1"/>
        </p:nvSpPr>
        <p:spPr>
          <a:xfrm>
            <a:off x="0" y="410547"/>
            <a:ext cx="589497" cy="33503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A8CB8-EDC3-4B46-9A15-ACDB3324900B}"/>
              </a:ext>
            </a:extLst>
          </p:cNvPr>
          <p:cNvSpPr/>
          <p:nvPr userDrawn="1"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1BDA31-1101-46FE-8D24-6516A8D2B08F}"/>
              </a:ext>
            </a:extLst>
          </p:cNvPr>
          <p:cNvSpPr/>
          <p:nvPr userDrawn="1"/>
        </p:nvSpPr>
        <p:spPr>
          <a:xfrm>
            <a:off x="0" y="6185647"/>
            <a:ext cx="12192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0D347471-B928-4112-A3B7-7591089D2E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462" y="2158515"/>
            <a:ext cx="3173267" cy="1189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DD774-C799-4B89-A9B2-280F767B7AD9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1517239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3C4130-7473-4328-9DB3-C3281C7D1F05}"/>
              </a:ext>
            </a:extLst>
          </p:cNvPr>
          <p:cNvSpPr/>
          <p:nvPr userDrawn="1"/>
        </p:nvSpPr>
        <p:spPr>
          <a:xfrm>
            <a:off x="0" y="6147547"/>
            <a:ext cx="12192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2D724A-26F3-49B6-9B01-1DED33C73C61}"/>
              </a:ext>
            </a:extLst>
          </p:cNvPr>
          <p:cNvSpPr/>
          <p:nvPr userDrawn="1"/>
        </p:nvSpPr>
        <p:spPr>
          <a:xfrm>
            <a:off x="0" y="5995147"/>
            <a:ext cx="12192000" cy="685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9C6C64-80AF-412B-BDCC-C9B570CB105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237" y="6011718"/>
            <a:ext cx="1748750" cy="6557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E81DD9C-07D6-4C15-AFFE-0D6D655994A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0" y="508000"/>
            <a:ext cx="7137400" cy="914400"/>
          </a:xfrm>
        </p:spPr>
        <p:txBody>
          <a:bodyPr/>
          <a:lstStyle>
            <a:lvl1pPr marL="0" indent="0">
              <a:buNone/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A29E5-4CD2-456D-8C37-AEF850980098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331974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CD78-8B7B-4976-8AE0-648AF1DF3CEB}" type="datetime1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5A1445-8CA7-4094-8A1D-DA20D230DC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5838" y="-2643"/>
            <a:ext cx="1686161" cy="733528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A781350-F6E0-498B-8852-571864372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136525"/>
            <a:ext cx="10226779" cy="46597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9EBFB5-A964-42F9-B79F-978885BFC2B4}"/>
              </a:ext>
            </a:extLst>
          </p:cNvPr>
          <p:cNvSpPr/>
          <p:nvPr userDrawn="1"/>
        </p:nvSpPr>
        <p:spPr>
          <a:xfrm>
            <a:off x="81001" y="602501"/>
            <a:ext cx="10226779" cy="2010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52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60392" y="90127"/>
            <a:ext cx="11657086" cy="5085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260392" y="695618"/>
            <a:ext cx="11657086" cy="54990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4/8/2026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 dirty="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  <a:cs typeface="Arial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  <a:latin typeface="Aptos" panose="020B00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440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bg1">
                    <a:lumMod val="50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1CC0ADF-48E4-418A-A013-832BC4C38D0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0EFCD6E-A29E-4E94-8D63-F18873FB12A3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18926778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62" r:id="rId2"/>
    <p:sldLayoutId id="2147483663" r:id="rId3"/>
    <p:sldLayoutId id="2147483682" r:id="rId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kern="1200">
          <a:solidFill>
            <a:schemeClr val="tx1"/>
          </a:solidFill>
          <a:latin typeface="Aptos" panose="020B0004020202020204" pitchFamily="34" charset="0"/>
          <a:ea typeface="+mj-ea"/>
          <a:cs typeface="Arial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1pPr>
      <a:lvl2pPr marL="8001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9CF22F-5AA4-B171-99C4-50EE2DCE24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47568" y="1581665"/>
            <a:ext cx="8491043" cy="1705232"/>
          </a:xfrm>
        </p:spPr>
        <p:txBody>
          <a:bodyPr/>
          <a:lstStyle/>
          <a:p>
            <a:pPr algn="ctr"/>
            <a:r>
              <a:rPr lang="en-GB" sz="3600" dirty="0">
                <a:latin typeface="Aptos Narrow" panose="020B0004020202020204" pitchFamily="34" charset="0"/>
              </a:rPr>
              <a:t>G&amp; G Revamp</a:t>
            </a:r>
          </a:p>
          <a:p>
            <a:pPr algn="ctr"/>
            <a:r>
              <a:rPr lang="en-GB" sz="3600" b="0" dirty="0">
                <a:latin typeface="Aptos Narrow" panose="020B0004020202020204" pitchFamily="34" charset="0"/>
              </a:rPr>
              <a:t>Solution Architecture Proposal</a:t>
            </a: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C52E4-7A16-A6FD-0E8E-5DB151B24147}"/>
              </a:ext>
            </a:extLst>
          </p:cNvPr>
          <p:cNvSpPr txBox="1"/>
          <p:nvPr/>
        </p:nvSpPr>
        <p:spPr>
          <a:xfrm>
            <a:off x="8621487" y="5272219"/>
            <a:ext cx="3401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Solution Architect :Phyo Thu Han</a:t>
            </a:r>
          </a:p>
          <a:p>
            <a:r>
              <a:rPr lang="en-US" dirty="0">
                <a:solidFill>
                  <a:schemeClr val="bg1"/>
                </a:solidFill>
              </a:rPr>
              <a:t>Date:4-March-2026</a:t>
            </a:r>
          </a:p>
        </p:txBody>
      </p:sp>
    </p:spTree>
    <p:extLst>
      <p:ext uri="{BB962C8B-B14F-4D97-AF65-F5344CB8AC3E}">
        <p14:creationId xmlns:p14="http://schemas.microsoft.com/office/powerpoint/2010/main" val="30881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FEB63-53AA-830E-7FB7-37CB890C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3D199-E19C-0DAE-7DFD-CE9386111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A8B55-BEB5-5E54-D328-A8D0F3CE60FD}"/>
              </a:ext>
            </a:extLst>
          </p:cNvPr>
          <p:cNvSpPr txBox="1"/>
          <p:nvPr/>
        </p:nvSpPr>
        <p:spPr>
          <a:xfrm>
            <a:off x="140043" y="932935"/>
            <a:ext cx="11203460" cy="55861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 (Headings)"/>
              </a:rPr>
              <a:t>G&amp;G </a:t>
            </a:r>
            <a:r>
              <a:rPr lang="en-US" sz="1500" dirty="0" err="1">
                <a:latin typeface="Calibri (Headings)"/>
              </a:rPr>
              <a:t>Eservice</a:t>
            </a:r>
            <a:r>
              <a:rPr lang="en-US" sz="1500" dirty="0">
                <a:latin typeface="Calibri (Headings)"/>
              </a:rPr>
              <a:t> provides a wide range of digital services, including </a:t>
            </a:r>
            <a:r>
              <a:rPr lang="en-US" sz="1500" b="1" dirty="0">
                <a:latin typeface="Calibri (Headings)"/>
              </a:rPr>
              <a:t>Top-up, YPS Billing, Cash Transactions, Meter Billing, Canal+, Skynet subscriptions, and </a:t>
            </a:r>
            <a:r>
              <a:rPr lang="en-US" sz="1500" b="1" dirty="0" err="1">
                <a:latin typeface="Calibri (Headings)"/>
              </a:rPr>
              <a:t>MMBus</a:t>
            </a:r>
            <a:r>
              <a:rPr lang="en-US" sz="1500" b="1" dirty="0">
                <a:latin typeface="Calibri (Headings)"/>
              </a:rPr>
              <a:t> integration</a:t>
            </a:r>
            <a:r>
              <a:rPr lang="en-US" sz="1500" dirty="0">
                <a:latin typeface="Calibri (Headings)"/>
              </a:rPr>
              <a:t>, through the </a:t>
            </a:r>
            <a:r>
              <a:rPr lang="en-US" sz="1500" b="1" dirty="0">
                <a:latin typeface="Calibri (Headings)"/>
              </a:rPr>
              <a:t>CCN </a:t>
            </a:r>
            <a:r>
              <a:rPr lang="en-US" sz="1500" b="1" dirty="0" err="1">
                <a:latin typeface="Calibri (Headings)"/>
              </a:rPr>
              <a:t>EService</a:t>
            </a:r>
            <a:r>
              <a:rPr lang="en-US" sz="1500" b="1" dirty="0">
                <a:latin typeface="Calibri (Headings)"/>
              </a:rPr>
              <a:t> Middleware</a:t>
            </a:r>
            <a:r>
              <a:rPr lang="en-US" sz="1500" dirty="0">
                <a:latin typeface="Calibri (Headings)"/>
              </a:rPr>
              <a:t>. Sales data is synchronized with </a:t>
            </a:r>
            <a:r>
              <a:rPr lang="en-US" sz="1500" b="1" dirty="0">
                <a:latin typeface="Calibri (Headings)"/>
              </a:rPr>
              <a:t>Microsoft AX and D365</a:t>
            </a:r>
            <a:r>
              <a:rPr lang="en-US" sz="1500" dirty="0">
                <a:latin typeface="Calibri (Headings)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 (Headings)"/>
              </a:rPr>
              <a:t>With the increasing transaction volume and system usage, the current platform faces challenges in  </a:t>
            </a:r>
            <a:r>
              <a:rPr lang="en-US" sz="1500" b="1" dirty="0" err="1">
                <a:latin typeface="Calibri (Headings)"/>
              </a:rPr>
              <a:t>performance,operations</a:t>
            </a:r>
            <a:r>
              <a:rPr lang="en-US" sz="1500" b="1" dirty="0">
                <a:latin typeface="Calibri (Headings)"/>
              </a:rPr>
              <a:t>, scalability, and data loss which lead to financial lost</a:t>
            </a:r>
            <a:r>
              <a:rPr lang="en-US" sz="1500" dirty="0">
                <a:latin typeface="Calibri (Headings)"/>
              </a:rPr>
              <a:t>, primarily due to synchronous processing and growing data size.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Calibri (Headings)"/>
              </a:rPr>
              <a:t>Following services are selected for </a:t>
            </a:r>
            <a:r>
              <a:rPr lang="en-US" sz="1500" b="1" dirty="0">
                <a:latin typeface="Calibri (Headings)"/>
              </a:rPr>
              <a:t>revamp</a:t>
            </a:r>
            <a:r>
              <a:rPr lang="en-US" sz="1500" dirty="0">
                <a:latin typeface="Calibri (Headings)"/>
              </a:rPr>
              <a:t> and </a:t>
            </a:r>
            <a:r>
              <a:rPr lang="en-US" sz="1500" b="1" dirty="0">
                <a:latin typeface="Calibri (Headings)"/>
              </a:rPr>
              <a:t>enhancement</a:t>
            </a:r>
            <a:r>
              <a:rPr lang="en-US" sz="1500" dirty="0">
                <a:latin typeface="Calibri (Headings)"/>
              </a:rPr>
              <a:t>  to align with business needs and cover problems.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dirty="0">
                <a:latin typeface="Calibri (Headings)"/>
              </a:rPr>
              <a:t> </a:t>
            </a:r>
            <a:r>
              <a:rPr lang="en-US" sz="1500" b="1" dirty="0">
                <a:latin typeface="Calibri (Headings)"/>
              </a:rPr>
              <a:t>YPS Services (Revamp):</a:t>
            </a:r>
            <a:br>
              <a:rPr lang="en-US" sz="1500" dirty="0">
                <a:latin typeface="Calibri (Headings)"/>
              </a:rPr>
            </a:br>
            <a:r>
              <a:rPr lang="en-US" sz="1500" dirty="0">
                <a:latin typeface="Calibri (Headings)"/>
              </a:rPr>
              <a:t>Full redesign of the service flow to improve response time and prevent data loss by using  </a:t>
            </a:r>
            <a:r>
              <a:rPr lang="en-US" sz="1500" b="1" dirty="0">
                <a:latin typeface="Calibri (Headings)"/>
              </a:rPr>
              <a:t>Redis</a:t>
            </a:r>
            <a:r>
              <a:rPr lang="en-US" sz="1500" dirty="0">
                <a:latin typeface="Calibri (Headings)"/>
              </a:rPr>
              <a:t>, </a:t>
            </a:r>
            <a:r>
              <a:rPr lang="en-US" sz="1500" b="1" dirty="0">
                <a:latin typeface="Calibri (Headings)"/>
              </a:rPr>
              <a:t>Rabbit MQ  </a:t>
            </a:r>
            <a:r>
              <a:rPr lang="en-US" sz="1500" dirty="0">
                <a:latin typeface="Calibri (Headings)"/>
              </a:rPr>
              <a:t>and separate service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>
                <a:latin typeface="Calibri (Headings)"/>
              </a:rPr>
              <a:t>Bill &amp; Subscription Services (Enhancement):</a:t>
            </a:r>
            <a:br>
              <a:rPr lang="en-US" sz="1500" dirty="0">
                <a:latin typeface="Calibri (Headings)"/>
              </a:rPr>
            </a:br>
            <a:r>
              <a:rPr lang="en-US" sz="1500" dirty="0">
                <a:latin typeface="Calibri (Headings)"/>
              </a:rPr>
              <a:t>Improve processing efficiency by optimizing existing logic and system flow with the use of </a:t>
            </a:r>
            <a:r>
              <a:rPr lang="en-US" sz="1500" b="1" dirty="0">
                <a:latin typeface="Calibri (Headings)"/>
              </a:rPr>
              <a:t>Redis</a:t>
            </a:r>
            <a:r>
              <a:rPr lang="en-US" sz="1500" dirty="0">
                <a:latin typeface="Calibri (Headings)"/>
              </a:rPr>
              <a:t>, </a:t>
            </a:r>
            <a:r>
              <a:rPr lang="en-US" sz="1500" b="1" dirty="0">
                <a:latin typeface="Calibri (Headings)"/>
              </a:rPr>
              <a:t>Rabbit MQ </a:t>
            </a:r>
            <a:r>
              <a:rPr lang="en-US" sz="1500" dirty="0">
                <a:latin typeface="Calibri (Headings)"/>
              </a:rPr>
              <a:t>and process separation.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>
                <a:latin typeface="Calibri (Headings)"/>
              </a:rPr>
              <a:t>Sale Data Synchronization (Enhancement):</a:t>
            </a:r>
            <a:br>
              <a:rPr lang="en-US" sz="1500" dirty="0">
                <a:latin typeface="Calibri (Headings)"/>
              </a:rPr>
            </a:br>
            <a:r>
              <a:rPr lang="en-US" sz="1500" dirty="0">
                <a:latin typeface="Calibri (Headings)"/>
              </a:rPr>
              <a:t>Improve synchronization with </a:t>
            </a:r>
            <a:r>
              <a:rPr lang="en-US" sz="1500" b="1" dirty="0">
                <a:latin typeface="Calibri (Headings)"/>
              </a:rPr>
              <a:t>Microsoft AX </a:t>
            </a:r>
            <a:r>
              <a:rPr lang="en-US" sz="1500" dirty="0">
                <a:latin typeface="Calibri (Headings)"/>
              </a:rPr>
              <a:t>and </a:t>
            </a:r>
            <a:r>
              <a:rPr lang="en-US" sz="1500" b="1" dirty="0">
                <a:latin typeface="Calibri (Headings)"/>
              </a:rPr>
              <a:t>D365</a:t>
            </a:r>
            <a:r>
              <a:rPr lang="en-US" sz="1500" dirty="0">
                <a:latin typeface="Calibri (Headings)"/>
              </a:rPr>
              <a:t> by introducing </a:t>
            </a:r>
            <a:r>
              <a:rPr lang="en-US" sz="1500" b="1" dirty="0">
                <a:latin typeface="Calibri (Headings)"/>
              </a:rPr>
              <a:t>asynchronous jobs for parallel processing </a:t>
            </a:r>
            <a:r>
              <a:rPr lang="en-US" sz="1500" dirty="0">
                <a:latin typeface="Calibri (Headings)"/>
              </a:rPr>
              <a:t>and </a:t>
            </a:r>
            <a:r>
              <a:rPr lang="en-US" sz="1500" b="1" dirty="0">
                <a:latin typeface="Calibri (Headings)"/>
              </a:rPr>
              <a:t>using batch inserts instead of single inserts</a:t>
            </a:r>
            <a:r>
              <a:rPr lang="en-US" sz="1500" dirty="0">
                <a:latin typeface="Calibri (Headings)"/>
              </a:rPr>
              <a:t>.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500" b="1" dirty="0">
                <a:latin typeface="Calibri (Headings)"/>
              </a:rPr>
              <a:t>Data Management:</a:t>
            </a:r>
            <a:br>
              <a:rPr lang="en-US" sz="1500" dirty="0">
                <a:latin typeface="Calibri (Headings)"/>
              </a:rPr>
            </a:br>
            <a:r>
              <a:rPr lang="en-US" sz="1500" dirty="0">
                <a:latin typeface="Calibri (Headings)"/>
              </a:rPr>
              <a:t>Implement </a:t>
            </a:r>
            <a:r>
              <a:rPr lang="en-US" sz="1500" b="1" dirty="0">
                <a:latin typeface="Calibri (Headings)"/>
              </a:rPr>
              <a:t>data archiving </a:t>
            </a:r>
            <a:r>
              <a:rPr lang="en-US" sz="1500" dirty="0">
                <a:latin typeface="Calibri (Headings)"/>
              </a:rPr>
              <a:t>to manage </a:t>
            </a:r>
            <a:r>
              <a:rPr lang="en-US" sz="1500" b="1" dirty="0">
                <a:latin typeface="Calibri (Headings)"/>
              </a:rPr>
              <a:t>increasing data volume </a:t>
            </a:r>
            <a:r>
              <a:rPr lang="en-US" sz="1500" dirty="0">
                <a:latin typeface="Calibri (Headings)"/>
              </a:rPr>
              <a:t>and maintain system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623343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829482-12A2-CA82-7477-896C2545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28F96-2813-B2FF-27CB-B48BDCF5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3A43F-14AA-7985-EB0B-5F3E571969E7}"/>
              </a:ext>
            </a:extLst>
          </p:cNvPr>
          <p:cNvSpPr txBox="1"/>
          <p:nvPr/>
        </p:nvSpPr>
        <p:spPr>
          <a:xfrm>
            <a:off x="213233" y="959242"/>
            <a:ext cx="115103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Calibri (Headings)"/>
              </a:rPr>
              <a:t>To </a:t>
            </a:r>
            <a:r>
              <a:rPr lang="en-US" b="1" dirty="0">
                <a:latin typeface="Calibri (Headings)"/>
              </a:rPr>
              <a:t>optimize</a:t>
            </a:r>
            <a:r>
              <a:rPr lang="en-US" dirty="0">
                <a:latin typeface="Calibri (Headings)"/>
              </a:rPr>
              <a:t> the G&amp;G </a:t>
            </a:r>
            <a:r>
              <a:rPr lang="en-US" dirty="0" err="1">
                <a:latin typeface="Calibri (Headings)"/>
              </a:rPr>
              <a:t>Eservice</a:t>
            </a:r>
            <a:r>
              <a:rPr lang="en-US" dirty="0">
                <a:latin typeface="Calibri (Headings)"/>
              </a:rPr>
              <a:t> platform for higher efficiency, </a:t>
            </a:r>
            <a:r>
              <a:rPr lang="en-US" b="1" dirty="0">
                <a:latin typeface="Calibri (Headings)"/>
              </a:rPr>
              <a:t>faster processin</a:t>
            </a:r>
            <a:r>
              <a:rPr lang="en-US" dirty="0">
                <a:latin typeface="Calibri (Headings)"/>
              </a:rPr>
              <a:t>g, and long-term </a:t>
            </a:r>
            <a:r>
              <a:rPr lang="en-US" b="1" dirty="0">
                <a:latin typeface="Calibri (Headings)"/>
              </a:rPr>
              <a:t>scalability</a:t>
            </a:r>
            <a:r>
              <a:rPr lang="en-US" dirty="0">
                <a:latin typeface="Calibri (Headings)"/>
              </a:rPr>
              <a:t> through strategic </a:t>
            </a:r>
            <a:r>
              <a:rPr lang="en-US" b="1" dirty="0">
                <a:latin typeface="Calibri (Headings)"/>
              </a:rPr>
              <a:t>revamp and enhancements</a:t>
            </a:r>
            <a:r>
              <a:rPr lang="en-US" dirty="0">
                <a:latin typeface="Calibri (Headings)"/>
              </a:rPr>
              <a:t>, enabling sustainable service expansion.</a:t>
            </a:r>
          </a:p>
        </p:txBody>
      </p:sp>
    </p:spTree>
    <p:extLst>
      <p:ext uri="{BB962C8B-B14F-4D97-AF65-F5344CB8AC3E}">
        <p14:creationId xmlns:p14="http://schemas.microsoft.com/office/powerpoint/2010/main" val="97653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E9BE2-4305-176E-2F1F-4DC08B666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4E2A25-A12E-C672-C20E-6ED42D0E4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2C3234-0E44-EE12-3F61-505E6D4A39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Revamp &amp; Enhancement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D922D-8713-24F2-486B-F3EF57A9C851}"/>
              </a:ext>
            </a:extLst>
          </p:cNvPr>
          <p:cNvSpPr txBox="1"/>
          <p:nvPr/>
        </p:nvSpPr>
        <p:spPr>
          <a:xfrm>
            <a:off x="140043" y="932935"/>
            <a:ext cx="11203460" cy="6014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About YPS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 (Headings)"/>
              </a:rPr>
              <a:t>Currently, sales staff operate YPS POS devices to perform YPS bill top-</a:t>
            </a:r>
            <a:r>
              <a:rPr lang="en-US" dirty="0" err="1">
                <a:latin typeface="Calibri (Headings)"/>
              </a:rPr>
              <a:t>ups.This</a:t>
            </a:r>
            <a:r>
              <a:rPr lang="en-US" dirty="0">
                <a:latin typeface="Calibri (Headings)"/>
              </a:rPr>
              <a:t> service is available in </a:t>
            </a:r>
            <a:r>
              <a:rPr lang="en-US" b="1" dirty="0">
                <a:latin typeface="Calibri (Headings)"/>
              </a:rPr>
              <a:t>96 stores</a:t>
            </a:r>
            <a:r>
              <a:rPr lang="en-US" dirty="0">
                <a:latin typeface="Calibri (Headings)"/>
              </a:rPr>
              <a:t>, including </a:t>
            </a:r>
            <a:r>
              <a:rPr lang="en-US" b="1" dirty="0">
                <a:latin typeface="Calibri (Headings)"/>
              </a:rPr>
              <a:t>G&amp;G and Capital</a:t>
            </a:r>
            <a:r>
              <a:rPr lang="en-US" dirty="0">
                <a:latin typeface="Calibri (Headings)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 (Headings)"/>
              </a:rPr>
              <a:t>In the future, the YPS top-up service will be expanded to </a:t>
            </a:r>
            <a:r>
              <a:rPr lang="en-US" b="1" dirty="0">
                <a:latin typeface="Calibri (Headings)"/>
              </a:rPr>
              <a:t>more than 500 stores</a:t>
            </a:r>
            <a:r>
              <a:rPr lang="en-US" dirty="0">
                <a:latin typeface="Calibri (Headings)"/>
              </a:rPr>
              <a:t> using </a:t>
            </a:r>
            <a:r>
              <a:rPr lang="en-US" b="1" dirty="0" err="1">
                <a:latin typeface="Calibri (Headings)"/>
              </a:rPr>
              <a:t>Sunmi</a:t>
            </a:r>
            <a:r>
              <a:rPr lang="en-US" b="1" dirty="0">
                <a:latin typeface="Calibri (Headings)"/>
              </a:rPr>
              <a:t> POS devices</a:t>
            </a:r>
            <a:r>
              <a:rPr lang="en-US" dirty="0">
                <a:latin typeface="Calibri (Headings)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Problem with Current YPS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 (Headings)"/>
              </a:rPr>
              <a:t>Performance Issues </a:t>
            </a:r>
            <a:r>
              <a:rPr lang="en-US" altLang="en-US" dirty="0">
                <a:latin typeface="Calibri (Headings)"/>
              </a:rPr>
              <a:t>- YPS sale transaction saving experiences delays.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 (Headings)"/>
              </a:rPr>
              <a:t>Data Lost Issues </a:t>
            </a:r>
            <a:r>
              <a:rPr lang="en-US" dirty="0">
                <a:latin typeface="Calibri (Headings)"/>
              </a:rPr>
              <a:t>– From </a:t>
            </a:r>
            <a:r>
              <a:rPr lang="en-US" b="1" dirty="0">
                <a:latin typeface="Calibri (Headings)"/>
              </a:rPr>
              <a:t>YPS side </a:t>
            </a:r>
            <a:r>
              <a:rPr lang="en-US" dirty="0">
                <a:latin typeface="Calibri (Headings)"/>
              </a:rPr>
              <a:t>, their few </a:t>
            </a:r>
            <a:r>
              <a:rPr lang="en-US" b="1" dirty="0">
                <a:latin typeface="Calibri (Headings)"/>
              </a:rPr>
              <a:t>time out </a:t>
            </a:r>
            <a:r>
              <a:rPr lang="en-US" dirty="0">
                <a:latin typeface="Calibri (Headings)"/>
              </a:rPr>
              <a:t>seconds and </a:t>
            </a:r>
            <a:r>
              <a:rPr lang="en-US" b="1" dirty="0">
                <a:latin typeface="Calibri (Headings)"/>
              </a:rPr>
              <a:t>lack of retry </a:t>
            </a:r>
            <a:r>
              <a:rPr lang="en-US" dirty="0">
                <a:latin typeface="Calibri (Headings)"/>
              </a:rPr>
              <a:t>is the major cause of  data lost up.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 (Headings)"/>
              </a:rPr>
              <a:t>Financial Issues-  </a:t>
            </a:r>
            <a:r>
              <a:rPr lang="en-US" dirty="0">
                <a:latin typeface="Calibri (Headings)"/>
              </a:rPr>
              <a:t>In G&amp;G  side , due to current implementation , it is </a:t>
            </a:r>
            <a:r>
              <a:rPr lang="en-US" b="1" dirty="0">
                <a:latin typeface="Calibri (Headings)"/>
              </a:rPr>
              <a:t>hard to handle concurrent request  </a:t>
            </a:r>
            <a:r>
              <a:rPr lang="en-US" dirty="0">
                <a:latin typeface="Calibri (Headings)"/>
              </a:rPr>
              <a:t>which lead to </a:t>
            </a:r>
            <a:r>
              <a:rPr lang="en-US" b="1" dirty="0">
                <a:latin typeface="Calibri (Headings)"/>
              </a:rPr>
              <a:t>missing API </a:t>
            </a:r>
            <a:r>
              <a:rPr lang="en-US" dirty="0">
                <a:latin typeface="Calibri (Headings)"/>
              </a:rPr>
              <a:t>call from YPS side and occur  error. in worst case scenario </a:t>
            </a:r>
            <a:r>
              <a:rPr lang="en-US" b="1" dirty="0">
                <a:latin typeface="Calibri (Headings)"/>
              </a:rPr>
              <a:t>data lost between 40% and 60% </a:t>
            </a:r>
            <a:r>
              <a:rPr lang="en-US" dirty="0">
                <a:latin typeface="Calibri (Headings)"/>
              </a:rPr>
              <a:t>, which make </a:t>
            </a:r>
            <a:r>
              <a:rPr lang="en-US" dirty="0" err="1">
                <a:latin typeface="Calibri (Headings)"/>
              </a:rPr>
              <a:t>yps</a:t>
            </a:r>
            <a:r>
              <a:rPr lang="en-US" dirty="0">
                <a:latin typeface="Calibri (Headings)"/>
              </a:rPr>
              <a:t> service </a:t>
            </a:r>
            <a:r>
              <a:rPr lang="en-US" b="1" dirty="0">
                <a:latin typeface="Calibri (Headings)"/>
              </a:rPr>
              <a:t>temporarily stop</a:t>
            </a:r>
            <a:r>
              <a:rPr lang="en-US" dirty="0">
                <a:latin typeface="Calibri (Headings)"/>
              </a:rPr>
              <a:t> and cause </a:t>
            </a:r>
            <a:r>
              <a:rPr lang="en-US" b="1" dirty="0">
                <a:latin typeface="Calibri (Headings)"/>
              </a:rPr>
              <a:t>financial impact via fraud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 (Headings)"/>
              </a:rPr>
              <a:t>Scalability  Issue</a:t>
            </a:r>
            <a:r>
              <a:rPr lang="en-US" dirty="0">
                <a:latin typeface="Calibri (Headings)"/>
              </a:rPr>
              <a:t>s-Current design may </a:t>
            </a:r>
            <a:r>
              <a:rPr lang="en-US" b="1" dirty="0">
                <a:latin typeface="Calibri (Headings)"/>
              </a:rPr>
              <a:t>not suit for future expansion </a:t>
            </a:r>
            <a:r>
              <a:rPr lang="en-US" dirty="0">
                <a:latin typeface="Calibri (Headings)"/>
              </a:rPr>
              <a:t>to </a:t>
            </a:r>
            <a:r>
              <a:rPr lang="en-US" b="1" dirty="0">
                <a:latin typeface="Calibri (Headings)"/>
              </a:rPr>
              <a:t>provide fast response </a:t>
            </a:r>
            <a:r>
              <a:rPr lang="en-US" dirty="0">
                <a:latin typeface="Calibri (Headings)"/>
              </a:rPr>
              <a:t>rate and reliable process which can occur </a:t>
            </a:r>
            <a:r>
              <a:rPr lang="en-US" b="1" dirty="0">
                <a:latin typeface="Calibri (Headings)"/>
              </a:rPr>
              <a:t>fail in sale transaction.</a:t>
            </a:r>
          </a:p>
          <a:p>
            <a:pPr>
              <a:lnSpc>
                <a:spcPct val="150000"/>
              </a:lnSpc>
            </a:pPr>
            <a:endParaRPr lang="en-US" sz="1400" dirty="0"/>
          </a:p>
          <a:p>
            <a:pPr>
              <a:lnSpc>
                <a:spcPct val="150000"/>
              </a:lnSpc>
            </a:pPr>
            <a:endParaRPr lang="en-US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05737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35FA6-358D-ED4A-C77D-6106C18BC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42393A-2295-632C-21CC-C4C6878E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A8210-D177-4B15-6948-C28562E3D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Revamp &amp; Enhancement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B569DA-42FD-69E8-A40D-A75075CF4404}"/>
              </a:ext>
            </a:extLst>
          </p:cNvPr>
          <p:cNvSpPr txBox="1"/>
          <p:nvPr/>
        </p:nvSpPr>
        <p:spPr>
          <a:xfrm>
            <a:off x="205946" y="923773"/>
            <a:ext cx="11576908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About G&amp;G  Bill ,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eserrvices</a:t>
            </a:r>
            <a:endParaRPr lang="en-US" b="1" dirty="0">
              <a:solidFill>
                <a:schemeClr val="accent6">
                  <a:lumMod val="75000"/>
                </a:schemeClr>
              </a:solidFill>
              <a:latin typeface="Calibri (Headings)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 (Headings)"/>
              </a:rPr>
              <a:t>Currently Sale staff operate G&amp;G </a:t>
            </a:r>
            <a:r>
              <a:rPr lang="en-US" dirty="0" err="1">
                <a:latin typeface="Calibri (Headings)"/>
              </a:rPr>
              <a:t>Eservice</a:t>
            </a:r>
            <a:r>
              <a:rPr lang="en-US" dirty="0">
                <a:latin typeface="Calibri (Headings)"/>
              </a:rPr>
              <a:t> to provide top up , electric bill and subscription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 (Headings)"/>
              </a:rPr>
              <a:t>Among each service  </a:t>
            </a:r>
            <a:r>
              <a:rPr lang="en-US" b="1" dirty="0">
                <a:latin typeface="Calibri (Headings)"/>
              </a:rPr>
              <a:t>top up( bill) </a:t>
            </a:r>
            <a:r>
              <a:rPr lang="en-US" dirty="0">
                <a:latin typeface="Calibri (Headings)"/>
              </a:rPr>
              <a:t>is the </a:t>
            </a:r>
            <a:r>
              <a:rPr lang="en-US" b="1" dirty="0">
                <a:latin typeface="Calibri (Headings)"/>
              </a:rPr>
              <a:t>pain point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alibri (Headings)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Key Problem with Current  G&amp;G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 (Headings)"/>
              </a:rPr>
              <a:t>Financial Lost </a:t>
            </a:r>
            <a:r>
              <a:rPr lang="en-US" altLang="en-US" dirty="0">
                <a:latin typeface="Calibri (Headings)"/>
              </a:rPr>
              <a:t>– Although top up </a:t>
            </a:r>
            <a:r>
              <a:rPr lang="en-US" altLang="en-US" b="1" dirty="0">
                <a:latin typeface="Calibri (Headings)"/>
              </a:rPr>
              <a:t>success</a:t>
            </a:r>
            <a:r>
              <a:rPr lang="en-US" altLang="en-US" dirty="0">
                <a:latin typeface="Calibri (Headings)"/>
              </a:rPr>
              <a:t> </a:t>
            </a:r>
            <a:r>
              <a:rPr lang="en-US" altLang="en-US" b="1" dirty="0">
                <a:latin typeface="Calibri (Headings)"/>
              </a:rPr>
              <a:t>at CCN </a:t>
            </a:r>
            <a:r>
              <a:rPr lang="en-US" altLang="en-US" b="1" dirty="0" err="1">
                <a:latin typeface="Calibri (Headings)"/>
              </a:rPr>
              <a:t>Eservice</a:t>
            </a:r>
            <a:r>
              <a:rPr lang="en-US" altLang="en-US" b="1" dirty="0">
                <a:latin typeface="Calibri (Headings)"/>
              </a:rPr>
              <a:t> middleware</a:t>
            </a:r>
            <a:r>
              <a:rPr lang="en-US" altLang="en-US" dirty="0">
                <a:latin typeface="Calibri (Headings)"/>
              </a:rPr>
              <a:t>  , G&amp;G side does not receive success due to time out which suffer financial lost per month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Calibri (Headings)"/>
              </a:rPr>
              <a:t>Data Lost Issues </a:t>
            </a:r>
            <a:r>
              <a:rPr lang="en-US" altLang="en-US" dirty="0">
                <a:latin typeface="Calibri (Headings)"/>
              </a:rPr>
              <a:t>– </a:t>
            </a:r>
            <a:r>
              <a:rPr lang="en-US" altLang="en-US" b="1" dirty="0">
                <a:latin typeface="Calibri (Headings)"/>
              </a:rPr>
              <a:t>Data duplication </a:t>
            </a:r>
            <a:r>
              <a:rPr lang="en-US" altLang="en-US" dirty="0">
                <a:latin typeface="Calibri (Headings)"/>
              </a:rPr>
              <a:t>and  some </a:t>
            </a:r>
            <a:r>
              <a:rPr lang="en-US" altLang="en-US" b="1" dirty="0">
                <a:latin typeface="Calibri (Headings)"/>
              </a:rPr>
              <a:t>transaction</a:t>
            </a:r>
            <a:r>
              <a:rPr lang="en-US" altLang="en-US" dirty="0">
                <a:latin typeface="Calibri (Headings)"/>
              </a:rPr>
              <a:t> data lost (print summary)  may happen in G&amp;G , although it does not impact much  on business due to </a:t>
            </a:r>
            <a:r>
              <a:rPr lang="en-US" altLang="en-US" b="1" dirty="0">
                <a:latin typeface="Calibri (Headings)"/>
              </a:rPr>
              <a:t>low volume rate</a:t>
            </a:r>
            <a:r>
              <a:rPr lang="en-US" altLang="en-US" dirty="0">
                <a:latin typeface="Calibri (Headings)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652253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3652-1C06-C6DD-E4C3-44864C1E3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4AE7B4-BBE1-8529-16B2-CAA21CEFE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56B7F-C487-AE14-54A8-59C81F3ED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About Revamp &amp; Enhancement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79C9EE-B9C3-325D-FA00-1CB43BF87656}"/>
              </a:ext>
            </a:extLst>
          </p:cNvPr>
          <p:cNvSpPr txBox="1"/>
          <p:nvPr/>
        </p:nvSpPr>
        <p:spPr>
          <a:xfrm>
            <a:off x="140043" y="932935"/>
            <a:ext cx="11203460" cy="70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sz="1400" dirty="0"/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D886FD-F105-0BD9-0FE5-FF6F9E6B0064}"/>
              </a:ext>
            </a:extLst>
          </p:cNvPr>
          <p:cNvSpPr txBox="1"/>
          <p:nvPr/>
        </p:nvSpPr>
        <p:spPr>
          <a:xfrm>
            <a:off x="411892" y="1018864"/>
            <a:ext cx="11576908" cy="4065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About Sale Data Sync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 (Headings)"/>
              </a:rPr>
              <a:t>Currently </a:t>
            </a:r>
            <a:r>
              <a:rPr lang="en-US" b="1" dirty="0">
                <a:latin typeface="Calibri (Headings)"/>
              </a:rPr>
              <a:t>sale</a:t>
            </a:r>
            <a:r>
              <a:rPr lang="en-US" dirty="0">
                <a:latin typeface="Calibri (Headings)"/>
              </a:rPr>
              <a:t> </a:t>
            </a:r>
            <a:r>
              <a:rPr lang="en-US" b="1" dirty="0">
                <a:latin typeface="Calibri (Headings)"/>
              </a:rPr>
              <a:t>data</a:t>
            </a:r>
            <a:r>
              <a:rPr lang="en-US" dirty="0">
                <a:latin typeface="Calibri (Headings)"/>
              </a:rPr>
              <a:t> </a:t>
            </a:r>
            <a:r>
              <a:rPr lang="en-US" b="1" dirty="0">
                <a:latin typeface="Calibri (Headings)"/>
              </a:rPr>
              <a:t>sync</a:t>
            </a:r>
            <a:r>
              <a:rPr lang="en-US" dirty="0">
                <a:latin typeface="Calibri (Headings)"/>
              </a:rPr>
              <a:t> to </a:t>
            </a:r>
            <a:r>
              <a:rPr lang="en-US" b="1" dirty="0">
                <a:latin typeface="Calibri (Headings)"/>
              </a:rPr>
              <a:t>Ax</a:t>
            </a:r>
            <a:r>
              <a:rPr lang="en-US" dirty="0">
                <a:latin typeface="Calibri (Headings)"/>
              </a:rPr>
              <a:t> (Capital Sale Data) and </a:t>
            </a:r>
            <a:r>
              <a:rPr lang="en-US" b="1" dirty="0">
                <a:latin typeface="Calibri (Headings)"/>
              </a:rPr>
              <a:t>D365</a:t>
            </a:r>
            <a:r>
              <a:rPr lang="en-US" dirty="0">
                <a:latin typeface="Calibri (Headings)"/>
              </a:rPr>
              <a:t> (G&amp;G Data) with scheduler  with </a:t>
            </a:r>
            <a:r>
              <a:rPr lang="en-US" b="1" dirty="0">
                <a:latin typeface="Calibri (Headings)"/>
              </a:rPr>
              <a:t>15 min interval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dirty="0">
                <a:latin typeface="Calibri (Headings)"/>
              </a:rPr>
              <a:t>After all transaction </a:t>
            </a:r>
            <a:r>
              <a:rPr lang="en-US" altLang="en-US" b="1" dirty="0">
                <a:latin typeface="Calibri (Headings)"/>
              </a:rPr>
              <a:t>finish</a:t>
            </a:r>
            <a:r>
              <a:rPr lang="en-US" altLang="en-US" dirty="0">
                <a:latin typeface="Calibri (Headings)"/>
              </a:rPr>
              <a:t> </a:t>
            </a:r>
            <a:r>
              <a:rPr lang="en-US" altLang="en-US" b="1" dirty="0">
                <a:latin typeface="Calibri (Headings)"/>
              </a:rPr>
              <a:t>sync</a:t>
            </a:r>
            <a:r>
              <a:rPr lang="en-US" altLang="en-US" dirty="0">
                <a:latin typeface="Calibri (Headings)"/>
              </a:rPr>
              <a:t> , it </a:t>
            </a:r>
            <a:r>
              <a:rPr lang="en-US" altLang="en-US" b="1" dirty="0">
                <a:latin typeface="Calibri (Headings)"/>
              </a:rPr>
              <a:t>end work shift</a:t>
            </a:r>
            <a:r>
              <a:rPr lang="en-US" altLang="en-US" dirty="0">
                <a:latin typeface="Calibri (Headings)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Calibri (Headings)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Key Problem with  Sale Data Sync Services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 (Headings)"/>
              </a:rPr>
              <a:t>Operation &amp; Data Reliability Issues </a:t>
            </a:r>
            <a:r>
              <a:rPr lang="en-US" dirty="0">
                <a:latin typeface="Calibri (Headings)"/>
              </a:rPr>
              <a:t>-Due to </a:t>
            </a:r>
            <a:r>
              <a:rPr lang="en-US" b="1" dirty="0">
                <a:latin typeface="Calibri (Headings)"/>
              </a:rPr>
              <a:t>delay</a:t>
            </a:r>
            <a:r>
              <a:rPr lang="en-US" dirty="0">
                <a:latin typeface="Calibri (Headings)"/>
              </a:rPr>
              <a:t> in data </a:t>
            </a:r>
            <a:r>
              <a:rPr lang="en-US" b="1" dirty="0">
                <a:latin typeface="Calibri (Headings)"/>
              </a:rPr>
              <a:t>sync</a:t>
            </a:r>
            <a:r>
              <a:rPr lang="en-US" dirty="0">
                <a:latin typeface="Calibri (Headings)"/>
              </a:rPr>
              <a:t> , data does </a:t>
            </a:r>
            <a:r>
              <a:rPr lang="en-US" b="1" dirty="0">
                <a:latin typeface="Calibri (Headings)"/>
              </a:rPr>
              <a:t>not reach to </a:t>
            </a:r>
            <a:r>
              <a:rPr lang="en-US" b="1" dirty="0" err="1">
                <a:latin typeface="Calibri (Headings)"/>
              </a:rPr>
              <a:t>erp</a:t>
            </a:r>
            <a:r>
              <a:rPr lang="en-US" b="1" dirty="0">
                <a:latin typeface="Calibri (Headings)"/>
              </a:rPr>
              <a:t> system </a:t>
            </a:r>
            <a:r>
              <a:rPr lang="en-US" dirty="0">
                <a:latin typeface="Calibri (Headings)"/>
              </a:rPr>
              <a:t>in time and also </a:t>
            </a:r>
            <a:r>
              <a:rPr lang="en-US" b="1" dirty="0">
                <a:latin typeface="Calibri (Headings)"/>
              </a:rPr>
              <a:t>hard</a:t>
            </a:r>
            <a:r>
              <a:rPr lang="en-US" dirty="0">
                <a:latin typeface="Calibri (Headings)"/>
              </a:rPr>
              <a:t> to </a:t>
            </a:r>
            <a:r>
              <a:rPr lang="en-US" b="1" dirty="0">
                <a:latin typeface="Calibri (Headings)"/>
              </a:rPr>
              <a:t>end </a:t>
            </a:r>
            <a:r>
              <a:rPr lang="en-US" b="1" dirty="0" err="1">
                <a:latin typeface="Calibri (Headings)"/>
              </a:rPr>
              <a:t>workshift</a:t>
            </a:r>
            <a:r>
              <a:rPr lang="en-US" dirty="0">
                <a:latin typeface="Calibri (Headings)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Scheduler dependency on synchronous processing</a:t>
            </a:r>
            <a:br>
              <a:rPr lang="en-US" dirty="0"/>
            </a:br>
            <a:r>
              <a:rPr lang="en-US" dirty="0"/>
              <a:t>The current flow waits for sync completion, which increases delay and reduces reliability.</a:t>
            </a:r>
            <a:endParaRPr lang="en-US" dirty="0">
              <a:latin typeface="Calibri (Headings)"/>
            </a:endParaRP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24253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0F5CF6-2FC2-DAA9-FFF3-85FDAEDC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F5E4B-B356-09D4-A2FB-5CF5B996F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Principles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147B73-A5EB-2054-4919-5110728ED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429342"/>
              </p:ext>
            </p:extLst>
          </p:nvPr>
        </p:nvGraphicFramePr>
        <p:xfrm>
          <a:off x="555787" y="1163557"/>
          <a:ext cx="10226778" cy="232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668">
                  <a:extLst>
                    <a:ext uri="{9D8B030D-6E8A-4147-A177-3AD203B41FA5}">
                      <a16:colId xmlns:a16="http://schemas.microsoft.com/office/drawing/2014/main" val="3117481561"/>
                    </a:ext>
                  </a:extLst>
                </a:gridCol>
                <a:gridCol w="7375110">
                  <a:extLst>
                    <a:ext uri="{9D8B030D-6E8A-4147-A177-3AD203B41FA5}">
                      <a16:colId xmlns:a16="http://schemas.microsoft.com/office/drawing/2014/main" val="1277055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38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Simplicity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Use a microservice  Spring Boot backend to keep architecture straightforward, minimizing complexity and easing maintenance.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114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Clean Code Architecture &amp; SOLID 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Each service will develop by applying modular monolithic with each component will develop by using clean code architecture by applying solid design principle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70480"/>
                  </a:ext>
                </a:extLst>
              </a:tr>
              <a:tr h="370063">
                <a:tc>
                  <a:txBody>
                    <a:bodyPr/>
                    <a:lstStyle/>
                    <a:p>
                      <a:r>
                        <a:rPr lang="en-US" sz="1300" dirty="0"/>
                        <a:t>Security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Employ HTTPS for all communications.</a:t>
                      </a:r>
                    </a:p>
                    <a:p>
                      <a:r>
                        <a:rPr lang="en-US" sz="1300" dirty="0"/>
                        <a:t>Each API endpoint is protected by a single security mechanism. JWT for user-based operations</a:t>
                      </a:r>
                      <a:endParaRPr 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71858"/>
                  </a:ext>
                </a:extLst>
              </a:tr>
              <a:tr h="450711">
                <a:tc>
                  <a:txBody>
                    <a:bodyPr/>
                    <a:lstStyle/>
                    <a:p>
                      <a:r>
                        <a:rPr lang="en-US" sz="1300" dirty="0"/>
                        <a:t>Centralized API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dirty="0"/>
                        <a:t>APIs are centrally managed and published via WSO2 API. 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r>
                        <a:rPr lang="en-US" sz="1300" dirty="0"/>
                        <a:t>Frontend-to-backend communication is secured via WSO2 API Gateway.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578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14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0F5CF6-2FC2-DAA9-FFF3-85FDAEDC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F5E4B-B356-09D4-A2FB-5CF5B996F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08F4D0-3A0B-98D3-152B-8DA7EAE1C4AE}"/>
              </a:ext>
            </a:extLst>
          </p:cNvPr>
          <p:cNvSpPr txBox="1"/>
          <p:nvPr/>
        </p:nvSpPr>
        <p:spPr>
          <a:xfrm>
            <a:off x="336464" y="740376"/>
            <a:ext cx="11195222" cy="487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YPS Service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 (Headings)"/>
              </a:rPr>
              <a:t>New </a:t>
            </a:r>
            <a:r>
              <a:rPr lang="en-US" altLang="en-US" b="1" dirty="0" err="1">
                <a:latin typeface="Calibri (Headings)"/>
              </a:rPr>
              <a:t>YPSService</a:t>
            </a:r>
            <a:r>
              <a:rPr lang="en-US" altLang="en-US" dirty="0">
                <a:latin typeface="Calibri (Headings)"/>
              </a:rPr>
              <a:t> to handle transactions, sale preparation, and failure recovery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 (Headings)"/>
              </a:rPr>
              <a:t>Use </a:t>
            </a:r>
            <a:r>
              <a:rPr lang="en-US" altLang="en-US" b="1" dirty="0">
                <a:latin typeface="Calibri (Headings)"/>
              </a:rPr>
              <a:t>separate YPS database</a:t>
            </a:r>
            <a:r>
              <a:rPr lang="en-US" altLang="en-US" dirty="0">
                <a:latin typeface="Calibri (Headings)"/>
              </a:rPr>
              <a:t> for transactions, imports, and configs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 (Headings)"/>
              </a:rPr>
              <a:t>Send raw sale data to </a:t>
            </a:r>
            <a:r>
              <a:rPr lang="en-US" altLang="en-US" b="1" dirty="0">
                <a:latin typeface="Calibri (Headings)"/>
              </a:rPr>
              <a:t>RabbitMQ → DataService</a:t>
            </a:r>
            <a:r>
              <a:rPr lang="en-US" altLang="en-US" dirty="0">
                <a:latin typeface="Calibri (Headings)"/>
              </a:rPr>
              <a:t> for processing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Calibri (Headings)"/>
              </a:rPr>
              <a:t>DataService</a:t>
            </a:r>
            <a:r>
              <a:rPr lang="en-US" altLang="en-US" dirty="0">
                <a:latin typeface="Calibri (Headings)"/>
              </a:rPr>
              <a:t> finalizes YPS sale and integrates with G&amp;G operations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Calibri (Headings)"/>
            </a:endParaRP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G&amp;G Bill &amp; Subscription Service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 (Headings)"/>
              </a:rPr>
              <a:t>Enhance sale flow using </a:t>
            </a:r>
            <a:r>
              <a:rPr lang="en-US" altLang="en-US" b="1" dirty="0">
                <a:latin typeface="Calibri (Headings)"/>
              </a:rPr>
              <a:t>Redis + RabbitMQ (async processing)</a:t>
            </a:r>
            <a:r>
              <a:rPr lang="en-US" altLang="en-US" dirty="0">
                <a:latin typeface="Calibri (Headings)"/>
              </a:rPr>
              <a:t>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 (Headings)"/>
              </a:rPr>
              <a:t>Split processing into </a:t>
            </a:r>
            <a:r>
              <a:rPr lang="en-US" altLang="en-US" b="1" dirty="0">
                <a:latin typeface="Calibri (Headings)"/>
              </a:rPr>
              <a:t>sale, commission, print</a:t>
            </a:r>
            <a:r>
              <a:rPr lang="en-US" altLang="en-US" dirty="0">
                <a:latin typeface="Calibri (Headings)"/>
              </a:rPr>
              <a:t> to reduce failure impact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b="1" dirty="0">
                <a:latin typeface="Calibri (Headings)"/>
              </a:rPr>
              <a:t>DataService</a:t>
            </a:r>
            <a:r>
              <a:rPr lang="en-US" altLang="en-US" dirty="0">
                <a:latin typeface="Calibri (Headings)"/>
              </a:rPr>
              <a:t> consumes and completes full transaction flow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latin typeface="Calibri (Headings)"/>
              </a:rPr>
              <a:t>Implement </a:t>
            </a:r>
            <a:r>
              <a:rPr lang="en-US" altLang="en-US" b="1" dirty="0">
                <a:latin typeface="Calibri (Headings)"/>
              </a:rPr>
              <a:t>retry + rollback</a:t>
            </a:r>
            <a:r>
              <a:rPr lang="en-US" altLang="en-US" dirty="0">
                <a:latin typeface="Calibri (Headings)"/>
              </a:rPr>
              <a:t> to prevent data loss and duplication </a:t>
            </a:r>
          </a:p>
          <a:p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5FF255-7A98-8126-DA14-E7F41430E2C9}"/>
              </a:ext>
            </a:extLst>
          </p:cNvPr>
          <p:cNvSpPr txBox="1"/>
          <p:nvPr/>
        </p:nvSpPr>
        <p:spPr>
          <a:xfrm>
            <a:off x="336464" y="5425607"/>
            <a:ext cx="763905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Schedule Service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 (Headings)"/>
              </a:rPr>
              <a:t>Convert AX &amp; D365 operations from </a:t>
            </a:r>
            <a:r>
              <a:rPr lang="en-US" b="1" dirty="0">
                <a:latin typeface="Calibri (Headings)"/>
              </a:rPr>
              <a:t>sync → async</a:t>
            </a:r>
            <a:r>
              <a:rPr lang="en-US" dirty="0">
                <a:latin typeface="Calibri (Headings)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 (Headings)"/>
              </a:rPr>
              <a:t>Use </a:t>
            </a:r>
            <a:r>
              <a:rPr lang="en-US" b="1" dirty="0">
                <a:latin typeface="Calibri (Headings)"/>
              </a:rPr>
              <a:t>batch insert (30 rows per transaction)</a:t>
            </a:r>
            <a:r>
              <a:rPr lang="en-US" dirty="0">
                <a:latin typeface="Calibri (Headings)"/>
              </a:rPr>
              <a:t> for efficiency</a:t>
            </a:r>
          </a:p>
        </p:txBody>
      </p:sp>
    </p:spTree>
    <p:extLst>
      <p:ext uri="{BB962C8B-B14F-4D97-AF65-F5344CB8AC3E}">
        <p14:creationId xmlns:p14="http://schemas.microsoft.com/office/powerpoint/2010/main" val="22531672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7539CC-91C8-CE6C-7864-AD93F8C5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D309A1-B26D-0A21-2A99-3B98EE7B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5F536-B441-9EDC-BAFC-BBBCA5922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Boundaries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4EF5A-7DEE-214D-A7F2-C9918FA244D8}"/>
              </a:ext>
            </a:extLst>
          </p:cNvPr>
          <p:cNvSpPr txBox="1"/>
          <p:nvPr/>
        </p:nvSpPr>
        <p:spPr>
          <a:xfrm>
            <a:off x="148281" y="930876"/>
            <a:ext cx="11434119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Archival applies only to </a:t>
            </a:r>
            <a:r>
              <a:rPr lang="en-US" b="1" dirty="0">
                <a:latin typeface="Calibri (Headings)"/>
              </a:rPr>
              <a:t>selected tables</a:t>
            </a:r>
            <a:r>
              <a:rPr lang="en-US" dirty="0">
                <a:latin typeface="Calibri (Headings)"/>
              </a:rPr>
              <a:t>; archived data requires </a:t>
            </a:r>
            <a:r>
              <a:rPr lang="en-US" b="1" dirty="0">
                <a:latin typeface="Calibri (Headings)"/>
              </a:rPr>
              <a:t>manual query access</a:t>
            </a:r>
            <a:r>
              <a:rPr lang="en-US" dirty="0">
                <a:latin typeface="Calibri (Headings)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Primary DB retains </a:t>
            </a:r>
            <a:r>
              <a:rPr lang="en-US" b="1" dirty="0">
                <a:latin typeface="Calibri (Headings)"/>
              </a:rPr>
              <a:t>1-year active data</a:t>
            </a:r>
            <a:r>
              <a:rPr lang="en-US" dirty="0">
                <a:latin typeface="Calibri (Headings)"/>
              </a:rPr>
              <a:t> for processing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Retry mechanism applies only to </a:t>
            </a:r>
            <a:r>
              <a:rPr lang="en-US" b="1" dirty="0">
                <a:latin typeface="Calibri (Headings)"/>
              </a:rPr>
              <a:t>sale operations</a:t>
            </a:r>
            <a:r>
              <a:rPr lang="en-US" dirty="0">
                <a:latin typeface="Calibri (Headings)"/>
              </a:rPr>
              <a:t> (G&amp;G Bill, Subscription, </a:t>
            </a:r>
            <a:r>
              <a:rPr lang="en-US" dirty="0" err="1">
                <a:latin typeface="Calibri (Headings)"/>
              </a:rPr>
              <a:t>Eservices</a:t>
            </a:r>
            <a:r>
              <a:rPr lang="en-US" dirty="0">
                <a:latin typeface="Calibri (Headings)"/>
              </a:rPr>
              <a:t>, YPS)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Improvements focus on </a:t>
            </a:r>
            <a:r>
              <a:rPr lang="en-US" b="1" dirty="0">
                <a:latin typeface="Calibri (Headings)"/>
              </a:rPr>
              <a:t>code optimization + Redis + RabbitMQ</a:t>
            </a:r>
            <a:r>
              <a:rPr lang="en-US" dirty="0">
                <a:latin typeface="Calibri (Headings)"/>
              </a:rPr>
              <a:t> for performance and stability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libri (Headings)"/>
              </a:rPr>
              <a:t>External telecom failures/timeouts</a:t>
            </a:r>
            <a:r>
              <a:rPr lang="en-US" dirty="0">
                <a:latin typeface="Calibri (Headings)"/>
              </a:rPr>
              <a:t> are outside system control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Data sync is </a:t>
            </a:r>
            <a:r>
              <a:rPr lang="en-US" b="1" dirty="0">
                <a:latin typeface="Calibri (Headings)"/>
              </a:rPr>
              <a:t>near real-time (not real-time)</a:t>
            </a:r>
            <a:r>
              <a:rPr lang="en-US" dirty="0">
                <a:latin typeface="Calibri (Headings)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libri (Headings)"/>
              </a:rPr>
              <a:t>Incomplete YPS data</a:t>
            </a:r>
            <a:r>
              <a:rPr lang="en-US" dirty="0">
                <a:latin typeface="Calibri (Headings)"/>
              </a:rPr>
              <a:t> may fail and require </a:t>
            </a:r>
            <a:r>
              <a:rPr lang="en-US" b="1" dirty="0">
                <a:latin typeface="Calibri (Headings)"/>
              </a:rPr>
              <a:t>manual reconciliation/upload</a:t>
            </a:r>
            <a:r>
              <a:rPr lang="en-US" dirty="0">
                <a:latin typeface="Calibri (Headings)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libri (Headings)"/>
              </a:rPr>
              <a:t>Reprint function required</a:t>
            </a:r>
            <a:r>
              <a:rPr lang="en-US" dirty="0">
                <a:latin typeface="Calibri (Headings)"/>
              </a:rPr>
              <a:t> for devices without built-in printers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libri (Headings)"/>
              </a:rPr>
              <a:t>No infrastructure changes</a:t>
            </a:r>
            <a:r>
              <a:rPr lang="en-US" dirty="0">
                <a:latin typeface="Calibri (Headings)"/>
              </a:rPr>
              <a:t> (e.g., hardware upgrades) included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Calibri (Headings)"/>
              </a:rPr>
              <a:t>Future enhancements/modules</a:t>
            </a:r>
            <a:r>
              <a:rPr lang="en-US" dirty="0">
                <a:latin typeface="Calibri (Headings)"/>
              </a:rPr>
              <a:t> are not part of this phase </a:t>
            </a:r>
          </a:p>
        </p:txBody>
      </p:sp>
    </p:spTree>
    <p:extLst>
      <p:ext uri="{BB962C8B-B14F-4D97-AF65-F5344CB8AC3E}">
        <p14:creationId xmlns:p14="http://schemas.microsoft.com/office/powerpoint/2010/main" val="13861088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53FD79-DFAF-0975-69EF-FB346374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10</a:t>
            </a:fld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A3574E-BCA8-647A-9EAA-2CEFC6088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48294"/>
            <a:ext cx="10226779" cy="465975"/>
          </a:xfrm>
        </p:spPr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B4683E-03BA-A611-0997-F9DE828A7C96}"/>
              </a:ext>
            </a:extLst>
          </p:cNvPr>
          <p:cNvSpPr txBox="1"/>
          <p:nvPr/>
        </p:nvSpPr>
        <p:spPr>
          <a:xfrm>
            <a:off x="81001" y="864974"/>
            <a:ext cx="11460209" cy="59246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Calibri (Headings)"/>
              </a:rPr>
              <a:t>YPS Revamp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Adopt </a:t>
            </a:r>
            <a:r>
              <a:rPr lang="en-US" b="1" dirty="0">
                <a:latin typeface="Calibri (Headings)"/>
              </a:rPr>
              <a:t>RabbitMQ (async)</a:t>
            </a:r>
            <a:r>
              <a:rPr lang="en-US" dirty="0">
                <a:latin typeface="Calibri (Headings)"/>
              </a:rPr>
              <a:t> to split prepare &amp; process → faster response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</a:t>
            </a:r>
            <a:r>
              <a:rPr lang="en-US" b="1" dirty="0">
                <a:latin typeface="Calibri (Headings)"/>
              </a:rPr>
              <a:t>Redis caching</a:t>
            </a:r>
            <a:r>
              <a:rPr lang="en-US" dirty="0">
                <a:latin typeface="Calibri (Headings)"/>
              </a:rPr>
              <a:t> for high-frequency data access in place of fetching store/bill/product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Introduce </a:t>
            </a:r>
            <a:r>
              <a:rPr lang="en-US" b="1" dirty="0">
                <a:latin typeface="Calibri (Headings)"/>
              </a:rPr>
              <a:t>separate YPS service (microservice-ready)</a:t>
            </a:r>
            <a:r>
              <a:rPr lang="en-US" dirty="0">
                <a:latin typeface="Calibri (Headings)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  <a:latin typeface="Calibri (Headings)"/>
              </a:rPr>
              <a:t>G&amp;G Services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</a:t>
            </a:r>
            <a:r>
              <a:rPr lang="en-US" b="1" dirty="0">
                <a:latin typeface="Calibri (Headings)"/>
              </a:rPr>
              <a:t>queue-based async processing</a:t>
            </a:r>
            <a:r>
              <a:rPr lang="en-US" dirty="0">
                <a:latin typeface="Calibri (Headings)"/>
              </a:rPr>
              <a:t> for sale &amp; completion flow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Implement </a:t>
            </a:r>
            <a:r>
              <a:rPr lang="en-US" b="1" dirty="0">
                <a:latin typeface="Calibri (Headings)"/>
              </a:rPr>
              <a:t>retry mechanism</a:t>
            </a:r>
            <a:r>
              <a:rPr lang="en-US" dirty="0">
                <a:latin typeface="Calibri (Headings)"/>
              </a:rPr>
              <a:t> to prevent data loss in processing sale related operations(commission ,prefunding)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Apply </a:t>
            </a:r>
            <a:r>
              <a:rPr lang="en-US" b="1" dirty="0">
                <a:latin typeface="Calibri (Headings)"/>
              </a:rPr>
              <a:t>Redis caching</a:t>
            </a:r>
            <a:r>
              <a:rPr lang="en-US" dirty="0">
                <a:latin typeface="Calibri (Headings)"/>
              </a:rPr>
              <a:t> for high-frequency data access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Calibri (Headings)"/>
              </a:rPr>
              <a:t>Use </a:t>
            </a:r>
            <a:r>
              <a:rPr lang="en-US" b="1" dirty="0">
                <a:latin typeface="Calibri (Headings)"/>
              </a:rPr>
              <a:t>status check </a:t>
            </a:r>
            <a:r>
              <a:rPr lang="en-US" dirty="0">
                <a:latin typeface="Calibri (Headings)"/>
              </a:rPr>
              <a:t>to </a:t>
            </a:r>
            <a:r>
              <a:rPr lang="en-US" dirty="0" err="1">
                <a:latin typeface="Calibri (Headings)"/>
              </a:rPr>
              <a:t>CCNEservice</a:t>
            </a:r>
            <a:r>
              <a:rPr lang="en-US" dirty="0">
                <a:latin typeface="Calibri (Headings)"/>
              </a:rPr>
              <a:t> middle ware for </a:t>
            </a:r>
            <a:r>
              <a:rPr lang="en-US" b="1" dirty="0">
                <a:latin typeface="Calibri (Headings)"/>
              </a:rPr>
              <a:t>top up time out issues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FF0000"/>
                </a:solidFill>
              </a:rPr>
              <a:t>Sale Scheduler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Replace </a:t>
            </a:r>
            <a:r>
              <a:rPr lang="en-US" b="1" dirty="0"/>
              <a:t>single insert → batch insert (30 records)</a:t>
            </a:r>
            <a:r>
              <a:rPr lang="en-US" dirty="0"/>
              <a:t> to process more faster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Enable </a:t>
            </a:r>
            <a:r>
              <a:rPr lang="en-US" b="1" dirty="0"/>
              <a:t>async sync to AX &amp; D365</a:t>
            </a:r>
            <a:r>
              <a:rPr lang="en-US" dirty="0"/>
              <a:t> → faster processing and prevent delay  in sync</a:t>
            </a:r>
          </a:p>
          <a:p>
            <a:pPr>
              <a:lnSpc>
                <a:spcPct val="150000"/>
              </a:lnSpc>
            </a:pPr>
            <a:endParaRPr lang="en-US" b="1" dirty="0">
              <a:latin typeface="Calibri (Headings)"/>
            </a:endParaRP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35559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A218B-60FE-E60A-0F3E-7C0182F08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2DA9F6-2BEA-B047-60D3-23A45794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11</a:t>
            </a:fld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4C7B635-1912-E4A1-9A59-FFB0B088A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48294"/>
            <a:ext cx="10226779" cy="465975"/>
          </a:xfrm>
        </p:spPr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5E2067-42E3-DDF2-488A-30B226A5E1D3}"/>
              </a:ext>
            </a:extLst>
          </p:cNvPr>
          <p:cNvSpPr txBox="1"/>
          <p:nvPr/>
        </p:nvSpPr>
        <p:spPr>
          <a:xfrm>
            <a:off x="319898" y="1062682"/>
            <a:ext cx="1122954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Eventual consistency model</a:t>
            </a:r>
            <a:r>
              <a:rPr lang="en-US" altLang="en-US" sz="1400" dirty="0">
                <a:latin typeface="Arial" panose="020B0604020202020204" pitchFamily="34" charset="0"/>
              </a:rPr>
              <a:t> → temporary data mismatch possible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Queue dependency</a:t>
            </a:r>
            <a:r>
              <a:rPr lang="en-US" altLang="en-US" sz="1400" dirty="0">
                <a:latin typeface="Arial" panose="020B0604020202020204" pitchFamily="34" charset="0"/>
              </a:rPr>
              <a:t> → requires DLQ, retry, and monitoring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Retry mechanism</a:t>
            </a:r>
            <a:r>
              <a:rPr lang="en-US" altLang="en-US" sz="1400" dirty="0">
                <a:latin typeface="Arial" panose="020B0604020202020204" pitchFamily="34" charset="0"/>
              </a:rPr>
              <a:t> → risk of duplication without idempotency control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Redis dependency</a:t>
            </a:r>
            <a:r>
              <a:rPr lang="en-US" altLang="en-US" sz="1400" dirty="0">
                <a:latin typeface="Arial" panose="020B0604020202020204" pitchFamily="34" charset="0"/>
              </a:rPr>
              <a:t> → cache failure may impact performance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Increased system complexity</a:t>
            </a:r>
            <a:r>
              <a:rPr lang="en-US" altLang="en-US" sz="1400" dirty="0">
                <a:latin typeface="Arial" panose="020B0604020202020204" pitchFamily="34" charset="0"/>
              </a:rPr>
              <a:t> → requires monitoring &amp; operational readiness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400" b="1" dirty="0">
                <a:latin typeface="Arial" panose="020B0604020202020204" pitchFamily="34" charset="0"/>
              </a:rPr>
              <a:t>External system dependency (YPS, AX, D365)</a:t>
            </a:r>
            <a:r>
              <a:rPr lang="en-US" altLang="en-US" sz="1400" dirty="0">
                <a:latin typeface="Arial" panose="020B0604020202020204" pitchFamily="34" charset="0"/>
              </a:rPr>
              <a:t> → limited control over failures </a:t>
            </a:r>
          </a:p>
          <a:p>
            <a:endParaRPr lang="en-US" sz="1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18470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A1ABD3-2224-FCAA-C067-563A2AFC6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422F2-7454-7627-91EE-5B441571B8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Overview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8D813-E260-6A78-12E5-9DE07D2C4C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674" y="823783"/>
            <a:ext cx="7503418" cy="589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A7A9FD-FB06-025D-0BC0-6D810A98D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B4B551-2D82-43A4-DBF1-6DC94D98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7450C6-326F-AD3F-B9F6-70637D8AD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Level Architecture (Existing System)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E667BF6-74CE-3AEC-E48C-8B55985161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670" y="518160"/>
            <a:ext cx="8875059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87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D99018-257E-E80B-CC48-12AEEEDA4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F683D-1547-ED8B-AFDE-8F3ED9815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Level Architecture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0D95494-16A1-6F26-8B88-82C9081679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360" y="602501"/>
            <a:ext cx="8605669" cy="618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87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55D4C7-5BB5-FF19-92CE-65503AB7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A27D2-3989-9BB6-7123-D448AD8D2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Components (Component Diagram for YPS)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1C3E2FF-EADC-7156-5CEF-7EEA1AEFE8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3437" b="519"/>
          <a:stretch>
            <a:fillRect/>
          </a:stretch>
        </p:blipFill>
        <p:spPr>
          <a:xfrm>
            <a:off x="0" y="1018953"/>
            <a:ext cx="11841480" cy="5618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90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646CA-2DB2-33B4-AC79-AB8522E2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091DDC-64D3-AEC1-3001-CD5C4DC4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1F56-C17A-0D2D-1D42-8B981DBEB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Components (Component Diagram for G&amp;G)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4C66465-9570-8A53-6318-2651F63C00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0978" y="868680"/>
            <a:ext cx="8875059" cy="6314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740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F9569-F8B4-0BF2-1E8D-51494CCC2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C7AF08-CC6B-1C1E-F76C-60D49FE7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9A210-0A55-C414-8A7D-7C139E7E9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Components (Component Diagram for </a:t>
            </a:r>
            <a:r>
              <a:rPr lang="en-US" dirty="0" err="1"/>
              <a:t>TXData</a:t>
            </a:r>
            <a:r>
              <a:rPr lang="en-US" dirty="0"/>
              <a:t> Service)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EE2F52-1708-EBCE-5894-73B14C549B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0" b="28889"/>
          <a:stretch>
            <a:fillRect/>
          </a:stretch>
        </p:blipFill>
        <p:spPr>
          <a:xfrm>
            <a:off x="477371" y="1120140"/>
            <a:ext cx="887237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017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D5D123-49E2-F0CE-4FE5-17CB1B0F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18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B25EF-88E3-154B-60A8-18D70F3CB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Swimlane for YPS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8D3F118-EF49-0612-6DFA-D994B14630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57" y="922236"/>
            <a:ext cx="8997950" cy="531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1316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7F542-DBA0-9524-16FC-BA6B1D1F1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C7ABCC-1FA1-BB35-E175-D6B2530F6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C21FC-36FD-7EA7-C46A-F92486BE0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74446" y="136524"/>
            <a:ext cx="10226779" cy="465975"/>
          </a:xfrm>
        </p:spPr>
        <p:txBody>
          <a:bodyPr/>
          <a:lstStyle/>
          <a:p>
            <a:r>
              <a:rPr lang="en-US" dirty="0"/>
              <a:t>Swimlane for G&amp;G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D3B60-BCF5-7960-0C10-EB23FFDE8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67" y="880922"/>
            <a:ext cx="9867903" cy="519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062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E4CD2-6DA4-5828-03EB-A83EFA0BA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0D2593-3236-AF29-9CD3-BFC608BDA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086ED-0EC8-C07D-3DBA-4E15454D65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Sequence Diagram for </a:t>
            </a:r>
            <a:r>
              <a:rPr lang="en-US" dirty="0" err="1"/>
              <a:t>SaleScheduler</a:t>
            </a:r>
            <a:r>
              <a:rPr lang="en-US" dirty="0"/>
              <a:t> Async Process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3F44D69-DFC5-054D-429F-68AD9311DB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83" t="4445" r="32946" b="43222"/>
          <a:stretch>
            <a:fillRect/>
          </a:stretch>
        </p:blipFill>
        <p:spPr>
          <a:xfrm>
            <a:off x="403861" y="922020"/>
            <a:ext cx="10325100" cy="5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7197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6D1A3D-D8D1-97E3-EFD0-0A8F2EB4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407A6-CDE3-D3A9-EF51-C54D92FB1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C24B08-DA01-73AC-1513-84EF5BF1B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2491" y="1031782"/>
            <a:ext cx="7743780" cy="4953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69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AC1D7-8B9B-2FE3-8DE6-462640D32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8D5A31-6756-771A-CA5F-DAC632D73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22</a:t>
            </a:fld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4B07FF3-4157-3B53-14F1-B687BCA36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48294"/>
            <a:ext cx="10226779" cy="465975"/>
          </a:xfrm>
        </p:spPr>
        <p:txBody>
          <a:bodyPr/>
          <a:lstStyle/>
          <a:p>
            <a:r>
              <a:rPr lang="en-US" dirty="0"/>
              <a:t>Transaction Strategy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BECB7C-3CEE-456B-0C0C-5A1D94EC6D6A}"/>
              </a:ext>
            </a:extLst>
          </p:cNvPr>
          <p:cNvSpPr txBox="1"/>
          <p:nvPr/>
        </p:nvSpPr>
        <p:spPr>
          <a:xfrm>
            <a:off x="81001" y="864974"/>
            <a:ext cx="11460209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Phase 1 – Stabilization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Archive low business-dependency tables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Add required indexes for high-frequency queries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Refactor and optimize current voucher, subscription, </a:t>
            </a:r>
            <a:r>
              <a:rPr lang="en-US" dirty="0" err="1"/>
              <a:t>MMBus</a:t>
            </a:r>
            <a:r>
              <a:rPr lang="en-US" dirty="0"/>
              <a:t> ticket, and cash in/out flows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Align with business on retention and archival strategy for sale data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Outcome:</a:t>
            </a:r>
            <a:r>
              <a:rPr lang="en-US" dirty="0"/>
              <a:t> immediate performance improvement and reduced database pressure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Phase 2 – YPS Revamp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Implement separate YPS service with dedicated database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Introduce RabbitMQ and Redis for YPS processing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Establish archival and access strategy for sale-related YPS data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Outcome:</a:t>
            </a:r>
            <a:r>
              <a:rPr lang="en-US" dirty="0"/>
              <a:t> reduce YPS timeout/data-loss risk and improve scalability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b="1" dirty="0">
              <a:latin typeface="Calibri (Headings)"/>
            </a:endParaRP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36312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00000-CC73-BCB8-EA55-393DA9549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86C52F-2BEF-E757-E07D-1D1C5D5E8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23</a:t>
            </a:fld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AED2E84-2AAE-4B1A-6876-97CFB7B1D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48294"/>
            <a:ext cx="10226779" cy="465975"/>
          </a:xfrm>
        </p:spPr>
        <p:txBody>
          <a:bodyPr/>
          <a:lstStyle/>
          <a:p>
            <a:r>
              <a:rPr lang="en-US" dirty="0"/>
              <a:t>Transaction Strategy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27711F-D987-56A6-F5FA-58DD9C955B5D}"/>
              </a:ext>
            </a:extLst>
          </p:cNvPr>
          <p:cNvSpPr txBox="1"/>
          <p:nvPr/>
        </p:nvSpPr>
        <p:spPr>
          <a:xfrm>
            <a:off x="81002" y="847151"/>
            <a:ext cx="1146020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Phase 3 – Scheduler Enhancement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Enhance scheduler flow with async processing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Implement batch insert for AX and D365 synchronization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Outcome:</a:t>
            </a:r>
            <a:r>
              <a:rPr lang="en-US" dirty="0"/>
              <a:t> faster and more reliable ERP sync with less operational delay</a:t>
            </a: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Phase 4 – G&amp;G 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Eservice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 Enhancement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Introduce queue-based processing for G&amp;G </a:t>
            </a:r>
            <a:r>
              <a:rPr lang="en-US" dirty="0" err="1"/>
              <a:t>Eservice</a:t>
            </a:r>
            <a:r>
              <a:rPr lang="en-US" dirty="0"/>
              <a:t> flows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Apply Redis caching for high-frequency reference data access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Outcome:</a:t>
            </a:r>
            <a:r>
              <a:rPr lang="en-US" dirty="0"/>
              <a:t> improve transaction response time, resilience, and future scalability</a:t>
            </a:r>
          </a:p>
          <a:p>
            <a:pPr>
              <a:lnSpc>
                <a:spcPct val="150000"/>
              </a:lnSpc>
            </a:pPr>
            <a:endParaRPr lang="en-US" dirty="0">
              <a:latin typeface="Calibri (Headings)"/>
            </a:endParaRPr>
          </a:p>
          <a:p>
            <a:pPr>
              <a:lnSpc>
                <a:spcPct val="150000"/>
              </a:lnSpc>
            </a:pPr>
            <a:endParaRPr lang="en-US" dirty="0"/>
          </a:p>
          <a:p>
            <a:pPr>
              <a:lnSpc>
                <a:spcPct val="150000"/>
              </a:lnSpc>
            </a:pPr>
            <a:endParaRPr lang="en-US" b="1" dirty="0">
              <a:latin typeface="Calibri (Headings)"/>
            </a:endParaRP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21994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86AEC2E-9D21-4669-85D3-73EF3BB5D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814574"/>
              </p:ext>
            </p:extLst>
          </p:nvPr>
        </p:nvGraphicFramePr>
        <p:xfrm>
          <a:off x="81002" y="1057418"/>
          <a:ext cx="7257058" cy="382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318">
                  <a:extLst>
                    <a:ext uri="{9D8B030D-6E8A-4147-A177-3AD203B41FA5}">
                      <a16:colId xmlns:a16="http://schemas.microsoft.com/office/drawing/2014/main" val="37560991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944906923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926208245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1934700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Technology/Tools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750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React 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VSCode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2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Application Platform 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Backend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Java(Spring Boot)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Intellij</a:t>
                      </a:r>
                      <a:r>
                        <a:rPr lang="en-US" sz="1300" dirty="0"/>
                        <a:t>, </a:t>
                      </a:r>
                      <a:r>
                        <a:rPr lang="en-US" sz="1300" dirty="0" err="1"/>
                        <a:t>VSCode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61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Ali Cloud Kubernetes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48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Data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Backend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ApsaraDB</a:t>
                      </a:r>
                      <a:r>
                        <a:rPr lang="en-US" sz="1300" dirty="0"/>
                        <a:t> For 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726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Message Broker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Rabbit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131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Cache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Redis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5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Integration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WSO2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713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Interfacing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675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API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Swagger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036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361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98AE5EF-5909-EC42-BCAA-9907DC0D4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79329"/>
              </p:ext>
            </p:extLst>
          </p:nvPr>
        </p:nvGraphicFramePr>
        <p:xfrm>
          <a:off x="144779" y="1143001"/>
          <a:ext cx="9406990" cy="29832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232">
                  <a:extLst>
                    <a:ext uri="{9D8B030D-6E8A-4147-A177-3AD203B41FA5}">
                      <a16:colId xmlns:a16="http://schemas.microsoft.com/office/drawing/2014/main" val="2048063751"/>
                    </a:ext>
                  </a:extLst>
                </a:gridCol>
                <a:gridCol w="2628746">
                  <a:extLst>
                    <a:ext uri="{9D8B030D-6E8A-4147-A177-3AD203B41FA5}">
                      <a16:colId xmlns:a16="http://schemas.microsoft.com/office/drawing/2014/main" val="3374596826"/>
                    </a:ext>
                  </a:extLst>
                </a:gridCol>
                <a:gridCol w="1160104">
                  <a:extLst>
                    <a:ext uri="{9D8B030D-6E8A-4147-A177-3AD203B41FA5}">
                      <a16:colId xmlns:a16="http://schemas.microsoft.com/office/drawing/2014/main" val="1921714934"/>
                    </a:ext>
                  </a:extLst>
                </a:gridCol>
                <a:gridCol w="1193013">
                  <a:extLst>
                    <a:ext uri="{9D8B030D-6E8A-4147-A177-3AD203B41FA5}">
                      <a16:colId xmlns:a16="http://schemas.microsoft.com/office/drawing/2014/main" val="3309252802"/>
                    </a:ext>
                  </a:extLst>
                </a:gridCol>
                <a:gridCol w="1110737">
                  <a:extLst>
                    <a:ext uri="{9D8B030D-6E8A-4147-A177-3AD203B41FA5}">
                      <a16:colId xmlns:a16="http://schemas.microsoft.com/office/drawing/2014/main" val="503383076"/>
                    </a:ext>
                  </a:extLst>
                </a:gridCol>
                <a:gridCol w="637644">
                  <a:extLst>
                    <a:ext uri="{9D8B030D-6E8A-4147-A177-3AD203B41FA5}">
                      <a16:colId xmlns:a16="http://schemas.microsoft.com/office/drawing/2014/main" val="3325115333"/>
                    </a:ext>
                  </a:extLst>
                </a:gridCol>
                <a:gridCol w="2114514">
                  <a:extLst>
                    <a:ext uri="{9D8B030D-6E8A-4147-A177-3AD203B41FA5}">
                      <a16:colId xmlns:a16="http://schemas.microsoft.com/office/drawing/2014/main" val="3942792913"/>
                    </a:ext>
                  </a:extLst>
                </a:gridCol>
              </a:tblGrid>
              <a:tr h="3715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vCPU(Cores)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Memory(GB)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Storage (GB)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1727"/>
                  </a:ext>
                </a:extLst>
              </a:tr>
              <a:tr h="371580">
                <a:tc>
                  <a:txBody>
                    <a:bodyPr/>
                    <a:lstStyle/>
                    <a:p>
                      <a:r>
                        <a:rPr lang="en-US" sz="13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ACK(Kubernetes Cluster)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3 nodes cluster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37958"/>
                  </a:ext>
                </a:extLst>
              </a:tr>
              <a:tr h="344130">
                <a:tc>
                  <a:txBody>
                    <a:bodyPr/>
                    <a:lstStyle/>
                    <a:p>
                      <a:r>
                        <a:rPr lang="en-US" sz="13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ALB(Kubernetes ingress)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401621"/>
                  </a:ext>
                </a:extLst>
              </a:tr>
              <a:tr h="344130">
                <a:tc>
                  <a:txBody>
                    <a:bodyPr/>
                    <a:lstStyle/>
                    <a:p>
                      <a:r>
                        <a:rPr lang="en-US" sz="13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266158"/>
                  </a:ext>
                </a:extLst>
              </a:tr>
              <a:tr h="330171">
                <a:tc>
                  <a:txBody>
                    <a:bodyPr/>
                    <a:lstStyle/>
                    <a:p>
                      <a:r>
                        <a:rPr lang="en-US" sz="13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Cloud 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70364"/>
                  </a:ext>
                </a:extLst>
              </a:tr>
              <a:tr h="305408">
                <a:tc>
                  <a:txBody>
                    <a:bodyPr/>
                    <a:lstStyle/>
                    <a:p>
                      <a:r>
                        <a:rPr lang="en-US" sz="13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WSO2-Internal (Shared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649613"/>
                  </a:ext>
                </a:extLst>
              </a:tr>
              <a:tr h="305408">
                <a:tc>
                  <a:txBody>
                    <a:bodyPr/>
                    <a:lstStyle/>
                    <a:p>
                      <a:r>
                        <a:rPr lang="en-US" sz="13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WSO2-External (Shared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9185954"/>
                  </a:ext>
                </a:extLst>
              </a:tr>
              <a:tr h="305408">
                <a:tc>
                  <a:txBody>
                    <a:bodyPr/>
                    <a:lstStyle/>
                    <a:p>
                      <a:r>
                        <a:rPr lang="en-US" sz="13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200074"/>
                  </a:ext>
                </a:extLst>
              </a:tr>
              <a:tr h="305408">
                <a:tc>
                  <a:txBody>
                    <a:bodyPr/>
                    <a:lstStyle/>
                    <a:p>
                      <a:r>
                        <a:rPr lang="en-US" sz="13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Rabbit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603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24A366-1B5F-1CCD-6477-79A97E868083}"/>
              </a:ext>
            </a:extLst>
          </p:cNvPr>
          <p:cNvSpPr txBox="1"/>
          <p:nvPr/>
        </p:nvSpPr>
        <p:spPr>
          <a:xfrm>
            <a:off x="57668" y="791504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Non-Prod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89865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74E71-0A0B-7B1A-A634-3797162F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4CBBE-7501-846C-0CF3-D2B22089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BB1DC-8C9E-199B-8D7A-AA26292AA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37982-3AE2-5427-17FF-0D6D86E13B17}"/>
              </a:ext>
            </a:extLst>
          </p:cNvPr>
          <p:cNvSpPr txBox="1"/>
          <p:nvPr/>
        </p:nvSpPr>
        <p:spPr>
          <a:xfrm>
            <a:off x="144779" y="969113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Production</a:t>
            </a:r>
            <a:endParaRPr lang="en-US" sz="1500" dirty="0"/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60542F3E-122D-13D4-C076-B1F6E2190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209113"/>
              </p:ext>
            </p:extLst>
          </p:nvPr>
        </p:nvGraphicFramePr>
        <p:xfrm>
          <a:off x="327659" y="1420294"/>
          <a:ext cx="9411094" cy="2737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18">
                  <a:extLst>
                    <a:ext uri="{9D8B030D-6E8A-4147-A177-3AD203B41FA5}">
                      <a16:colId xmlns:a16="http://schemas.microsoft.com/office/drawing/2014/main" val="2048063751"/>
                    </a:ext>
                  </a:extLst>
                </a:gridCol>
                <a:gridCol w="2609813">
                  <a:extLst>
                    <a:ext uri="{9D8B030D-6E8A-4147-A177-3AD203B41FA5}">
                      <a16:colId xmlns:a16="http://schemas.microsoft.com/office/drawing/2014/main" val="3374596826"/>
                    </a:ext>
                  </a:extLst>
                </a:gridCol>
                <a:gridCol w="1200189">
                  <a:extLst>
                    <a:ext uri="{9D8B030D-6E8A-4147-A177-3AD203B41FA5}">
                      <a16:colId xmlns:a16="http://schemas.microsoft.com/office/drawing/2014/main" val="1921714934"/>
                    </a:ext>
                  </a:extLst>
                </a:gridCol>
                <a:gridCol w="1202725">
                  <a:extLst>
                    <a:ext uri="{9D8B030D-6E8A-4147-A177-3AD203B41FA5}">
                      <a16:colId xmlns:a16="http://schemas.microsoft.com/office/drawing/2014/main" val="3309252802"/>
                    </a:ext>
                  </a:extLst>
                </a:gridCol>
                <a:gridCol w="1112108">
                  <a:extLst>
                    <a:ext uri="{9D8B030D-6E8A-4147-A177-3AD203B41FA5}">
                      <a16:colId xmlns:a16="http://schemas.microsoft.com/office/drawing/2014/main" val="503383076"/>
                    </a:ext>
                  </a:extLst>
                </a:gridCol>
                <a:gridCol w="613717">
                  <a:extLst>
                    <a:ext uri="{9D8B030D-6E8A-4147-A177-3AD203B41FA5}">
                      <a16:colId xmlns:a16="http://schemas.microsoft.com/office/drawing/2014/main" val="3325115333"/>
                    </a:ext>
                  </a:extLst>
                </a:gridCol>
                <a:gridCol w="2117124">
                  <a:extLst>
                    <a:ext uri="{9D8B030D-6E8A-4147-A177-3AD203B41FA5}">
                      <a16:colId xmlns:a16="http://schemas.microsoft.com/office/drawing/2014/main" val="3942792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vCPU (Cores)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Memory(GB)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Storage (GB)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1727"/>
                  </a:ext>
                </a:extLst>
              </a:tr>
              <a:tr h="339727">
                <a:tc>
                  <a:txBody>
                    <a:bodyPr/>
                    <a:lstStyle/>
                    <a:p>
                      <a:r>
                        <a:rPr lang="en-US" sz="13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ACK(Kubernetes Cluster)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3 nodes cluster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37958"/>
                  </a:ext>
                </a:extLst>
              </a:tr>
              <a:tr h="288324">
                <a:tc>
                  <a:txBody>
                    <a:bodyPr/>
                    <a:lstStyle/>
                    <a:p>
                      <a:r>
                        <a:rPr lang="en-US" sz="13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123329"/>
                  </a:ext>
                </a:extLst>
              </a:tr>
              <a:tr h="288324">
                <a:tc>
                  <a:txBody>
                    <a:bodyPr/>
                    <a:lstStyle/>
                    <a:p>
                      <a:r>
                        <a:rPr lang="en-US" sz="13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ALB (Kubernetes ingress)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141497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r>
                        <a:rPr lang="en-US" sz="13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WSO2-Internal(Shared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1482654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r>
                        <a:rPr lang="en-US" sz="1300" dirty="0"/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WSO2-External(Shared Service)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0541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r>
                        <a:rPr lang="en-US" sz="13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145469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r>
                        <a:rPr lang="en-US" sz="13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Cloud 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340554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r>
                        <a:rPr lang="en-US" sz="13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Rabbit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521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096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APIs For refactoring &amp; revamp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682D5B-10CB-4BA0-1FBF-944A9CED5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273000"/>
              </p:ext>
            </p:extLst>
          </p:nvPr>
        </p:nvGraphicFramePr>
        <p:xfrm>
          <a:off x="81002" y="943091"/>
          <a:ext cx="11458575" cy="28028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614">
                  <a:extLst>
                    <a:ext uri="{9D8B030D-6E8A-4147-A177-3AD203B41FA5}">
                      <a16:colId xmlns:a16="http://schemas.microsoft.com/office/drawing/2014/main" val="3324346749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4257615665"/>
                    </a:ext>
                  </a:extLst>
                </a:gridCol>
                <a:gridCol w="7958136">
                  <a:extLst>
                    <a:ext uri="{9D8B030D-6E8A-4147-A177-3AD203B41FA5}">
                      <a16:colId xmlns:a16="http://schemas.microsoft.com/office/drawing/2014/main" val="669345070"/>
                    </a:ext>
                  </a:extLst>
                </a:gridCol>
              </a:tblGrid>
              <a:tr h="46596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No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API Name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Description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563516"/>
                  </a:ext>
                </a:extLst>
              </a:tr>
              <a:tr h="40744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billprocess</a:t>
                      </a:r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payvoucher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yanmar Text" panose="020B0502040204020203" pitchFamily="34" charset="0"/>
                        </a:rPr>
                        <a:t>To top up mobile number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29720"/>
                  </a:ext>
                </a:extLst>
              </a:tr>
              <a:tr h="385894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2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kern="100" dirty="0">
                          <a:effectLst/>
                          <a:latin typeface="Aptos" panose="020B0004020202020204" pitchFamily="34" charset="0"/>
                          <a:cs typeface="Myanmar Text" panose="020B0502040204020203" pitchFamily="34" charset="0"/>
                        </a:rPr>
                        <a:t>/</a:t>
                      </a:r>
                      <a:r>
                        <a:rPr lang="en-US" sz="1400" dirty="0" err="1"/>
                        <a:t>billprocess</a:t>
                      </a:r>
                      <a:r>
                        <a:rPr lang="en-US" sz="1400" dirty="0"/>
                        <a:t>/</a:t>
                      </a:r>
                      <a:r>
                        <a:rPr lang="en-US" sz="1400" dirty="0" err="1"/>
                        <a:t>paysubscritption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yanmar Text" panose="020B0502040204020203" pitchFamily="34" charset="0"/>
                        </a:rPr>
                        <a:t>To pay  bill for meter ,Skynet and canal plus 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6773303"/>
                  </a:ext>
                </a:extLst>
              </a:tr>
              <a:tr h="385893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3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yanmar Text" panose="020B0502040204020203" pitchFamily="34" charset="0"/>
                        </a:rPr>
                        <a:t>/</a:t>
                      </a:r>
                      <a:r>
                        <a:rPr lang="en-US" sz="1400" dirty="0" err="1"/>
                        <a:t>cashin</a:t>
                      </a:r>
                      <a:r>
                        <a:rPr lang="en-US" sz="1400" dirty="0"/>
                        <a:t>/confirm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9197797"/>
                  </a:ext>
                </a:extLst>
              </a:tr>
              <a:tr h="352338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4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/cashout/confirm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5783437"/>
                  </a:ext>
                </a:extLst>
              </a:tr>
              <a:tr h="394282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5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addprefunding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2212336"/>
                  </a:ext>
                </a:extLst>
              </a:tr>
              <a:tr h="411061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6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yanmar Text" panose="020B0502040204020203" pitchFamily="34" charset="0"/>
                        </a:rPr>
                        <a:t>/</a:t>
                      </a:r>
                      <a:r>
                        <a:rPr lang="en-US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yanmar Text" panose="020B0502040204020203" pitchFamily="34" charset="0"/>
                        </a:rPr>
                        <a:t>yps</a:t>
                      </a:r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yanmar Text" panose="020B0502040204020203" pitchFamily="34" charset="0"/>
                        </a:rPr>
                        <a:t>/</a:t>
                      </a:r>
                      <a:r>
                        <a:rPr lang="en-US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yanmar Text" panose="020B0502040204020203" pitchFamily="34" charset="0"/>
                        </a:rPr>
                        <a:t>push_money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Top up </a:t>
                      </a:r>
                      <a:r>
                        <a:rPr lang="en-US" sz="1400" dirty="0" err="1"/>
                        <a:t>yps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6857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4875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9CF22F-5AA4-B171-99C4-50EE2DCE24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47568" y="1581665"/>
            <a:ext cx="8491043" cy="1705232"/>
          </a:xfrm>
        </p:spPr>
        <p:txBody>
          <a:bodyPr/>
          <a:lstStyle/>
          <a:p>
            <a:pPr algn="ctr"/>
            <a:r>
              <a:rPr lang="en-GB" sz="3600" dirty="0">
                <a:latin typeface="Aptos Narrow" panose="020B0004020202020204" pitchFamily="34" charset="0"/>
              </a:rPr>
              <a:t>G&amp; G Data Management</a:t>
            </a: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478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6E405-AAC8-05D8-7ECE-81E9975F7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91064B-73D6-452F-64A9-1328B8A6F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D4E100-3623-3D48-9C5F-C62975D65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Database Situation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C2AD31-6C98-BA61-C179-828B8100A1FB}"/>
              </a:ext>
            </a:extLst>
          </p:cNvPr>
          <p:cNvSpPr txBox="1"/>
          <p:nvPr/>
        </p:nvSpPr>
        <p:spPr>
          <a:xfrm>
            <a:off x="267462" y="1254261"/>
            <a:ext cx="10412627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+mj-lt"/>
              </a:rPr>
              <a:t>The G&amp;G </a:t>
            </a:r>
            <a:r>
              <a:rPr lang="en-US" dirty="0" err="1">
                <a:latin typeface="+mj-lt"/>
              </a:rPr>
              <a:t>Eservice</a:t>
            </a:r>
            <a:r>
              <a:rPr lang="en-US" dirty="0">
                <a:latin typeface="+mj-lt"/>
              </a:rPr>
              <a:t> database contains several high-volume tables that are continuously growing due to daily transaction processing.</a:t>
            </a:r>
            <a:endParaRPr lang="en-US" altLang="en-US" dirty="0">
              <a:latin typeface="+mj-lt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+mj-lt"/>
              </a:rPr>
              <a:t>The system processes </a:t>
            </a:r>
            <a:r>
              <a:rPr lang="en-US" altLang="en-US" b="1" dirty="0">
                <a:latin typeface="+mj-lt"/>
              </a:rPr>
              <a:t>8,000–14,000 transactions per day</a:t>
            </a:r>
            <a:r>
              <a:rPr lang="en-US" altLang="en-US" dirty="0">
                <a:latin typeface="+mj-lt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+mj-lt"/>
              </a:rPr>
              <a:t>Around </a:t>
            </a:r>
            <a:r>
              <a:rPr lang="en-US" altLang="en-US" b="1" dirty="0">
                <a:latin typeface="+mj-lt"/>
              </a:rPr>
              <a:t>280,000 records are inserted monthly</a:t>
            </a:r>
            <a:r>
              <a:rPr lang="en-US" altLang="en-US" dirty="0">
                <a:latin typeface="+mj-lt"/>
              </a:rPr>
              <a:t> into </a:t>
            </a:r>
            <a:r>
              <a:rPr lang="en-US" altLang="en-US" dirty="0" err="1">
                <a:latin typeface="+mj-lt"/>
              </a:rPr>
              <a:t>sale_transaction</a:t>
            </a:r>
            <a:r>
              <a:rPr lang="en-US" altLang="en-US" dirty="0">
                <a:latin typeface="+mj-lt"/>
              </a:rPr>
              <a:t>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+mj-lt"/>
              </a:rPr>
              <a:t>Each transaction affects multiple related tables: </a:t>
            </a:r>
          </a:p>
          <a:p>
            <a:pPr marL="171450" lvl="0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commission_transaction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,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integration_history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yps_integration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re_print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,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prefunding_log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,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print_summary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,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workshift_action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977681-DE78-80E7-CEC5-090747F4C33D}"/>
              </a:ext>
            </a:extLst>
          </p:cNvPr>
          <p:cNvSpPr txBox="1"/>
          <p:nvPr/>
        </p:nvSpPr>
        <p:spPr>
          <a:xfrm>
            <a:off x="267462" y="884929"/>
            <a:ext cx="60944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About Large Data Volume &amp; Increasing Transaction Load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3197C8-6CDD-0941-C75B-D54F40F0EB16}"/>
              </a:ext>
            </a:extLst>
          </p:cNvPr>
          <p:cNvSpPr txBox="1"/>
          <p:nvPr/>
        </p:nvSpPr>
        <p:spPr>
          <a:xfrm>
            <a:off x="267462" y="4438145"/>
            <a:ext cx="10636860" cy="1295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solidFill>
                  <a:schemeClr val="accent6">
                    <a:lumMod val="75000"/>
                  </a:schemeClr>
                </a:solidFill>
                <a:latin typeface="Calibri (Headings)"/>
              </a:rPr>
              <a:t>Key Problem with  Large Data Volumes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Calibri (Headings)"/>
              </a:rPr>
              <a:t>Performance &amp; Scalability issues </a:t>
            </a:r>
            <a:r>
              <a:rPr lang="en-US" dirty="0">
                <a:latin typeface="Calibri (Headings)"/>
              </a:rPr>
              <a:t>-</a:t>
            </a:r>
            <a:r>
              <a:rPr lang="en-US" b="1" dirty="0">
                <a:latin typeface="Calibri (Headings)"/>
              </a:rPr>
              <a:t>Growing</a:t>
            </a:r>
            <a:r>
              <a:rPr lang="en-US" dirty="0">
                <a:latin typeface="Calibri (Headings)"/>
              </a:rPr>
              <a:t> data volume </a:t>
            </a:r>
            <a:r>
              <a:rPr lang="en-US" b="1" dirty="0">
                <a:latin typeface="Calibri (Headings)"/>
              </a:rPr>
              <a:t>impacts</a:t>
            </a:r>
            <a:r>
              <a:rPr lang="en-US" dirty="0">
                <a:latin typeface="Calibri (Headings)"/>
              </a:rPr>
              <a:t> on query </a:t>
            </a:r>
            <a:r>
              <a:rPr lang="en-US" b="1" dirty="0">
                <a:latin typeface="Calibri (Headings)"/>
              </a:rPr>
              <a:t>performance</a:t>
            </a:r>
            <a:r>
              <a:rPr lang="en-US" dirty="0">
                <a:latin typeface="Calibri (Headings)"/>
              </a:rPr>
              <a:t> , ERP </a:t>
            </a:r>
            <a:r>
              <a:rPr lang="en-US" b="1" dirty="0">
                <a:latin typeface="Calibri (Headings)"/>
              </a:rPr>
              <a:t>sync</a:t>
            </a:r>
            <a:r>
              <a:rPr lang="en-US" dirty="0">
                <a:latin typeface="Calibri (Headings)"/>
              </a:rPr>
              <a:t> performance , report generation speed and  system scalability.</a:t>
            </a:r>
          </a:p>
        </p:txBody>
      </p:sp>
    </p:spTree>
    <p:extLst>
      <p:ext uri="{BB962C8B-B14F-4D97-AF65-F5344CB8AC3E}">
        <p14:creationId xmlns:p14="http://schemas.microsoft.com/office/powerpoint/2010/main" val="777141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93E78-33EF-AB1E-ECE7-200961025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8FE512-6FBF-1DD3-D0DB-90EAEC82F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F6BE7-6CCD-4586-049A-15870D20D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Performance Issue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27E361-9E60-C76E-40A2-199FFBD77473}"/>
              </a:ext>
            </a:extLst>
          </p:cNvPr>
          <p:cNvSpPr txBox="1"/>
          <p:nvPr/>
        </p:nvSpPr>
        <p:spPr>
          <a:xfrm>
            <a:off x="644032" y="913835"/>
            <a:ext cx="10412627" cy="5678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latin typeface="+mj-lt"/>
              </a:rPr>
              <a:t>Example: Print Summary Bottleneck</a:t>
            </a:r>
            <a:endParaRPr lang="en-US" dirty="0">
              <a:latin typeface="+mj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dirty="0">
                <a:latin typeface="+mj-lt"/>
              </a:rPr>
              <a:t>For each sale transaction: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System performs </a:t>
            </a:r>
            <a:r>
              <a:rPr lang="en-US" b="1" dirty="0">
                <a:latin typeface="+mj-lt"/>
              </a:rPr>
              <a:t>lookup on </a:t>
            </a:r>
            <a:r>
              <a:rPr lang="en-US" b="1" dirty="0" err="1">
                <a:latin typeface="+mj-lt"/>
              </a:rPr>
              <a:t>print_summary</a:t>
            </a:r>
            <a:r>
              <a:rPr lang="en-US" dirty="0">
                <a:latin typeface="+mj-lt"/>
              </a:rPr>
              <a:t> 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Condition: </a:t>
            </a:r>
            <a:r>
              <a:rPr lang="en-US" dirty="0" err="1">
                <a:latin typeface="+mj-lt"/>
              </a:rPr>
              <a:t>product_id</a:t>
            </a:r>
            <a:r>
              <a:rPr lang="en-US" dirty="0">
                <a:latin typeface="+mj-lt"/>
              </a:rPr>
              <a:t> + </a:t>
            </a:r>
            <a:r>
              <a:rPr lang="en-US" dirty="0" err="1">
                <a:latin typeface="+mj-lt"/>
              </a:rPr>
              <a:t>session_id</a:t>
            </a:r>
            <a:r>
              <a:rPr lang="en-US" dirty="0">
                <a:latin typeface="+mj-lt"/>
              </a:rPr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latin typeface="+mj-lt"/>
              </a:rPr>
              <a:t>Current issue: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These columns are </a:t>
            </a:r>
            <a:r>
              <a:rPr lang="en-US" b="1" dirty="0">
                <a:latin typeface="+mj-lt"/>
              </a:rPr>
              <a:t>not indexed</a:t>
            </a:r>
            <a:r>
              <a:rPr lang="en-US" dirty="0">
                <a:latin typeface="+mj-lt"/>
              </a:rPr>
              <a:t> 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Table size: ~</a:t>
            </a:r>
            <a:r>
              <a:rPr lang="en-US" b="1" dirty="0">
                <a:latin typeface="+mj-lt"/>
              </a:rPr>
              <a:t>2 million rows</a:t>
            </a:r>
            <a:r>
              <a:rPr lang="en-US" dirty="0">
                <a:latin typeface="+mj-lt"/>
              </a:rPr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latin typeface="+mj-lt"/>
              </a:rPr>
              <a:t>Result: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Each lookup triggers </a:t>
            </a:r>
            <a:r>
              <a:rPr lang="en-US" b="1" dirty="0">
                <a:latin typeface="+mj-lt"/>
              </a:rPr>
              <a:t>full table scan</a:t>
            </a:r>
            <a:r>
              <a:rPr lang="en-US" dirty="0">
                <a:latin typeface="+mj-lt"/>
              </a:rPr>
              <a:t> 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At </a:t>
            </a:r>
            <a:r>
              <a:rPr lang="en-US" b="1" dirty="0">
                <a:latin typeface="+mj-lt"/>
              </a:rPr>
              <a:t>500 transactions</a:t>
            </a:r>
            <a:r>
              <a:rPr lang="en-US" dirty="0">
                <a:latin typeface="+mj-lt"/>
              </a:rPr>
              <a:t>: </a:t>
            </a:r>
          </a:p>
          <a:p>
            <a:pPr lvl="2"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latin typeface="+mj-lt"/>
              </a:rPr>
              <a:t>2,000,000 × 500 = 1 billion row scans</a:t>
            </a:r>
            <a:r>
              <a:rPr lang="en-US" dirty="0">
                <a:latin typeface="+mj-lt"/>
              </a:rPr>
              <a:t>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b="1" dirty="0">
                <a:latin typeface="+mj-lt"/>
              </a:rPr>
              <a:t>Impact:</a:t>
            </a:r>
            <a:endParaRPr lang="en-US" dirty="0">
              <a:latin typeface="+mj-lt"/>
            </a:endParaRP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Severe database load 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Increased latency </a:t>
            </a:r>
          </a:p>
          <a:p>
            <a:pPr marL="742950" lvl="1" indent="-285750">
              <a:spcBef>
                <a:spcPts val="300"/>
              </a:spcBef>
              <a:spcAft>
                <a:spcPts val="300"/>
              </a:spcAft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</a:rPr>
              <a:t>Risk of system slowdown</a:t>
            </a:r>
          </a:p>
          <a:p>
            <a:pPr lvl="0" eaLnBrk="0" fontAlgn="base" hangingPunct="0">
              <a:spcBef>
                <a:spcPts val="300"/>
              </a:spcBef>
              <a:spcAft>
                <a:spcPts val="300"/>
              </a:spcAft>
            </a:pPr>
            <a:endParaRPr lang="en-US" altLang="en-US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477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84614-2D23-1ECE-38A9-F70BDEB33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31820F-FF07-2D74-847E-E068B29C4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31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2F8705-575F-F161-DC77-B710C736E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Archiving is required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ABA9E5-2A2F-DDF6-E490-D299746E62CB}"/>
              </a:ext>
            </a:extLst>
          </p:cNvPr>
          <p:cNvSpPr txBox="1"/>
          <p:nvPr/>
        </p:nvSpPr>
        <p:spPr>
          <a:xfrm>
            <a:off x="644032" y="913835"/>
            <a:ext cx="10412627" cy="3731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Current Challenges</a:t>
            </a:r>
            <a:endParaRPr lang="en-US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Continuous </a:t>
            </a:r>
            <a:r>
              <a:rPr lang="en-US" b="1" dirty="0">
                <a:latin typeface="+mj-lt"/>
              </a:rPr>
              <a:t>data growth </a:t>
            </a:r>
            <a:r>
              <a:rPr lang="en-US" dirty="0">
                <a:latin typeface="+mj-lt"/>
              </a:rPr>
              <a:t>in transactional tables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Large tables </a:t>
            </a:r>
            <a:r>
              <a:rPr lang="en-US" b="1" dirty="0">
                <a:latin typeface="+mj-lt"/>
              </a:rPr>
              <a:t>degrade query performance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Increased database </a:t>
            </a:r>
            <a:r>
              <a:rPr lang="en-US" b="1" dirty="0">
                <a:latin typeface="+mj-lt"/>
              </a:rPr>
              <a:t>resource consumption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+mj-lt"/>
              </a:rPr>
              <a:t>Difficult to scale with future expansion (</a:t>
            </a:r>
            <a:r>
              <a:rPr lang="en-US" b="1" dirty="0">
                <a:latin typeface="+mj-lt"/>
              </a:rPr>
              <a:t>500+ stores</a:t>
            </a:r>
            <a:r>
              <a:rPr lang="en-US" dirty="0">
                <a:latin typeface="+mj-lt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+mj-lt"/>
              </a:rPr>
              <a:t>Conclusion:</a:t>
            </a:r>
            <a:endParaRPr lang="en-US" dirty="0">
              <a:latin typeface="+mj-lt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+mj-lt"/>
              </a:rPr>
              <a:t>Without data archiving and indexing, </a:t>
            </a:r>
            <a:r>
              <a:rPr lang="en-US" dirty="0">
                <a:latin typeface="+mj-lt"/>
              </a:rPr>
              <a:t>system performance will continue to </a:t>
            </a:r>
            <a:r>
              <a:rPr lang="en-US" b="1" dirty="0">
                <a:latin typeface="+mj-lt"/>
              </a:rPr>
              <a:t>degrad</a:t>
            </a:r>
            <a:r>
              <a:rPr lang="en-US" dirty="0">
                <a:latin typeface="+mj-lt"/>
              </a:rPr>
              <a:t>e as </a:t>
            </a:r>
            <a:r>
              <a:rPr lang="en-US" b="1" dirty="0">
                <a:latin typeface="+mj-lt"/>
              </a:rPr>
              <a:t>transaction volume increases.</a:t>
            </a:r>
          </a:p>
          <a:p>
            <a:pPr lvl="0" eaLnBrk="0" fontAlgn="base" hangingPunct="0">
              <a:spcBef>
                <a:spcPts val="300"/>
              </a:spcBef>
              <a:spcAft>
                <a:spcPts val="300"/>
              </a:spcAft>
            </a:pPr>
            <a:endParaRPr lang="en-US" altLang="en-US" dirty="0">
              <a:latin typeface="+mj-lt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210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74D63-9CBF-91ED-0CA4-CF8E97480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8070D-2D47-88A9-C5E0-A4E67370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7D9EF-D1A2-B4FD-0932-73AA84671F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Large Volume table status with propose retention plan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E9FDEC-1F90-DF19-160C-64C29CFD4AB4}"/>
              </a:ext>
            </a:extLst>
          </p:cNvPr>
          <p:cNvSpPr txBox="1"/>
          <p:nvPr/>
        </p:nvSpPr>
        <p:spPr>
          <a:xfrm>
            <a:off x="609599" y="1015483"/>
            <a:ext cx="1041262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C0C7968-49DC-831B-68F5-7EC40BEF38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695490"/>
              </p:ext>
            </p:extLst>
          </p:nvPr>
        </p:nvGraphicFramePr>
        <p:xfrm>
          <a:off x="212344" y="878997"/>
          <a:ext cx="10824464" cy="35069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0384">
                  <a:extLst>
                    <a:ext uri="{9D8B030D-6E8A-4147-A177-3AD203B41FA5}">
                      <a16:colId xmlns:a16="http://schemas.microsoft.com/office/drawing/2014/main" val="1938797340"/>
                    </a:ext>
                  </a:extLst>
                </a:gridCol>
                <a:gridCol w="2254497">
                  <a:extLst>
                    <a:ext uri="{9D8B030D-6E8A-4147-A177-3AD203B41FA5}">
                      <a16:colId xmlns:a16="http://schemas.microsoft.com/office/drawing/2014/main" val="1983860111"/>
                    </a:ext>
                  </a:extLst>
                </a:gridCol>
                <a:gridCol w="1351114">
                  <a:extLst>
                    <a:ext uri="{9D8B030D-6E8A-4147-A177-3AD203B41FA5}">
                      <a16:colId xmlns:a16="http://schemas.microsoft.com/office/drawing/2014/main" val="528643849"/>
                    </a:ext>
                  </a:extLst>
                </a:gridCol>
                <a:gridCol w="1597325">
                  <a:extLst>
                    <a:ext uri="{9D8B030D-6E8A-4147-A177-3AD203B41FA5}">
                      <a16:colId xmlns:a16="http://schemas.microsoft.com/office/drawing/2014/main" val="1154069943"/>
                    </a:ext>
                  </a:extLst>
                </a:gridCol>
                <a:gridCol w="1225897">
                  <a:extLst>
                    <a:ext uri="{9D8B030D-6E8A-4147-A177-3AD203B41FA5}">
                      <a16:colId xmlns:a16="http://schemas.microsoft.com/office/drawing/2014/main" val="3273392666"/>
                    </a:ext>
                  </a:extLst>
                </a:gridCol>
                <a:gridCol w="3355247">
                  <a:extLst>
                    <a:ext uri="{9D8B030D-6E8A-4147-A177-3AD203B41FA5}">
                      <a16:colId xmlns:a16="http://schemas.microsoft.com/office/drawing/2014/main" val="4067158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Business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Table Name</a:t>
                      </a:r>
                    </a:p>
                    <a:p>
                      <a:r>
                        <a:rPr lang="en-US" dirty="0"/>
                        <a:t>(immediate archive)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Row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After </a:t>
                      </a:r>
                    </a:p>
                    <a:p>
                      <a:r>
                        <a:rPr lang="en-US" dirty="0"/>
                        <a:t>Archive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Propose </a:t>
                      </a:r>
                    </a:p>
                    <a:p>
                      <a:r>
                        <a:rPr lang="en-US" dirty="0"/>
                        <a:t>Retention</a:t>
                      </a:r>
                    </a:p>
                    <a:p>
                      <a:r>
                        <a:rPr lang="en-US" dirty="0"/>
                        <a:t>Period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610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 err="1">
                          <a:solidFill>
                            <a:schemeClr val="bg1"/>
                          </a:solidFill>
                          <a:effectLst/>
                        </a:rPr>
                        <a:t>print_summary</a:t>
                      </a:r>
                      <a:endParaRPr lang="en-US" sz="16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>
                          <a:effectLst/>
                        </a:rPr>
                        <a:t>2,246,923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600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Shop level sale check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293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 err="1">
                          <a:solidFill>
                            <a:schemeClr val="bg1"/>
                          </a:solidFill>
                          <a:effectLst/>
                        </a:rPr>
                        <a:t>yps_integration</a:t>
                      </a:r>
                      <a:endParaRPr lang="en-US" sz="16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>
                          <a:effectLst/>
                        </a:rPr>
                        <a:t>51,677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YPS 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528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 err="1">
                          <a:solidFill>
                            <a:schemeClr val="bg1"/>
                          </a:solidFill>
                          <a:effectLst/>
                        </a:rPr>
                        <a:t>integration_history</a:t>
                      </a:r>
                      <a:endParaRPr lang="en-US" sz="16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>
                          <a:effectLst/>
                        </a:rPr>
                        <a:t>6,887,279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G&amp;G </a:t>
                      </a:r>
                      <a:r>
                        <a:rPr lang="en-US" dirty="0" err="1"/>
                        <a:t>Eservice</a:t>
                      </a:r>
                      <a:r>
                        <a:rPr lang="en-US" dirty="0"/>
                        <a:t> Entry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4313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 err="1">
                          <a:solidFill>
                            <a:schemeClr val="bg1"/>
                          </a:solidFill>
                          <a:effectLst/>
                        </a:rPr>
                        <a:t>re_print</a:t>
                      </a:r>
                      <a:endParaRPr lang="en-US" sz="16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>
                          <a:effectLst/>
                        </a:rPr>
                        <a:t>6,655,344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51943"/>
                  </a:ext>
                </a:extLst>
              </a:tr>
              <a:tr h="36068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 err="1">
                          <a:solidFill>
                            <a:schemeClr val="bg1"/>
                          </a:solidFill>
                          <a:effectLst/>
                        </a:rPr>
                        <a:t>prefunding_log</a:t>
                      </a:r>
                      <a:endParaRPr lang="en-US" sz="16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>
                          <a:effectLst/>
                        </a:rPr>
                        <a:t>1,649,836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516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3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prefunding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3244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 err="1">
                          <a:solidFill>
                            <a:schemeClr val="bg1"/>
                          </a:solidFill>
                          <a:effectLst/>
                        </a:rPr>
                        <a:t>work_shift_action</a:t>
                      </a:r>
                      <a:endParaRPr lang="en-US" sz="16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>
                          <a:effectLst/>
                        </a:rPr>
                        <a:t>596,665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100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Workshift</a:t>
                      </a:r>
                      <a:r>
                        <a:rPr lang="en-US" dirty="0"/>
                        <a:t> info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587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600" b="1" kern="100" dirty="0" err="1">
                          <a:solidFill>
                            <a:schemeClr val="bg1"/>
                          </a:solidFill>
                          <a:effectLst/>
                        </a:rPr>
                        <a:t>trigger_log</a:t>
                      </a:r>
                      <a:endParaRPr lang="en-US" sz="1600" b="1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>
                          <a:effectLst/>
                        </a:rPr>
                        <a:t>2,647,377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300 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 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8504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D58A57D-1E37-9BE8-C2A3-CE249E6B0DBC}"/>
              </a:ext>
            </a:extLst>
          </p:cNvPr>
          <p:cNvSpPr/>
          <p:nvPr/>
        </p:nvSpPr>
        <p:spPr>
          <a:xfrm>
            <a:off x="850392" y="6428232"/>
            <a:ext cx="228600" cy="25803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C8588-9A0A-77A2-88CB-64D0CD1696B6}"/>
              </a:ext>
            </a:extLst>
          </p:cNvPr>
          <p:cNvSpPr txBox="1"/>
          <p:nvPr/>
        </p:nvSpPr>
        <p:spPr>
          <a:xfrm>
            <a:off x="1170432" y="6428232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High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9BB917-4D53-FE24-9978-81FC7D068838}"/>
              </a:ext>
            </a:extLst>
          </p:cNvPr>
          <p:cNvSpPr/>
          <p:nvPr/>
        </p:nvSpPr>
        <p:spPr>
          <a:xfrm>
            <a:off x="1901952" y="6465443"/>
            <a:ext cx="228600" cy="25803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CD791-8E6A-071D-88CF-645E3364A05A}"/>
              </a:ext>
            </a:extLst>
          </p:cNvPr>
          <p:cNvSpPr txBox="1"/>
          <p:nvPr/>
        </p:nvSpPr>
        <p:spPr>
          <a:xfrm>
            <a:off x="2130552" y="6409794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Medium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3BC605-CBF6-46AE-EAD5-413D0A81E4A9}"/>
              </a:ext>
            </a:extLst>
          </p:cNvPr>
          <p:cNvSpPr/>
          <p:nvPr/>
        </p:nvSpPr>
        <p:spPr>
          <a:xfrm>
            <a:off x="3250692" y="6463441"/>
            <a:ext cx="228600" cy="258034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D6A9E4-08AE-DA58-58E2-4A64F464E8A3}"/>
              </a:ext>
            </a:extLst>
          </p:cNvPr>
          <p:cNvSpPr txBox="1"/>
          <p:nvPr/>
        </p:nvSpPr>
        <p:spPr>
          <a:xfrm>
            <a:off x="3593592" y="6401651"/>
            <a:ext cx="1463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C4B0AE-286D-4490-B872-49EC80F5A2CF}"/>
              </a:ext>
            </a:extLst>
          </p:cNvPr>
          <p:cNvSpPr txBox="1"/>
          <p:nvPr/>
        </p:nvSpPr>
        <p:spPr>
          <a:xfrm>
            <a:off x="342899" y="4662409"/>
            <a:ext cx="117553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 </a:t>
            </a:r>
            <a:r>
              <a:rPr lang="en-US" dirty="0" err="1">
                <a:solidFill>
                  <a:srgbClr val="FF0000"/>
                </a:solidFill>
              </a:rPr>
              <a:t>Sale_Transaction</a:t>
            </a:r>
            <a:r>
              <a:rPr lang="en-US" dirty="0"/>
              <a:t>(</a:t>
            </a:r>
            <a:r>
              <a:rPr lang="en-US" b="1" kern="100" dirty="0"/>
              <a:t>7,338,714</a:t>
            </a:r>
            <a:r>
              <a:rPr lang="en-US" dirty="0"/>
              <a:t>) , </a:t>
            </a:r>
            <a:r>
              <a:rPr lang="en-US" dirty="0" err="1">
                <a:solidFill>
                  <a:srgbClr val="FF0000"/>
                </a:solidFill>
              </a:rPr>
              <a:t>commission_transaction</a:t>
            </a:r>
            <a:r>
              <a:rPr lang="en-US" dirty="0"/>
              <a:t>(</a:t>
            </a:r>
            <a:r>
              <a:rPr lang="en-US" b="1" kern="100" dirty="0"/>
              <a:t>7,118,764</a:t>
            </a:r>
            <a:r>
              <a:rPr lang="en-US" dirty="0"/>
              <a:t>)  need to align with business and does </a:t>
            </a:r>
            <a:r>
              <a:rPr lang="en-US" b="1" i="1" dirty="0">
                <a:solidFill>
                  <a:srgbClr val="FF0000"/>
                </a:solidFill>
              </a:rPr>
              <a:t>not include </a:t>
            </a:r>
            <a:r>
              <a:rPr lang="en-US" dirty="0"/>
              <a:t>in current archiving &amp; retention</a:t>
            </a:r>
          </a:p>
        </p:txBody>
      </p:sp>
    </p:spTree>
    <p:extLst>
      <p:ext uri="{BB962C8B-B14F-4D97-AF65-F5344CB8AC3E}">
        <p14:creationId xmlns:p14="http://schemas.microsoft.com/office/powerpoint/2010/main" val="36479474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AD4D7-2F7C-1C19-2C17-4721DE3F5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414364-B294-F113-2595-971E990D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7D1155-8F24-6ACD-DAF5-B8D7EFED5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 Index for  require table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ECA897-9AFB-CAEE-53F0-5FDF9F332FBB}"/>
              </a:ext>
            </a:extLst>
          </p:cNvPr>
          <p:cNvSpPr txBox="1"/>
          <p:nvPr/>
        </p:nvSpPr>
        <p:spPr>
          <a:xfrm>
            <a:off x="609599" y="1015483"/>
            <a:ext cx="1041262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Problem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Frequent full table scans due to missing indexes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Solution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Create indexes aligned with query patterns: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7F06D1C-A4DC-AA4C-77BA-C2171B866523}"/>
              </a:ext>
            </a:extLst>
          </p:cNvPr>
          <p:cNvGraphicFramePr>
            <a:graphicFrameLocks noGrp="1"/>
          </p:cNvGraphicFramePr>
          <p:nvPr/>
        </p:nvGraphicFramePr>
        <p:xfrm>
          <a:off x="609599" y="3556867"/>
          <a:ext cx="10422128" cy="202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4497">
                  <a:extLst>
                    <a:ext uri="{9D8B030D-6E8A-4147-A177-3AD203B41FA5}">
                      <a16:colId xmlns:a16="http://schemas.microsoft.com/office/drawing/2014/main" val="1983860111"/>
                    </a:ext>
                  </a:extLst>
                </a:gridCol>
                <a:gridCol w="4299719">
                  <a:extLst>
                    <a:ext uri="{9D8B030D-6E8A-4147-A177-3AD203B41FA5}">
                      <a16:colId xmlns:a16="http://schemas.microsoft.com/office/drawing/2014/main" val="528643849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40671587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Table Name</a:t>
                      </a:r>
                    </a:p>
                    <a:p>
                      <a:r>
                        <a:rPr lang="en-US" dirty="0"/>
                        <a:t>(immediate archive)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Index Column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610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sale_transaction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 err="1">
                          <a:effectLst/>
                        </a:rPr>
                        <a:t>Store_code</a:t>
                      </a:r>
                      <a:r>
                        <a:rPr lang="en-US" sz="1800" b="1" kern="100" dirty="0">
                          <a:effectLst/>
                        </a:rPr>
                        <a:t> 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 sale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369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print_summary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Product_id</a:t>
                      </a: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1800" b="1" kern="1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Session_id</a:t>
                      </a: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in selecting record for updating summary record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293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50000"/>
                        </a:lnSpc>
                        <a:buNone/>
                      </a:pPr>
                      <a:r>
                        <a:rPr lang="en-US" sz="1600" b="0" kern="100" dirty="0" err="1">
                          <a:solidFill>
                            <a:schemeClr val="tx1"/>
                          </a:solidFill>
                          <a:effectLst/>
                        </a:rPr>
                        <a:t>work_shift_action</a:t>
                      </a:r>
                      <a:endParaRPr lang="en-US" sz="16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50000"/>
                        </a:lnSpc>
                        <a:buNone/>
                      </a:pPr>
                      <a:r>
                        <a:rPr lang="en-US" sz="1800" b="1" kern="100" dirty="0" err="1">
                          <a:effectLst/>
                        </a:rPr>
                        <a:t>Store_code</a:t>
                      </a:r>
                      <a:r>
                        <a:rPr lang="en-US" sz="1800" b="1" kern="100" dirty="0">
                          <a:effectLst/>
                        </a:rPr>
                        <a:t> + status</a:t>
                      </a:r>
                      <a:endParaRPr lang="en-US" sz="1800" b="1" kern="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in creating sale and sync to </a:t>
                      </a:r>
                      <a:r>
                        <a:rPr lang="en-US" dirty="0" err="1"/>
                        <a:t>erp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0587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9311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17A7B-B6CC-0829-1366-5A14A91EC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29BD52-F378-91D8-A899-0384B5629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BA3A1-16D5-6164-92C1-B7C7DC886F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Near-Term Stabilization (Immediate Action)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9FD224-8161-30A3-4F42-EBC27A045E39}"/>
              </a:ext>
            </a:extLst>
          </p:cNvPr>
          <p:cNvSpPr txBox="1"/>
          <p:nvPr/>
        </p:nvSpPr>
        <p:spPr>
          <a:xfrm>
            <a:off x="609599" y="1015483"/>
            <a:ext cx="10412627" cy="41088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Approach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Move data older than retention period to </a:t>
            </a:r>
            <a:r>
              <a:rPr lang="en-US" b="1" dirty="0"/>
              <a:t>archive schema</a:t>
            </a:r>
            <a:r>
              <a:rPr lang="en-US" dirty="0"/>
              <a:t>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Maintain same table structure for consistency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Ensure </a:t>
            </a:r>
            <a:r>
              <a:rPr lang="en-US" b="1" dirty="0"/>
              <a:t>no impact on live transaction processing</a:t>
            </a:r>
            <a:r>
              <a:rPr lang="en-US" dirty="0"/>
              <a:t> </a:t>
            </a:r>
          </a:p>
          <a:p>
            <a:pPr>
              <a:lnSpc>
                <a:spcPct val="150000"/>
              </a:lnSpc>
            </a:pPr>
            <a:r>
              <a:rPr lang="en-US" b="1" dirty="0"/>
              <a:t>Storage Design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Archive stored in: 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Same DB instance (separate schema) OR  table in existing database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Data Cleanup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/>
              <a:t>Remove low-value data from archive DB  at clean period 	 	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951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000635"/>
            <a:ext cx="12191999" cy="51898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84669213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9FAA4C2747084B87058E0E0A310158" ma:contentTypeVersion="17" ma:contentTypeDescription="Create a new document." ma:contentTypeScope="" ma:versionID="0d994700019694c4b789f2f92615bef0">
  <xsd:schema xmlns:xsd="http://www.w3.org/2001/XMLSchema" xmlns:xs="http://www.w3.org/2001/XMLSchema" xmlns:p="http://schemas.microsoft.com/office/2006/metadata/properties" xmlns:ns2="9fad6302-fdb1-4d2b-bae6-d2fdf9a97a42" xmlns:ns3="76bb2ce8-bb45-4930-a7cf-51d5c3ce9955" targetNamespace="http://schemas.microsoft.com/office/2006/metadata/properties" ma:root="true" ma:fieldsID="d1a30f74a7ef0c27ba753240d6a6513d" ns2:_="" ns3:_="">
    <xsd:import namespace="9fad6302-fdb1-4d2b-bae6-d2fdf9a97a42"/>
    <xsd:import namespace="76bb2ce8-bb45-4930-a7cf-51d5c3ce99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ad6302-fdb1-4d2b-bae6-d2fdf9a97a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a68c42a-fa4e-4690-8c8d-5e2b77104c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_Flow_SignoffStatus" ma:index="24" nillable="true" ma:displayName="Sign-off status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b2ce8-bb45-4930-a7cf-51d5c3ce99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c937087-0f51-406b-8ce9-5382fca5863b}" ma:internalName="TaxCatchAll" ma:showField="CatchAllData" ma:web="76bb2ce8-bb45-4930-a7cf-51d5c3ce99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ad6302-fdb1-4d2b-bae6-d2fdf9a97a42">
      <Terms xmlns="http://schemas.microsoft.com/office/infopath/2007/PartnerControls"/>
    </lcf76f155ced4ddcb4097134ff3c332f>
    <TaxCatchAll xmlns="76bb2ce8-bb45-4930-a7cf-51d5c3ce9955" xsi:nil="true"/>
    <_Flow_SignoffStatus xmlns="9fad6302-fdb1-4d2b-bae6-d2fdf9a97a42" xsi:nil="true"/>
  </documentManagement>
</p:properties>
</file>

<file path=customXml/itemProps1.xml><?xml version="1.0" encoding="utf-8"?>
<ds:datastoreItem xmlns:ds="http://schemas.openxmlformats.org/officeDocument/2006/customXml" ds:itemID="{33B31715-BA8D-4E42-B12B-716E5EB2C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ad6302-fdb1-4d2b-bae6-d2fdf9a97a42"/>
    <ds:schemaRef ds:uri="76bb2ce8-bb45-4930-a7cf-51d5c3ce99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17D971-2416-483F-8C3C-F9A2317247D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4568BD-1A8E-4633-AD94-D8FBD47F872A}">
  <ds:schemaRefs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76bb2ce8-bb45-4930-a7cf-51d5c3ce9955"/>
    <ds:schemaRef ds:uri="9fad6302-fdb1-4d2b-bae6-d2fdf9a97a42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24734</TotalTime>
  <Words>2227</Words>
  <Application>Microsoft Office PowerPoint</Application>
  <PresentationFormat>Widescreen</PresentationFormat>
  <Paragraphs>450</Paragraphs>
  <Slides>35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Aptos</vt:lpstr>
      <vt:lpstr>Aptos Narrow</vt:lpstr>
      <vt:lpstr>Arial</vt:lpstr>
      <vt:lpstr>Calibri</vt:lpstr>
      <vt:lpstr>Calibri (Headings)</vt:lpstr>
      <vt:lpstr>Courier New</vt:lpstr>
      <vt:lpstr>Times New Roman</vt:lpstr>
      <vt:lpstr>Wingdings</vt:lpstr>
      <vt:lpstr>6_Office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Phyo Thu Han</cp:lastModifiedBy>
  <cp:revision>225</cp:revision>
  <dcterms:created xsi:type="dcterms:W3CDTF">2021-01-16T06:03:56Z</dcterms:created>
  <dcterms:modified xsi:type="dcterms:W3CDTF">2026-04-08T18:12:49Z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0x010100159FAA4C2747084B87058E0E0A310158</vt:lpwstr>
  </property>
  <property fmtid="{D5CDD505-2E9C-101B-9397-08002B2CF9AE}" pid="3" name="MediaServiceImageTags">
    <vt:lpwstr/>
  </property>
</Properties>
</file>