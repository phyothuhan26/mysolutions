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31"/>
  </p:notesMasterIdLst>
  <p:sldIdLst>
    <p:sldId id="2145708748" r:id="rId5"/>
    <p:sldId id="2145708771" r:id="rId6"/>
    <p:sldId id="2145708772" r:id="rId7"/>
    <p:sldId id="2145708781" r:id="rId8"/>
    <p:sldId id="2145708783" r:id="rId9"/>
    <p:sldId id="2145708782" r:id="rId10"/>
    <p:sldId id="2145708750" r:id="rId11"/>
    <p:sldId id="2145708752" r:id="rId12"/>
    <p:sldId id="2145708784" r:id="rId13"/>
    <p:sldId id="2145708785" r:id="rId14"/>
    <p:sldId id="2145708761" r:id="rId15"/>
    <p:sldId id="2145708786" r:id="rId16"/>
    <p:sldId id="2145708787" r:id="rId17"/>
    <p:sldId id="2145708773" r:id="rId18"/>
    <p:sldId id="2145708791" r:id="rId19"/>
    <p:sldId id="2145708758" r:id="rId20"/>
    <p:sldId id="2145708762" r:id="rId21"/>
    <p:sldId id="2145708780" r:id="rId22"/>
    <p:sldId id="2145708779" r:id="rId23"/>
    <p:sldId id="2145708778" r:id="rId24"/>
    <p:sldId id="2145708792" r:id="rId25"/>
    <p:sldId id="2145708757" r:id="rId26"/>
    <p:sldId id="2145708788" r:id="rId27"/>
    <p:sldId id="2145708789" r:id="rId28"/>
    <p:sldId id="2145708790" r:id="rId29"/>
    <p:sldId id="214570876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87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88255" autoAdjust="0"/>
  </p:normalViewPr>
  <p:slideViewPr>
    <p:cSldViewPr snapToGrid="0">
      <p:cViewPr varScale="1">
        <p:scale>
          <a:sx n="87" d="100"/>
          <a:sy n="87" d="100"/>
        </p:scale>
        <p:origin x="437"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B89EC9-ADF7-4CD8-A359-4B3486574A56}" type="datetimeFigureOut">
              <a:rPr lang="en-US" smtClean="0"/>
              <a:t>3/26/2026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80750-FA6C-4B62-A27E-0AEE5A77FE02}" type="slidenum">
              <a:rPr lang="en-US" smtClean="0"/>
              <a:t>‹#›</a:t>
            </a:fld>
            <a:endParaRPr lang="en-US"/>
          </a:p>
        </p:txBody>
      </p:sp>
    </p:spTree>
    <p:extLst>
      <p:ext uri="{BB962C8B-B14F-4D97-AF65-F5344CB8AC3E}">
        <p14:creationId xmlns:p14="http://schemas.microsoft.com/office/powerpoint/2010/main" val="3712467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180750-FA6C-4B62-A27E-0AEE5A77FE02}" type="slidenum">
              <a:rPr lang="en-US" smtClean="0"/>
              <a:t>11</a:t>
            </a:fld>
            <a:endParaRPr lang="en-US"/>
          </a:p>
        </p:txBody>
      </p:sp>
    </p:spTree>
    <p:extLst>
      <p:ext uri="{BB962C8B-B14F-4D97-AF65-F5344CB8AC3E}">
        <p14:creationId xmlns:p14="http://schemas.microsoft.com/office/powerpoint/2010/main" val="2645628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ED0C0-594D-AD6B-1AAB-0E0EDDE488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01743D-D3DC-A77E-922F-29C8658328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B63A0CE-54D4-CCF7-737E-96547B1D4B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053D90-C47F-AB5F-FE7F-EDDFEF2775A9}"/>
              </a:ext>
            </a:extLst>
          </p:cNvPr>
          <p:cNvSpPr>
            <a:spLocks noGrp="1"/>
          </p:cNvSpPr>
          <p:nvPr>
            <p:ph type="sldNum" sz="quarter" idx="5"/>
          </p:nvPr>
        </p:nvSpPr>
        <p:spPr/>
        <p:txBody>
          <a:bodyPr/>
          <a:lstStyle/>
          <a:p>
            <a:fld id="{74180750-FA6C-4B62-A27E-0AEE5A77FE02}" type="slidenum">
              <a:rPr lang="en-US" smtClean="0"/>
              <a:t>12</a:t>
            </a:fld>
            <a:endParaRPr lang="en-US"/>
          </a:p>
        </p:txBody>
      </p:sp>
    </p:spTree>
    <p:extLst>
      <p:ext uri="{BB962C8B-B14F-4D97-AF65-F5344CB8AC3E}">
        <p14:creationId xmlns:p14="http://schemas.microsoft.com/office/powerpoint/2010/main" val="3871047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70585-199B-79AA-B53A-FE42F001B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477ED-5566-01F5-6506-B6EFDAEEFBE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AFB4DEA-C250-819F-9D90-E496250E5B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15CAD9-9363-368E-5754-060B100C69F9}"/>
              </a:ext>
            </a:extLst>
          </p:cNvPr>
          <p:cNvSpPr>
            <a:spLocks noGrp="1"/>
          </p:cNvSpPr>
          <p:nvPr>
            <p:ph type="sldNum" sz="quarter" idx="5"/>
          </p:nvPr>
        </p:nvSpPr>
        <p:spPr/>
        <p:txBody>
          <a:bodyPr/>
          <a:lstStyle/>
          <a:p>
            <a:fld id="{74180750-FA6C-4B62-A27E-0AEE5A77FE02}" type="slidenum">
              <a:rPr lang="en-US" smtClean="0"/>
              <a:t>13</a:t>
            </a:fld>
            <a:endParaRPr lang="en-US"/>
          </a:p>
        </p:txBody>
      </p:sp>
    </p:spTree>
    <p:extLst>
      <p:ext uri="{BB962C8B-B14F-4D97-AF65-F5344CB8AC3E}">
        <p14:creationId xmlns:p14="http://schemas.microsoft.com/office/powerpoint/2010/main" val="4284545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180750-FA6C-4B62-A27E-0AEE5A77FE02}" type="slidenum">
              <a:rPr lang="en-US" smtClean="0"/>
              <a:t>17</a:t>
            </a:fld>
            <a:endParaRPr lang="en-US"/>
          </a:p>
        </p:txBody>
      </p:sp>
    </p:spTree>
    <p:extLst>
      <p:ext uri="{BB962C8B-B14F-4D97-AF65-F5344CB8AC3E}">
        <p14:creationId xmlns:p14="http://schemas.microsoft.com/office/powerpoint/2010/main" val="4279810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45CF1-E897-6B2F-4523-70D3E62309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276CAA-4DE4-2550-EA74-2A2A72D344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963F645-12A9-0EFC-FF35-9409618AA9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97976C-C953-BAE6-DB4A-974F8910535B}"/>
              </a:ext>
            </a:extLst>
          </p:cNvPr>
          <p:cNvSpPr>
            <a:spLocks noGrp="1"/>
          </p:cNvSpPr>
          <p:nvPr>
            <p:ph type="sldNum" sz="quarter" idx="5"/>
          </p:nvPr>
        </p:nvSpPr>
        <p:spPr/>
        <p:txBody>
          <a:bodyPr/>
          <a:lstStyle/>
          <a:p>
            <a:fld id="{74180750-FA6C-4B62-A27E-0AEE5A77FE02}" type="slidenum">
              <a:rPr lang="en-US" smtClean="0"/>
              <a:t>18</a:t>
            </a:fld>
            <a:endParaRPr lang="en-US"/>
          </a:p>
        </p:txBody>
      </p:sp>
    </p:spTree>
    <p:extLst>
      <p:ext uri="{BB962C8B-B14F-4D97-AF65-F5344CB8AC3E}">
        <p14:creationId xmlns:p14="http://schemas.microsoft.com/office/powerpoint/2010/main" val="2256020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2C5E7-9F2B-490A-D94F-8D70754E8E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5ADEE9-69A7-3A8C-0404-849CD967847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96280D-F1C5-9264-5FD4-31D2E4A09B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69F398-F8D1-63E8-7F40-CE7F906F6666}"/>
              </a:ext>
            </a:extLst>
          </p:cNvPr>
          <p:cNvSpPr>
            <a:spLocks noGrp="1"/>
          </p:cNvSpPr>
          <p:nvPr>
            <p:ph type="sldNum" sz="quarter" idx="5"/>
          </p:nvPr>
        </p:nvSpPr>
        <p:spPr/>
        <p:txBody>
          <a:bodyPr/>
          <a:lstStyle/>
          <a:p>
            <a:fld id="{74180750-FA6C-4B62-A27E-0AEE5A77FE02}" type="slidenum">
              <a:rPr lang="en-US" smtClean="0"/>
              <a:t>19</a:t>
            </a:fld>
            <a:endParaRPr lang="en-US"/>
          </a:p>
        </p:txBody>
      </p:sp>
    </p:spTree>
    <p:extLst>
      <p:ext uri="{BB962C8B-B14F-4D97-AF65-F5344CB8AC3E}">
        <p14:creationId xmlns:p14="http://schemas.microsoft.com/office/powerpoint/2010/main" val="8456647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180750-FA6C-4B62-A27E-0AEE5A77FE02}" type="slidenum">
              <a:rPr lang="en-US" smtClean="0"/>
              <a:t>20</a:t>
            </a:fld>
            <a:endParaRPr lang="en-US"/>
          </a:p>
        </p:txBody>
      </p:sp>
    </p:spTree>
    <p:extLst>
      <p:ext uri="{BB962C8B-B14F-4D97-AF65-F5344CB8AC3E}">
        <p14:creationId xmlns:p14="http://schemas.microsoft.com/office/powerpoint/2010/main" val="3808407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AAB93-17BB-BF8C-2E83-28E0B40657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67799-8E92-4239-665D-53401C98516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7E28F0-DC8E-50B8-8768-49BE117D0E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3EBB59-74EC-BCA7-58B5-E701A4C4769A}"/>
              </a:ext>
            </a:extLst>
          </p:cNvPr>
          <p:cNvSpPr>
            <a:spLocks noGrp="1"/>
          </p:cNvSpPr>
          <p:nvPr>
            <p:ph type="sldNum" sz="quarter" idx="5"/>
          </p:nvPr>
        </p:nvSpPr>
        <p:spPr/>
        <p:txBody>
          <a:bodyPr/>
          <a:lstStyle/>
          <a:p>
            <a:fld id="{74180750-FA6C-4B62-A27E-0AEE5A77FE02}" type="slidenum">
              <a:rPr lang="en-US" smtClean="0"/>
              <a:t>21</a:t>
            </a:fld>
            <a:endParaRPr lang="en-US"/>
          </a:p>
        </p:txBody>
      </p:sp>
    </p:spTree>
    <p:extLst>
      <p:ext uri="{BB962C8B-B14F-4D97-AF65-F5344CB8AC3E}">
        <p14:creationId xmlns:p14="http://schemas.microsoft.com/office/powerpoint/2010/main" val="12327892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180750-FA6C-4B62-A27E-0AEE5A77FE02}" type="slidenum">
              <a:rPr lang="en-US" smtClean="0"/>
              <a:t>25</a:t>
            </a:fld>
            <a:endParaRPr lang="en-US"/>
          </a:p>
        </p:txBody>
      </p:sp>
    </p:spTree>
    <p:extLst>
      <p:ext uri="{BB962C8B-B14F-4D97-AF65-F5344CB8AC3E}">
        <p14:creationId xmlns:p14="http://schemas.microsoft.com/office/powerpoint/2010/main" val="4146203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63136-BFF8-EB78-2165-16658AEC1345}"/>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2AB4DD45-BABB-0DD6-2A45-730A5E2A30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A64DEE-651B-DBFF-6616-A6F7523F1B48}"/>
              </a:ext>
            </a:extLst>
          </p:cNvPr>
          <p:cNvSpPr>
            <a:spLocks noGrp="1"/>
          </p:cNvSpPr>
          <p:nvPr>
            <p:ph type="sldNum" sz="quarter" idx="12"/>
          </p:nvPr>
        </p:nvSpPr>
        <p:spPr/>
        <p:txBody>
          <a:bodyPr/>
          <a:lstStyle/>
          <a:p>
            <a:fld id="{24FE4A72-F922-477C-8EF1-5A284132E052}" type="slidenum">
              <a:rPr lang="en-US" smtClean="0"/>
              <a:t>‹#›</a:t>
            </a:fld>
            <a:endParaRPr lang="en-US"/>
          </a:p>
        </p:txBody>
      </p:sp>
    </p:spTree>
    <p:extLst>
      <p:ext uri="{BB962C8B-B14F-4D97-AF65-F5344CB8AC3E}">
        <p14:creationId xmlns:p14="http://schemas.microsoft.com/office/powerpoint/2010/main" val="3889387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86C0EAA3-C71A-43A2-91D0-C6C31102094E}"/>
              </a:ext>
            </a:extLst>
          </p:cNvPr>
          <p:cNvSpPr>
            <a:spLocks noGrp="1"/>
          </p:cNvSpPr>
          <p:nvPr>
            <p:ph type="body" sz="quarter" idx="13"/>
          </p:nvPr>
        </p:nvSpPr>
        <p:spPr>
          <a:xfrm>
            <a:off x="544635" y="3447317"/>
            <a:ext cx="7676173" cy="1893748"/>
          </a:xfrm>
        </p:spPr>
        <p:txBody>
          <a:bodyPr/>
          <a:lstStyle>
            <a:lvl1pPr>
              <a:buNone/>
              <a:defRPr sz="3600"/>
            </a:lvl1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9428A08A-DC60-4455-BFC7-21B4F189180D}" type="datetime1">
              <a:rPr lang="en-US" smtClean="0">
                <a:solidFill>
                  <a:prstClr val="black">
                    <a:tint val="75000"/>
                  </a:prstClr>
                </a:solidFill>
              </a:rPr>
              <a:t>3/26/2026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Rectangle 6"/>
          <p:cNvSpPr/>
          <p:nvPr userDrawn="1"/>
        </p:nvSpPr>
        <p:spPr>
          <a:xfrm>
            <a:off x="0" y="6408288"/>
            <a:ext cx="12192000" cy="2484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SG" sz="1800">
              <a:solidFill>
                <a:prstClr val="white"/>
              </a:solidFill>
            </a:endParaRPr>
          </a:p>
        </p:txBody>
      </p:sp>
      <p:sp>
        <p:nvSpPr>
          <p:cNvPr id="6" name="Slide Number Placeholder 5"/>
          <p:cNvSpPr>
            <a:spLocks noGrp="1"/>
          </p:cNvSpPr>
          <p:nvPr>
            <p:ph type="sldNum" sz="quarter" idx="12"/>
          </p:nvPr>
        </p:nvSpPr>
        <p:spPr/>
        <p:txBody>
          <a:bodyPr/>
          <a:lstStyle>
            <a:lvl1pPr>
              <a:defRPr/>
            </a:lvl1pPr>
          </a:lstStyle>
          <a:p>
            <a:pPr>
              <a:defRPr/>
            </a:pPr>
            <a:fld id="{4204250C-5885-48A6-8300-C696669B24AB}" type="slidenum">
              <a:rPr lang="en-US">
                <a:solidFill>
                  <a:prstClr val="white">
                    <a:lumMod val="50000"/>
                  </a:prstClr>
                </a:solidFill>
              </a:rPr>
              <a:pPr>
                <a:defRPr/>
              </a:pPr>
              <a:t>‹#›</a:t>
            </a:fld>
            <a:endParaRPr lang="en-US">
              <a:solidFill>
                <a:prstClr val="white">
                  <a:lumMod val="50000"/>
                </a:prstClr>
              </a:solidFill>
            </a:endParaRPr>
          </a:p>
        </p:txBody>
      </p:sp>
      <p:pic>
        <p:nvPicPr>
          <p:cNvPr id="12" name="Picture 11">
            <a:extLst>
              <a:ext uri="{FF2B5EF4-FFF2-40B4-BE49-F238E27FC236}">
                <a16:creationId xmlns:a16="http://schemas.microsoft.com/office/drawing/2014/main" id="{CCC60379-4B22-4A26-8D53-7990592BE2BE}"/>
              </a:ext>
            </a:extLst>
          </p:cNvPr>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320387" y="6259368"/>
            <a:ext cx="1356013" cy="508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8FA9DCE2-9A27-41CD-AA22-E05C8C5DA730}"/>
              </a:ext>
            </a:extLst>
          </p:cNvPr>
          <p:cNvSpPr/>
          <p:nvPr userDrawn="1"/>
        </p:nvSpPr>
        <p:spPr>
          <a:xfrm>
            <a:off x="0" y="410547"/>
            <a:ext cx="589497" cy="335039"/>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8BA8CB8-EDC3-4B46-9A15-ACDB3324900B}"/>
              </a:ext>
            </a:extLst>
          </p:cNvPr>
          <p:cNvSpPr/>
          <p:nvPr userDrawn="1"/>
        </p:nvSpPr>
        <p:spPr>
          <a:xfrm>
            <a:off x="0" y="0"/>
            <a:ext cx="12192000" cy="7429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SG">
              <a:solidFill>
                <a:prstClr val="white"/>
              </a:solidFill>
            </a:endParaRPr>
          </a:p>
        </p:txBody>
      </p:sp>
      <p:sp>
        <p:nvSpPr>
          <p:cNvPr id="13" name="Rectangle 12">
            <a:extLst>
              <a:ext uri="{FF2B5EF4-FFF2-40B4-BE49-F238E27FC236}">
                <a16:creationId xmlns:a16="http://schemas.microsoft.com/office/drawing/2014/main" id="{2A1BDA31-1101-46FE-8D24-6516A8D2B08F}"/>
              </a:ext>
            </a:extLst>
          </p:cNvPr>
          <p:cNvSpPr/>
          <p:nvPr userDrawn="1"/>
        </p:nvSpPr>
        <p:spPr>
          <a:xfrm>
            <a:off x="0" y="6185647"/>
            <a:ext cx="121920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SG">
              <a:solidFill>
                <a:prstClr val="white"/>
              </a:solidFill>
            </a:endParaRPr>
          </a:p>
        </p:txBody>
      </p:sp>
      <p:pic>
        <p:nvPicPr>
          <p:cNvPr id="14" name="Picture 7">
            <a:extLst>
              <a:ext uri="{FF2B5EF4-FFF2-40B4-BE49-F238E27FC236}">
                <a16:creationId xmlns:a16="http://schemas.microsoft.com/office/drawing/2014/main" id="{0D347471-B928-4112-A3B7-7591089D2ED3}"/>
              </a:ext>
            </a:extLst>
          </p:cNvPr>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539462" y="2158515"/>
            <a:ext cx="3173267" cy="118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BDBDD774-C799-4B89-A9B2-280F767B7AD9}"/>
              </a:ext>
            </a:extLst>
          </p:cNvPr>
          <p:cNvSpPr txBox="1"/>
          <p:nvPr userDrawn="1"/>
        </p:nvSpPr>
        <p:spPr>
          <a:xfrm>
            <a:off x="0" y="6629249"/>
            <a:ext cx="12192000" cy="230832"/>
          </a:xfrm>
          <a:prstGeom prst="rect">
            <a:avLst/>
          </a:prstGeom>
          <a:noFill/>
        </p:spPr>
        <p:txBody>
          <a:bodyPr wrap="square" rtlCol="0">
            <a:spAutoFit/>
          </a:bodyPr>
          <a:lstStyle/>
          <a:p>
            <a:pPr algn="ctr"/>
            <a:r>
              <a:rPr lang="en-US" sz="900" i="1">
                <a:solidFill>
                  <a:schemeClr val="bg1"/>
                </a:solidFill>
                <a:latin typeface="Arial" panose="020B0604020202020204" pitchFamily="34" charset="0"/>
                <a:cs typeface="Arial" panose="020B0604020202020204" pitchFamily="34" charset="0"/>
              </a:rPr>
              <a:t>The information on this document is confidential and proprietary to CDSG. Do not copy or distribute this document.</a:t>
            </a:r>
          </a:p>
        </p:txBody>
      </p:sp>
    </p:spTree>
    <p:extLst>
      <p:ext uri="{BB962C8B-B14F-4D97-AF65-F5344CB8AC3E}">
        <p14:creationId xmlns:p14="http://schemas.microsoft.com/office/powerpoint/2010/main" val="1517239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3C4130-7473-4328-9DB3-C3281C7D1F05}"/>
              </a:ext>
            </a:extLst>
          </p:cNvPr>
          <p:cNvSpPr/>
          <p:nvPr userDrawn="1"/>
        </p:nvSpPr>
        <p:spPr>
          <a:xfrm>
            <a:off x="0" y="6147547"/>
            <a:ext cx="121920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SG">
              <a:solidFill>
                <a:prstClr val="white"/>
              </a:solidFill>
            </a:endParaRPr>
          </a:p>
        </p:txBody>
      </p:sp>
      <p:sp>
        <p:nvSpPr>
          <p:cNvPr id="8" name="Rectangle 7">
            <a:extLst>
              <a:ext uri="{FF2B5EF4-FFF2-40B4-BE49-F238E27FC236}">
                <a16:creationId xmlns:a16="http://schemas.microsoft.com/office/drawing/2014/main" id="{D12D724A-26F3-49B6-9B01-1DED33C73C61}"/>
              </a:ext>
            </a:extLst>
          </p:cNvPr>
          <p:cNvSpPr/>
          <p:nvPr userDrawn="1"/>
        </p:nvSpPr>
        <p:spPr>
          <a:xfrm>
            <a:off x="0" y="5995147"/>
            <a:ext cx="1219200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SG">
              <a:solidFill>
                <a:prstClr val="white"/>
              </a:solidFill>
            </a:endParaRPr>
          </a:p>
        </p:txBody>
      </p:sp>
      <p:pic>
        <p:nvPicPr>
          <p:cNvPr id="9" name="Picture 8">
            <a:extLst>
              <a:ext uri="{FF2B5EF4-FFF2-40B4-BE49-F238E27FC236}">
                <a16:creationId xmlns:a16="http://schemas.microsoft.com/office/drawing/2014/main" id="{4B9C6C64-80AF-412B-BDCC-C9B570CB105D}"/>
              </a:ext>
            </a:extLst>
          </p:cNvPr>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263237" y="6011718"/>
            <a:ext cx="1748750" cy="655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Placeholder 11">
            <a:extLst>
              <a:ext uri="{FF2B5EF4-FFF2-40B4-BE49-F238E27FC236}">
                <a16:creationId xmlns:a16="http://schemas.microsoft.com/office/drawing/2014/main" id="{DE81DD9C-07D6-4C15-AFFE-0D6D655994AF}"/>
              </a:ext>
            </a:extLst>
          </p:cNvPr>
          <p:cNvSpPr>
            <a:spLocks noGrp="1"/>
          </p:cNvSpPr>
          <p:nvPr>
            <p:ph type="body" sz="quarter" idx="10"/>
          </p:nvPr>
        </p:nvSpPr>
        <p:spPr>
          <a:xfrm>
            <a:off x="508000" y="508000"/>
            <a:ext cx="7137400" cy="914400"/>
          </a:xfrm>
        </p:spPr>
        <p:txBody>
          <a:bodyPr/>
          <a:lstStyle>
            <a:lvl1pPr marL="0" indent="0">
              <a:buNone/>
              <a:defRPr sz="2800" b="1">
                <a:solidFill>
                  <a:schemeClr val="bg1"/>
                </a:solidFill>
                <a:latin typeface="Arial" panose="020B0604020202020204" pitchFamily="34" charset="0"/>
                <a:cs typeface="Arial" panose="020B0604020202020204" pitchFamily="34" charset="0"/>
              </a:defRPr>
            </a:lvl1pPr>
          </a:lstStyle>
          <a:p>
            <a:pPr lvl="0"/>
            <a:endParaRPr lang="en-US"/>
          </a:p>
        </p:txBody>
      </p:sp>
      <p:sp>
        <p:nvSpPr>
          <p:cNvPr id="3" name="TextBox 2">
            <a:extLst>
              <a:ext uri="{FF2B5EF4-FFF2-40B4-BE49-F238E27FC236}">
                <a16:creationId xmlns:a16="http://schemas.microsoft.com/office/drawing/2014/main" id="{94CA29E5-4CD2-456D-8C37-AEF850980098}"/>
              </a:ext>
            </a:extLst>
          </p:cNvPr>
          <p:cNvSpPr txBox="1"/>
          <p:nvPr userDrawn="1"/>
        </p:nvSpPr>
        <p:spPr>
          <a:xfrm>
            <a:off x="0" y="6629249"/>
            <a:ext cx="12192000" cy="230832"/>
          </a:xfrm>
          <a:prstGeom prst="rect">
            <a:avLst/>
          </a:prstGeom>
          <a:noFill/>
        </p:spPr>
        <p:txBody>
          <a:bodyPr wrap="square" rtlCol="0">
            <a:spAutoFit/>
          </a:bodyPr>
          <a:lstStyle/>
          <a:p>
            <a:pPr algn="ctr"/>
            <a:r>
              <a:rPr lang="en-US" sz="900" i="1">
                <a:solidFill>
                  <a:schemeClr val="bg1"/>
                </a:solidFill>
                <a:latin typeface="Arial" panose="020B0604020202020204" pitchFamily="34" charset="0"/>
                <a:cs typeface="Arial" panose="020B0604020202020204" pitchFamily="34" charset="0"/>
              </a:rPr>
              <a:t>The information on this document is confidential and proprietary to CDSG. Do not copy or distribute this document.</a:t>
            </a:r>
          </a:p>
        </p:txBody>
      </p:sp>
    </p:spTree>
    <p:extLst>
      <p:ext uri="{BB962C8B-B14F-4D97-AF65-F5344CB8AC3E}">
        <p14:creationId xmlns:p14="http://schemas.microsoft.com/office/powerpoint/2010/main" val="3319741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1_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1CDCD78-8B7B-4976-8AE0-648AF1DF3CEB}" type="datetime1">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288B1A-0894-4E52-95D8-2AC74CBED725}" type="slidenum">
              <a:rPr lang="en-US" smtClean="0"/>
              <a:t>‹#›</a:t>
            </a:fld>
            <a:endParaRPr lang="en-US"/>
          </a:p>
        </p:txBody>
      </p:sp>
      <p:pic>
        <p:nvPicPr>
          <p:cNvPr id="8" name="Picture 7">
            <a:extLst>
              <a:ext uri="{FF2B5EF4-FFF2-40B4-BE49-F238E27FC236}">
                <a16:creationId xmlns:a16="http://schemas.microsoft.com/office/drawing/2014/main" id="{6E5A1445-8CA7-4094-8A1D-DA20D230DC40}"/>
              </a:ext>
            </a:extLst>
          </p:cNvPr>
          <p:cNvPicPr>
            <a:picLocks noChangeAspect="1"/>
          </p:cNvPicPr>
          <p:nvPr userDrawn="1"/>
        </p:nvPicPr>
        <p:blipFill>
          <a:blip r:embed="rId2"/>
          <a:stretch>
            <a:fillRect/>
          </a:stretch>
        </p:blipFill>
        <p:spPr>
          <a:xfrm>
            <a:off x="10505838" y="-2643"/>
            <a:ext cx="1686161" cy="733528"/>
          </a:xfrm>
          <a:prstGeom prst="rect">
            <a:avLst/>
          </a:prstGeom>
        </p:spPr>
      </p:pic>
      <p:sp>
        <p:nvSpPr>
          <p:cNvPr id="9" name="Text Placeholder 2">
            <a:extLst>
              <a:ext uri="{FF2B5EF4-FFF2-40B4-BE49-F238E27FC236}">
                <a16:creationId xmlns:a16="http://schemas.microsoft.com/office/drawing/2014/main" id="{8A781350-F6E0-498B-8852-5718643728AE}"/>
              </a:ext>
            </a:extLst>
          </p:cNvPr>
          <p:cNvSpPr>
            <a:spLocks noGrp="1"/>
          </p:cNvSpPr>
          <p:nvPr>
            <p:ph type="body" idx="1"/>
          </p:nvPr>
        </p:nvSpPr>
        <p:spPr>
          <a:xfrm>
            <a:off x="81002" y="136525"/>
            <a:ext cx="10226779" cy="465975"/>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Rectangle 9">
            <a:extLst>
              <a:ext uri="{FF2B5EF4-FFF2-40B4-BE49-F238E27FC236}">
                <a16:creationId xmlns:a16="http://schemas.microsoft.com/office/drawing/2014/main" id="{8A9EBFB5-A964-42F9-B79F-978885BFC2B4}"/>
              </a:ext>
            </a:extLst>
          </p:cNvPr>
          <p:cNvSpPr/>
          <p:nvPr userDrawn="1"/>
        </p:nvSpPr>
        <p:spPr>
          <a:xfrm>
            <a:off x="81001" y="602501"/>
            <a:ext cx="10226779" cy="201064"/>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9651526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60392" y="90127"/>
            <a:ext cx="11657086" cy="508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260392" y="695618"/>
            <a:ext cx="11657086" cy="549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ptos" panose="020B0004020202020204" pitchFamily="34" charset="0"/>
                <a:cs typeface="Arial" charset="0"/>
              </a:defRPr>
            </a:lvl1pPr>
          </a:lstStyle>
          <a:p>
            <a:pPr fontAlgn="base">
              <a:spcBef>
                <a:spcPct val="0"/>
              </a:spcBef>
              <a:spcAft>
                <a:spcPct val="0"/>
              </a:spcAft>
              <a:defRPr/>
            </a:pPr>
            <a:fld id="{9F8D69B2-525F-4B3D-93C2-BAAB7414FB32}" type="datetime1">
              <a:rPr lang="en-US" smtClean="0">
                <a:solidFill>
                  <a:prstClr val="black">
                    <a:tint val="75000"/>
                  </a:prstClr>
                </a:solidFill>
              </a:rPr>
              <a:pPr fontAlgn="base">
                <a:spcBef>
                  <a:spcPct val="0"/>
                </a:spcBef>
                <a:spcAft>
                  <a:spcPct val="0"/>
                </a:spcAft>
                <a:defRPr/>
              </a:pPr>
              <a:t>3/26/2026</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hangingPunct="1">
              <a:defRPr sz="1200" dirty="0">
                <a:solidFill>
                  <a:schemeClr val="tx1">
                    <a:tint val="75000"/>
                  </a:schemeClr>
                </a:solidFill>
                <a:latin typeface="Aptos" panose="020B0004020202020204" pitchFamily="34" charset="0"/>
                <a:cs typeface="Arial" charset="0"/>
              </a:defRPr>
            </a:lvl1pPr>
          </a:lstStyle>
          <a:p>
            <a:pPr fontAlgn="base">
              <a:spcBef>
                <a:spcPct val="0"/>
              </a:spcBef>
              <a:spcAft>
                <a:spcPct val="0"/>
              </a:spcAft>
              <a:defRPr/>
            </a:pPr>
            <a:endParaRPr lang="en-US">
              <a:solidFill>
                <a:prstClr val="black">
                  <a:tint val="75000"/>
                </a:prstClr>
              </a:solidFill>
            </a:endParaRPr>
          </a:p>
        </p:txBody>
      </p:sp>
      <p:sp>
        <p:nvSpPr>
          <p:cNvPr id="9" name="Rectangle 8"/>
          <p:cNvSpPr/>
          <p:nvPr userDrawn="1"/>
        </p:nvSpPr>
        <p:spPr>
          <a:xfrm>
            <a:off x="0" y="6408288"/>
            <a:ext cx="12192000" cy="2484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SG" sz="1800">
              <a:solidFill>
                <a:prstClr val="white"/>
              </a:solidFill>
              <a:latin typeface="Aptos" panose="020B0004020202020204" pitchFamily="34" charset="0"/>
            </a:endParaRPr>
          </a:p>
        </p:txBody>
      </p:sp>
      <p:sp>
        <p:nvSpPr>
          <p:cNvPr id="6" name="Slide Number Placeholder 5"/>
          <p:cNvSpPr>
            <a:spLocks noGrp="1"/>
          </p:cNvSpPr>
          <p:nvPr>
            <p:ph type="sldNum" sz="quarter" idx="4"/>
          </p:nvPr>
        </p:nvSpPr>
        <p:spPr>
          <a:xfrm>
            <a:off x="91440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chemeClr val="bg1">
                    <a:lumMod val="50000"/>
                  </a:schemeClr>
                </a:solidFill>
                <a:latin typeface="Aptos" panose="020B0004020202020204" pitchFamily="34" charset="0"/>
              </a:defRPr>
            </a:lvl1pPr>
          </a:lstStyle>
          <a:p>
            <a:pPr fontAlgn="base">
              <a:spcBef>
                <a:spcPct val="0"/>
              </a:spcBef>
              <a:spcAft>
                <a:spcPct val="0"/>
              </a:spcAft>
              <a:defRPr/>
            </a:pPr>
            <a:fld id="{12769493-3986-45F8-8FCB-9328DFEE46FF}" type="slidenum">
              <a:rPr lang="en-US" smtClean="0">
                <a:solidFill>
                  <a:prstClr val="white">
                    <a:lumMod val="50000"/>
                  </a:prstClr>
                </a:solidFill>
                <a:cs typeface="Arial" panose="020B0604020202020204" pitchFamily="34" charset="0"/>
              </a:rPr>
              <a:pPr fontAlgn="base">
                <a:spcBef>
                  <a:spcPct val="0"/>
                </a:spcBef>
                <a:spcAft>
                  <a:spcPct val="0"/>
                </a:spcAft>
                <a:defRPr/>
              </a:pPr>
              <a:t>‹#›</a:t>
            </a:fld>
            <a:endParaRPr lang="en-US">
              <a:solidFill>
                <a:prstClr val="white">
                  <a:lumMod val="50000"/>
                </a:prstClr>
              </a:solidFill>
              <a:cs typeface="Arial" panose="020B0604020202020204" pitchFamily="34" charset="0"/>
            </a:endParaRPr>
          </a:p>
        </p:txBody>
      </p:sp>
      <p:pic>
        <p:nvPicPr>
          <p:cNvPr id="2" name="Picture 1">
            <a:extLst>
              <a:ext uri="{FF2B5EF4-FFF2-40B4-BE49-F238E27FC236}">
                <a16:creationId xmlns:a16="http://schemas.microsoft.com/office/drawing/2014/main" id="{21CC0ADF-48E4-418A-A013-832BC4C38D06}"/>
              </a:ext>
            </a:extLst>
          </p:cNvPr>
          <p:cNvPicPr>
            <a:picLocks noChangeAspect="1" noChangeArrowheads="1"/>
          </p:cNvPicPr>
          <p:nvPr userDrawn="1"/>
        </p:nvPicPr>
        <p:blipFill>
          <a:blip r:embed="rId6">
            <a:extLst>
              <a:ext uri="{28A0092B-C50C-407E-A947-70E740481C1C}">
                <a14:useLocalDpi xmlns:a14="http://schemas.microsoft.com/office/drawing/2010/main"/>
              </a:ext>
            </a:extLst>
          </a:blip>
          <a:srcRect/>
          <a:stretch>
            <a:fillRect/>
          </a:stretch>
        </p:blipFill>
        <p:spPr bwMode="auto">
          <a:xfrm>
            <a:off x="320387" y="6259368"/>
            <a:ext cx="1356013" cy="508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30EFCD6E-A29E-4E94-8D63-F18873FB12A3}"/>
              </a:ext>
            </a:extLst>
          </p:cNvPr>
          <p:cNvSpPr txBox="1"/>
          <p:nvPr userDrawn="1"/>
        </p:nvSpPr>
        <p:spPr>
          <a:xfrm>
            <a:off x="0" y="6629249"/>
            <a:ext cx="12192000" cy="230832"/>
          </a:xfrm>
          <a:prstGeom prst="rect">
            <a:avLst/>
          </a:prstGeom>
          <a:noFill/>
        </p:spPr>
        <p:txBody>
          <a:bodyPr wrap="square" rtlCol="0">
            <a:spAutoFit/>
          </a:bodyPr>
          <a:lstStyle/>
          <a:p>
            <a:pPr algn="ctr"/>
            <a:r>
              <a:rPr lang="en-US" sz="900" i="1">
                <a:solidFill>
                  <a:schemeClr val="tx1">
                    <a:lumMod val="50000"/>
                    <a:lumOff val="50000"/>
                  </a:schemeClr>
                </a:solidFill>
                <a:latin typeface="Aptos" panose="020B0004020202020204" pitchFamily="34" charset="0"/>
                <a:cs typeface="Arial" panose="020B0604020202020204" pitchFamily="34" charset="0"/>
              </a:rPr>
              <a:t>The information on this document is confidential and proprietary to CDSG. Do not copy or distribute this document.</a:t>
            </a:r>
          </a:p>
        </p:txBody>
      </p:sp>
    </p:spTree>
    <p:extLst>
      <p:ext uri="{BB962C8B-B14F-4D97-AF65-F5344CB8AC3E}">
        <p14:creationId xmlns:p14="http://schemas.microsoft.com/office/powerpoint/2010/main" val="1892677854"/>
      </p:ext>
    </p:extLst>
  </p:cSld>
  <p:clrMap bg1="lt1" tx1="dk1" bg2="lt2" tx2="dk2" accent1="accent1" accent2="accent2" accent3="accent3" accent4="accent4" accent5="accent5" accent6="accent6" hlink="hlink" folHlink="folHlink"/>
  <p:sldLayoutIdLst>
    <p:sldLayoutId id="2147483679" r:id="rId1"/>
    <p:sldLayoutId id="2147483662" r:id="rId2"/>
    <p:sldLayoutId id="2147483663" r:id="rId3"/>
    <p:sldLayoutId id="2147483682" r:id="rId4"/>
  </p:sldLayoutIdLst>
  <p:hf hdr="0" ftr="0" dt="0"/>
  <p:txStyles>
    <p:titleStyle>
      <a:lvl1pPr algn="l" rtl="0" eaLnBrk="0" fontAlgn="base" hangingPunct="0">
        <a:spcBef>
          <a:spcPct val="0"/>
        </a:spcBef>
        <a:spcAft>
          <a:spcPct val="0"/>
        </a:spcAft>
        <a:defRPr sz="2800" kern="1200">
          <a:solidFill>
            <a:schemeClr val="tx1"/>
          </a:solidFill>
          <a:latin typeface="Aptos" panose="020B0004020202020204" pitchFamily="34" charset="0"/>
          <a:ea typeface="+mj-ea"/>
          <a:cs typeface="Arial" pitchFamily="34" charset="0"/>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2000" b="1" kern="1200">
          <a:solidFill>
            <a:schemeClr val="tx1"/>
          </a:solidFill>
          <a:latin typeface="Aptos" panose="020B0004020202020204" pitchFamily="34" charset="0"/>
          <a:ea typeface="+mn-ea"/>
          <a:cs typeface="Arial" pitchFamily="34" charset="0"/>
        </a:defRPr>
      </a:lvl1pPr>
      <a:lvl2pPr marL="800100" indent="-342900" algn="l" rtl="0" eaLnBrk="0" fontAlgn="base" hangingPunct="0">
        <a:spcBef>
          <a:spcPct val="20000"/>
        </a:spcBef>
        <a:spcAft>
          <a:spcPct val="0"/>
        </a:spcAft>
        <a:buFont typeface="Arial" panose="020B0604020202020204" pitchFamily="34" charset="0"/>
        <a:buChar char="•"/>
        <a:defRPr sz="2000" kern="1200">
          <a:solidFill>
            <a:schemeClr val="tx1"/>
          </a:solidFill>
          <a:latin typeface="Aptos" panose="020B0004020202020204"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ptos" panose="020B0004020202020204"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9CF22F-5AA4-B171-99C4-50EE2DCE24BE}"/>
              </a:ext>
            </a:extLst>
          </p:cNvPr>
          <p:cNvSpPr>
            <a:spLocks noGrp="1"/>
          </p:cNvSpPr>
          <p:nvPr>
            <p:ph type="body" sz="quarter" idx="10"/>
          </p:nvPr>
        </p:nvSpPr>
        <p:spPr>
          <a:xfrm>
            <a:off x="1647568" y="1581665"/>
            <a:ext cx="8491043" cy="1705232"/>
          </a:xfrm>
        </p:spPr>
        <p:txBody>
          <a:bodyPr/>
          <a:lstStyle/>
          <a:p>
            <a:pPr algn="ctr"/>
            <a:r>
              <a:rPr lang="en-GB" sz="3600" dirty="0">
                <a:latin typeface="Aptos Narrow" panose="020B0004020202020204" pitchFamily="34" charset="0"/>
              </a:rPr>
              <a:t>G&amp; G Revamp</a:t>
            </a:r>
          </a:p>
          <a:p>
            <a:pPr algn="ctr"/>
            <a:r>
              <a:rPr lang="en-GB" sz="3600" b="0" dirty="0">
                <a:latin typeface="Aptos Narrow" panose="020B0004020202020204" pitchFamily="34" charset="0"/>
              </a:rPr>
              <a:t>Solution Architecture Proposal</a:t>
            </a:r>
          </a:p>
          <a:p>
            <a:pPr algn="ctr"/>
            <a:endParaRPr lang="en-GB" sz="3600" b="0" dirty="0">
              <a:latin typeface="Aptos Narrow" panose="020B0004020202020204" pitchFamily="34" charset="0"/>
            </a:endParaRPr>
          </a:p>
          <a:p>
            <a:pPr algn="ctr"/>
            <a:endParaRPr lang="en-GB" sz="3600" b="0" dirty="0">
              <a:latin typeface="Aptos Narrow" panose="020B0004020202020204" pitchFamily="34" charset="0"/>
            </a:endParaRPr>
          </a:p>
        </p:txBody>
      </p:sp>
      <p:sp>
        <p:nvSpPr>
          <p:cNvPr id="4" name="TextBox 3">
            <a:extLst>
              <a:ext uri="{FF2B5EF4-FFF2-40B4-BE49-F238E27FC236}">
                <a16:creationId xmlns:a16="http://schemas.microsoft.com/office/drawing/2014/main" id="{DC6C52E4-7A16-A6FD-0E8E-5DB151B24147}"/>
              </a:ext>
            </a:extLst>
          </p:cNvPr>
          <p:cNvSpPr txBox="1"/>
          <p:nvPr/>
        </p:nvSpPr>
        <p:spPr>
          <a:xfrm>
            <a:off x="9827741" y="5272219"/>
            <a:ext cx="2195285" cy="646331"/>
          </a:xfrm>
          <a:prstGeom prst="rect">
            <a:avLst/>
          </a:prstGeom>
          <a:noFill/>
        </p:spPr>
        <p:txBody>
          <a:bodyPr wrap="square" rtlCol="0">
            <a:spAutoFit/>
          </a:bodyPr>
          <a:lstStyle/>
          <a:p>
            <a:r>
              <a:rPr lang="en-US" dirty="0">
                <a:solidFill>
                  <a:schemeClr val="bg1"/>
                </a:solidFill>
              </a:rPr>
              <a:t>Solution Architect</a:t>
            </a:r>
          </a:p>
          <a:p>
            <a:r>
              <a:rPr lang="en-US" dirty="0">
                <a:solidFill>
                  <a:schemeClr val="bg1"/>
                </a:solidFill>
              </a:rPr>
              <a:t>Date</a:t>
            </a:r>
          </a:p>
        </p:txBody>
      </p:sp>
    </p:spTree>
    <p:extLst>
      <p:ext uri="{BB962C8B-B14F-4D97-AF65-F5344CB8AC3E}">
        <p14:creationId xmlns:p14="http://schemas.microsoft.com/office/powerpoint/2010/main" val="308816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AFEB63-53AA-830E-7FB7-37CB890CDED1}"/>
              </a:ext>
            </a:extLst>
          </p:cNvPr>
          <p:cNvSpPr>
            <a:spLocks noGrp="1"/>
          </p:cNvSpPr>
          <p:nvPr>
            <p:ph type="sldNum" sz="quarter" idx="12"/>
          </p:nvPr>
        </p:nvSpPr>
        <p:spPr/>
        <p:txBody>
          <a:bodyPr/>
          <a:lstStyle/>
          <a:p>
            <a:fld id="{93288B1A-0894-4E52-95D8-2AC74CBED725}" type="slidenum">
              <a:rPr lang="en-US" smtClean="0"/>
              <a:t>2</a:t>
            </a:fld>
            <a:endParaRPr lang="en-US"/>
          </a:p>
        </p:txBody>
      </p:sp>
      <p:sp>
        <p:nvSpPr>
          <p:cNvPr id="3" name="Text Placeholder 2">
            <a:extLst>
              <a:ext uri="{FF2B5EF4-FFF2-40B4-BE49-F238E27FC236}">
                <a16:creationId xmlns:a16="http://schemas.microsoft.com/office/drawing/2014/main" id="{98A3D199-E19C-0DAE-7DFD-CE93861118C8}"/>
              </a:ext>
            </a:extLst>
          </p:cNvPr>
          <p:cNvSpPr>
            <a:spLocks noGrp="1"/>
          </p:cNvSpPr>
          <p:nvPr>
            <p:ph type="body" idx="1"/>
          </p:nvPr>
        </p:nvSpPr>
        <p:spPr/>
        <p:txBody>
          <a:bodyPr/>
          <a:lstStyle/>
          <a:p>
            <a:r>
              <a:rPr lang="en-US" dirty="0"/>
              <a:t>Executive Summary</a:t>
            </a:r>
          </a:p>
        </p:txBody>
      </p:sp>
      <p:sp>
        <p:nvSpPr>
          <p:cNvPr id="4" name="TextBox 3">
            <a:extLst>
              <a:ext uri="{FF2B5EF4-FFF2-40B4-BE49-F238E27FC236}">
                <a16:creationId xmlns:a16="http://schemas.microsoft.com/office/drawing/2014/main" id="{2BBA8B55-BEB5-5E54-D328-A8D0F3CE60FD}"/>
              </a:ext>
            </a:extLst>
          </p:cNvPr>
          <p:cNvSpPr txBox="1"/>
          <p:nvPr/>
        </p:nvSpPr>
        <p:spPr>
          <a:xfrm>
            <a:off x="140043" y="932935"/>
            <a:ext cx="11203460" cy="526297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400" dirty="0"/>
              <a:t>G&amp;G </a:t>
            </a:r>
            <a:r>
              <a:rPr lang="en-US" sz="1400" dirty="0" err="1"/>
              <a:t>Eservice</a:t>
            </a:r>
            <a:r>
              <a:rPr lang="en-US" sz="1400" dirty="0"/>
              <a:t> provides a wide range of digital services, including </a:t>
            </a:r>
            <a:r>
              <a:rPr lang="en-US" sz="1400" b="1" dirty="0"/>
              <a:t>Top-up, YPS Billing, Cash Transactions, Meter Billing, Canal+, Skynet subscriptions, and </a:t>
            </a:r>
            <a:r>
              <a:rPr lang="en-US" sz="1400" b="1" dirty="0" err="1"/>
              <a:t>MMBus</a:t>
            </a:r>
            <a:r>
              <a:rPr lang="en-US" sz="1400" b="1" dirty="0"/>
              <a:t> integration</a:t>
            </a:r>
            <a:r>
              <a:rPr lang="en-US" sz="1400" dirty="0"/>
              <a:t>, through the </a:t>
            </a:r>
            <a:r>
              <a:rPr lang="en-US" sz="1400" b="1" dirty="0"/>
              <a:t>CCN </a:t>
            </a:r>
            <a:r>
              <a:rPr lang="en-US" sz="1400" b="1" dirty="0" err="1"/>
              <a:t>EService</a:t>
            </a:r>
            <a:r>
              <a:rPr lang="en-US" sz="1400" b="1" dirty="0"/>
              <a:t> Middleware</a:t>
            </a:r>
            <a:r>
              <a:rPr lang="en-US" sz="1400" dirty="0"/>
              <a:t>. Sales data is synchronized with </a:t>
            </a:r>
            <a:r>
              <a:rPr lang="en-US" sz="1400" b="1" dirty="0"/>
              <a:t>Microsoft AX and D365</a:t>
            </a:r>
            <a:r>
              <a:rPr lang="en-US" sz="1400" dirty="0"/>
              <a:t>.</a:t>
            </a:r>
          </a:p>
          <a:p>
            <a:pPr marL="285750" indent="-285750">
              <a:lnSpc>
                <a:spcPct val="150000"/>
              </a:lnSpc>
              <a:buFont typeface="Arial" panose="020B0604020202020204" pitchFamily="34" charset="0"/>
              <a:buChar char="•"/>
            </a:pPr>
            <a:r>
              <a:rPr lang="en-US" sz="1400" dirty="0"/>
              <a:t>With the increasing transaction volume and system usage, the current platform faces challenges in  </a:t>
            </a:r>
            <a:r>
              <a:rPr lang="en-US" sz="1400" b="1" dirty="0"/>
              <a:t>performance, scalability, and data loss which lead to financial lost</a:t>
            </a:r>
            <a:r>
              <a:rPr lang="en-US" sz="1400" dirty="0"/>
              <a:t>, primarily due to synchronous processing and growing data size.</a:t>
            </a:r>
          </a:p>
          <a:p>
            <a:pPr marL="285750" indent="-285750">
              <a:lnSpc>
                <a:spcPct val="150000"/>
              </a:lnSpc>
              <a:buFont typeface="Arial" panose="020B0604020202020204" pitchFamily="34" charset="0"/>
              <a:buChar char="•"/>
            </a:pPr>
            <a:r>
              <a:rPr lang="en-US" sz="1400" dirty="0"/>
              <a:t>To address these challenges, following services are selected for </a:t>
            </a:r>
            <a:r>
              <a:rPr lang="en-US" sz="1400" b="1" dirty="0"/>
              <a:t>revamp</a:t>
            </a:r>
            <a:r>
              <a:rPr lang="en-US" sz="1400" dirty="0"/>
              <a:t> and </a:t>
            </a:r>
            <a:r>
              <a:rPr lang="en-US" sz="1400" b="1" dirty="0"/>
              <a:t>enhancement</a:t>
            </a:r>
            <a:r>
              <a:rPr lang="en-US" sz="1400" dirty="0"/>
              <a:t>  to align with business needs and cover problems.</a:t>
            </a:r>
          </a:p>
          <a:p>
            <a:pPr marL="800100" lvl="1" indent="-342900">
              <a:lnSpc>
                <a:spcPct val="150000"/>
              </a:lnSpc>
              <a:buFont typeface="+mj-lt"/>
              <a:buAutoNum type="arabicPeriod"/>
            </a:pPr>
            <a:r>
              <a:rPr lang="en-US" sz="1400" dirty="0"/>
              <a:t> </a:t>
            </a:r>
            <a:r>
              <a:rPr lang="en-US" sz="1400" b="1" dirty="0"/>
              <a:t>YPS Services (Revamp):</a:t>
            </a:r>
            <a:br>
              <a:rPr lang="en-US" sz="1400" dirty="0"/>
            </a:br>
            <a:r>
              <a:rPr lang="en-US" sz="1400" dirty="0"/>
              <a:t>Full redesign of the service flow to improve response time and prevent data loss by using  Redis, Rabbit MQ  and separate service</a:t>
            </a:r>
          </a:p>
          <a:p>
            <a:pPr marL="800100" lvl="1" indent="-342900">
              <a:lnSpc>
                <a:spcPct val="150000"/>
              </a:lnSpc>
              <a:buFont typeface="+mj-lt"/>
              <a:buAutoNum type="arabicPeriod"/>
            </a:pPr>
            <a:r>
              <a:rPr lang="en-US" sz="1400" b="1" dirty="0"/>
              <a:t>Bill &amp; Subscription Services (Enhancement):</a:t>
            </a:r>
            <a:br>
              <a:rPr lang="en-US" sz="1400" dirty="0"/>
            </a:br>
            <a:r>
              <a:rPr lang="en-US" sz="1400" dirty="0"/>
              <a:t>Improve processing efficiency by optimizing existing logic and system flow with the use of Redis, Rabbit MQ and process separation.</a:t>
            </a:r>
          </a:p>
          <a:p>
            <a:pPr marL="800100" lvl="1" indent="-342900">
              <a:lnSpc>
                <a:spcPct val="150000"/>
              </a:lnSpc>
              <a:buFont typeface="+mj-lt"/>
              <a:buAutoNum type="arabicPeriod"/>
            </a:pPr>
            <a:r>
              <a:rPr lang="en-US" sz="1400" b="1" dirty="0"/>
              <a:t>Sale Data Synchronization (Enhancement):</a:t>
            </a:r>
            <a:br>
              <a:rPr lang="en-US" sz="1400" dirty="0"/>
            </a:br>
            <a:r>
              <a:rPr lang="en-US" sz="1400" dirty="0"/>
              <a:t>Improve synchronization with Microsoft AX and D365 by introducing </a:t>
            </a:r>
            <a:r>
              <a:rPr lang="en-US" sz="1400" b="1" dirty="0"/>
              <a:t>asynchronous jobs for parallel processing </a:t>
            </a:r>
            <a:r>
              <a:rPr lang="en-US" sz="1400" dirty="0"/>
              <a:t>and </a:t>
            </a:r>
            <a:r>
              <a:rPr lang="en-US" sz="1400" b="1" dirty="0"/>
              <a:t>using batch inserts instead of single inserts</a:t>
            </a:r>
            <a:r>
              <a:rPr lang="en-US" sz="1400" dirty="0"/>
              <a:t>.</a:t>
            </a:r>
          </a:p>
          <a:p>
            <a:pPr marL="800100" lvl="1" indent="-342900">
              <a:lnSpc>
                <a:spcPct val="150000"/>
              </a:lnSpc>
              <a:buFont typeface="+mj-lt"/>
              <a:buAutoNum type="arabicPeriod"/>
            </a:pPr>
            <a:r>
              <a:rPr lang="en-US" sz="1400" b="1" dirty="0"/>
              <a:t>Data Management:</a:t>
            </a:r>
            <a:br>
              <a:rPr lang="en-US" sz="1400" dirty="0"/>
            </a:br>
            <a:r>
              <a:rPr lang="en-US" sz="1400" dirty="0"/>
              <a:t>Implement </a:t>
            </a:r>
            <a:r>
              <a:rPr lang="en-US" sz="1400" b="1" dirty="0"/>
              <a:t>data archiving </a:t>
            </a:r>
            <a:r>
              <a:rPr lang="en-US" sz="1400" dirty="0"/>
              <a:t>to manage increasing data volume and maintain system performance</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endParaRPr lang="en-US" sz="1400" dirty="0"/>
          </a:p>
        </p:txBody>
      </p:sp>
    </p:spTree>
    <p:extLst>
      <p:ext uri="{BB962C8B-B14F-4D97-AF65-F5344CB8AC3E}">
        <p14:creationId xmlns:p14="http://schemas.microsoft.com/office/powerpoint/2010/main" val="1623343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829482-12A2-CA82-7477-896C25456FC9}"/>
              </a:ext>
            </a:extLst>
          </p:cNvPr>
          <p:cNvSpPr>
            <a:spLocks noGrp="1"/>
          </p:cNvSpPr>
          <p:nvPr>
            <p:ph type="sldNum" sz="quarter" idx="12"/>
          </p:nvPr>
        </p:nvSpPr>
        <p:spPr/>
        <p:txBody>
          <a:bodyPr/>
          <a:lstStyle/>
          <a:p>
            <a:fld id="{93288B1A-0894-4E52-95D8-2AC74CBED725}" type="slidenum">
              <a:rPr lang="en-US" smtClean="0"/>
              <a:t>3</a:t>
            </a:fld>
            <a:endParaRPr lang="en-US"/>
          </a:p>
        </p:txBody>
      </p:sp>
      <p:sp>
        <p:nvSpPr>
          <p:cNvPr id="3" name="Text Placeholder 2">
            <a:extLst>
              <a:ext uri="{FF2B5EF4-FFF2-40B4-BE49-F238E27FC236}">
                <a16:creationId xmlns:a16="http://schemas.microsoft.com/office/drawing/2014/main" id="{D7528F96-2813-B2FF-27CB-B48BDCF5FB8F}"/>
              </a:ext>
            </a:extLst>
          </p:cNvPr>
          <p:cNvSpPr>
            <a:spLocks noGrp="1"/>
          </p:cNvSpPr>
          <p:nvPr>
            <p:ph type="body" idx="1"/>
          </p:nvPr>
        </p:nvSpPr>
        <p:spPr/>
        <p:txBody>
          <a:bodyPr/>
          <a:lstStyle/>
          <a:p>
            <a:r>
              <a:rPr lang="en-US" dirty="0"/>
              <a:t>Objectives </a:t>
            </a:r>
          </a:p>
        </p:txBody>
      </p:sp>
      <p:sp>
        <p:nvSpPr>
          <p:cNvPr id="5" name="TextBox 4">
            <a:extLst>
              <a:ext uri="{FF2B5EF4-FFF2-40B4-BE49-F238E27FC236}">
                <a16:creationId xmlns:a16="http://schemas.microsoft.com/office/drawing/2014/main" id="{A203A43F-14AA-7985-EB0B-5F3E571969E7}"/>
              </a:ext>
            </a:extLst>
          </p:cNvPr>
          <p:cNvSpPr txBox="1"/>
          <p:nvPr/>
        </p:nvSpPr>
        <p:spPr>
          <a:xfrm>
            <a:off x="195648" y="985619"/>
            <a:ext cx="11510319" cy="646331"/>
          </a:xfrm>
          <a:prstGeom prst="rect">
            <a:avLst/>
          </a:prstGeom>
          <a:noFill/>
        </p:spPr>
        <p:txBody>
          <a:bodyPr wrap="square">
            <a:spAutoFit/>
          </a:bodyPr>
          <a:lstStyle/>
          <a:p>
            <a:r>
              <a:rPr lang="en-US" dirty="0"/>
              <a:t>To optimize the G&amp;G </a:t>
            </a:r>
            <a:r>
              <a:rPr lang="en-US" dirty="0" err="1"/>
              <a:t>Eservice</a:t>
            </a:r>
            <a:r>
              <a:rPr lang="en-US" dirty="0"/>
              <a:t> platform for higher efficiency, faster processing, and long-term scalability through strategic revamp and enhancements, enabling sustainable service expansion.</a:t>
            </a:r>
          </a:p>
        </p:txBody>
      </p:sp>
    </p:spTree>
    <p:extLst>
      <p:ext uri="{BB962C8B-B14F-4D97-AF65-F5344CB8AC3E}">
        <p14:creationId xmlns:p14="http://schemas.microsoft.com/office/powerpoint/2010/main" val="976537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E9BE2-4305-176E-2F1F-4DC08B66634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4E2A25-A12E-C672-C20E-6ED42D0E4F82}"/>
              </a:ext>
            </a:extLst>
          </p:cNvPr>
          <p:cNvSpPr>
            <a:spLocks noGrp="1"/>
          </p:cNvSpPr>
          <p:nvPr>
            <p:ph type="sldNum" sz="quarter" idx="12"/>
          </p:nvPr>
        </p:nvSpPr>
        <p:spPr/>
        <p:txBody>
          <a:bodyPr/>
          <a:lstStyle/>
          <a:p>
            <a:fld id="{93288B1A-0894-4E52-95D8-2AC74CBED725}" type="slidenum">
              <a:rPr lang="en-US" smtClean="0"/>
              <a:t>4</a:t>
            </a:fld>
            <a:endParaRPr lang="en-US"/>
          </a:p>
        </p:txBody>
      </p:sp>
      <p:sp>
        <p:nvSpPr>
          <p:cNvPr id="3" name="Text Placeholder 2">
            <a:extLst>
              <a:ext uri="{FF2B5EF4-FFF2-40B4-BE49-F238E27FC236}">
                <a16:creationId xmlns:a16="http://schemas.microsoft.com/office/drawing/2014/main" id="{462C3234-0E44-EE12-3F61-505E6D4A39DE}"/>
              </a:ext>
            </a:extLst>
          </p:cNvPr>
          <p:cNvSpPr>
            <a:spLocks noGrp="1"/>
          </p:cNvSpPr>
          <p:nvPr>
            <p:ph type="body" idx="1"/>
          </p:nvPr>
        </p:nvSpPr>
        <p:spPr/>
        <p:txBody>
          <a:bodyPr/>
          <a:lstStyle/>
          <a:p>
            <a:r>
              <a:rPr lang="en-US" dirty="0"/>
              <a:t>About Revamp &amp; Enhancement</a:t>
            </a:r>
          </a:p>
        </p:txBody>
      </p:sp>
      <p:sp>
        <p:nvSpPr>
          <p:cNvPr id="4" name="TextBox 3">
            <a:extLst>
              <a:ext uri="{FF2B5EF4-FFF2-40B4-BE49-F238E27FC236}">
                <a16:creationId xmlns:a16="http://schemas.microsoft.com/office/drawing/2014/main" id="{55BD922D-8713-24F2-486B-F3EF57A9C851}"/>
              </a:ext>
            </a:extLst>
          </p:cNvPr>
          <p:cNvSpPr txBox="1"/>
          <p:nvPr/>
        </p:nvSpPr>
        <p:spPr>
          <a:xfrm>
            <a:off x="140043" y="932935"/>
            <a:ext cx="11203460" cy="4998741"/>
          </a:xfrm>
          <a:prstGeom prst="rect">
            <a:avLst/>
          </a:prstGeom>
          <a:noFill/>
        </p:spPr>
        <p:txBody>
          <a:bodyPr wrap="square">
            <a:spAutoFit/>
          </a:bodyPr>
          <a:lstStyle/>
          <a:p>
            <a:pPr>
              <a:lnSpc>
                <a:spcPct val="150000"/>
              </a:lnSpc>
            </a:pPr>
            <a:r>
              <a:rPr lang="en-US" sz="1600" b="1" dirty="0"/>
              <a:t>About YPS Services</a:t>
            </a:r>
          </a:p>
          <a:p>
            <a:pPr marL="285750" indent="-285750">
              <a:lnSpc>
                <a:spcPct val="150000"/>
              </a:lnSpc>
              <a:buFont typeface="Arial" panose="020B0604020202020204" pitchFamily="34" charset="0"/>
              <a:buChar char="•"/>
            </a:pPr>
            <a:r>
              <a:rPr lang="en-US" sz="1400" dirty="0"/>
              <a:t>Currently, sales staff operate YPS POS devices to perform YPS bill top-</a:t>
            </a:r>
            <a:r>
              <a:rPr lang="en-US" sz="1400" dirty="0" err="1"/>
              <a:t>ups.This</a:t>
            </a:r>
            <a:r>
              <a:rPr lang="en-US" sz="1400" dirty="0"/>
              <a:t> service is available in </a:t>
            </a:r>
            <a:r>
              <a:rPr lang="en-US" sz="1400" b="1" dirty="0"/>
              <a:t>96 stores</a:t>
            </a:r>
            <a:r>
              <a:rPr lang="en-US" sz="1400" dirty="0"/>
              <a:t>, including </a:t>
            </a:r>
            <a:r>
              <a:rPr lang="en-US" sz="1400" b="1" dirty="0"/>
              <a:t>G&amp;G and Capital</a:t>
            </a:r>
            <a:r>
              <a:rPr lang="en-US" sz="1400" dirty="0"/>
              <a:t>.</a:t>
            </a:r>
          </a:p>
          <a:p>
            <a:pPr marL="285750" indent="-285750">
              <a:lnSpc>
                <a:spcPct val="150000"/>
              </a:lnSpc>
              <a:buFont typeface="Arial" panose="020B0604020202020204" pitchFamily="34" charset="0"/>
              <a:buChar char="•"/>
            </a:pPr>
            <a:r>
              <a:rPr lang="en-US" sz="1400" dirty="0"/>
              <a:t>In the future, the YPS top-up service will be expanded to </a:t>
            </a:r>
            <a:r>
              <a:rPr lang="en-US" sz="1400" b="1" dirty="0"/>
              <a:t>more than 500 stores</a:t>
            </a:r>
            <a:r>
              <a:rPr lang="en-US" sz="1400" dirty="0"/>
              <a:t> using </a:t>
            </a:r>
            <a:r>
              <a:rPr lang="en-US" sz="1400" b="1" dirty="0" err="1"/>
              <a:t>Sunmi</a:t>
            </a:r>
            <a:r>
              <a:rPr lang="en-US" sz="1400" b="1" dirty="0"/>
              <a:t> POS devices</a:t>
            </a:r>
            <a:r>
              <a:rPr lang="en-US" sz="1400" dirty="0"/>
              <a:t>.</a:t>
            </a:r>
          </a:p>
          <a:p>
            <a:pPr marL="285750" indent="-285750">
              <a:lnSpc>
                <a:spcPct val="150000"/>
              </a:lnSpc>
              <a:buFont typeface="Arial" panose="020B0604020202020204" pitchFamily="34" charset="0"/>
              <a:buChar char="•"/>
            </a:pPr>
            <a:endParaRPr lang="en-US" sz="1400" dirty="0"/>
          </a:p>
          <a:p>
            <a:pPr>
              <a:lnSpc>
                <a:spcPct val="150000"/>
              </a:lnSpc>
            </a:pPr>
            <a:r>
              <a:rPr lang="en-US" sz="1600" b="1" dirty="0"/>
              <a:t>Problem with Current YPS Services(require link with previous slide like data lost , performance)</a:t>
            </a:r>
          </a:p>
          <a:p>
            <a:pPr marL="285750" indent="-285750">
              <a:lnSpc>
                <a:spcPct val="150000"/>
              </a:lnSpc>
              <a:buFont typeface="Arial" panose="020B0604020202020204" pitchFamily="34" charset="0"/>
              <a:buChar char="•"/>
            </a:pPr>
            <a:r>
              <a:rPr lang="en-US" altLang="en-US" sz="1400" b="1" dirty="0">
                <a:latin typeface="Arial" panose="020B0604020202020204" pitchFamily="34" charset="0"/>
              </a:rPr>
              <a:t>Performance Issues </a:t>
            </a:r>
            <a:r>
              <a:rPr lang="en-US" altLang="en-US" sz="1400" dirty="0">
                <a:latin typeface="Arial" panose="020B0604020202020204" pitchFamily="34" charset="0"/>
              </a:rPr>
              <a:t>- YPS sale transaction saving experiences delays.</a:t>
            </a:r>
          </a:p>
          <a:p>
            <a:pPr marL="285750" indent="-285750">
              <a:lnSpc>
                <a:spcPct val="150000"/>
              </a:lnSpc>
              <a:buFont typeface="Arial" panose="020B0604020202020204" pitchFamily="34" charset="0"/>
              <a:buChar char="•"/>
            </a:pPr>
            <a:r>
              <a:rPr lang="en-US" sz="1400" b="1" dirty="0">
                <a:latin typeface="Arial" panose="020B0604020202020204" pitchFamily="34" charset="0"/>
              </a:rPr>
              <a:t>Data Lost Issues </a:t>
            </a:r>
            <a:r>
              <a:rPr lang="en-US" sz="1400" dirty="0">
                <a:latin typeface="Arial" panose="020B0604020202020204" pitchFamily="34" charset="0"/>
              </a:rPr>
              <a:t>– From YPS side , their few time out seconds and lack of retry is the major cause of  data lost up. </a:t>
            </a:r>
          </a:p>
          <a:p>
            <a:pPr>
              <a:lnSpc>
                <a:spcPct val="150000"/>
              </a:lnSpc>
            </a:pPr>
            <a:r>
              <a:rPr lang="en-US" sz="1400" dirty="0">
                <a:latin typeface="Arial" panose="020B0604020202020204" pitchFamily="34" charset="0"/>
              </a:rPr>
              <a:t>    In G&amp;G  side , due to current implementation , it is hard to handle concurrent request  which lead to missing API call from YPS side and occur  error</a:t>
            </a:r>
          </a:p>
          <a:p>
            <a:pPr>
              <a:lnSpc>
                <a:spcPct val="150000"/>
              </a:lnSpc>
            </a:pPr>
            <a:r>
              <a:rPr lang="en-US" sz="1400" dirty="0">
                <a:latin typeface="Arial" panose="020B0604020202020204" pitchFamily="34" charset="0"/>
              </a:rPr>
              <a:t>  In worst case scenario data lost between 40% and 60% , which make </a:t>
            </a:r>
            <a:r>
              <a:rPr lang="en-US" sz="1400" dirty="0" err="1">
                <a:latin typeface="Arial" panose="020B0604020202020204" pitchFamily="34" charset="0"/>
              </a:rPr>
              <a:t>yps</a:t>
            </a:r>
            <a:r>
              <a:rPr lang="en-US" sz="1400" dirty="0">
                <a:latin typeface="Arial" panose="020B0604020202020204" pitchFamily="34" charset="0"/>
              </a:rPr>
              <a:t> service temporarily stop and cause financial impact.</a:t>
            </a:r>
          </a:p>
          <a:p>
            <a:pPr marL="285750" indent="-285750">
              <a:lnSpc>
                <a:spcPct val="150000"/>
              </a:lnSpc>
              <a:buFont typeface="Arial" panose="020B0604020202020204" pitchFamily="34" charset="0"/>
              <a:buChar char="•"/>
            </a:pPr>
            <a:r>
              <a:rPr lang="en-US" sz="1400" dirty="0">
                <a:latin typeface="Arial" panose="020B0604020202020204" pitchFamily="34" charset="0"/>
              </a:rPr>
              <a:t>Scalability  Issues-Current design may not suit for future expansion to provide fast response rate and reliable process and occur fail in sale transaction.</a:t>
            </a:r>
          </a:p>
          <a:p>
            <a:pPr>
              <a:lnSpc>
                <a:spcPct val="150000"/>
              </a:lnSpc>
            </a:pPr>
            <a:endParaRPr lang="en-US" sz="1400" dirty="0"/>
          </a:p>
          <a:p>
            <a:pPr>
              <a:lnSpc>
                <a:spcPct val="150000"/>
              </a:lnSpc>
            </a:pPr>
            <a:endParaRPr lang="en-US" sz="1400" dirty="0"/>
          </a:p>
          <a:p>
            <a:pPr marL="342900" indent="-342900">
              <a:lnSpc>
                <a:spcPct val="150000"/>
              </a:lnSpc>
              <a:buAutoNum type="arabicPeriod"/>
            </a:pPr>
            <a:endParaRPr lang="en-US" sz="1400" dirty="0"/>
          </a:p>
        </p:txBody>
      </p:sp>
    </p:spTree>
    <p:extLst>
      <p:ext uri="{BB962C8B-B14F-4D97-AF65-F5344CB8AC3E}">
        <p14:creationId xmlns:p14="http://schemas.microsoft.com/office/powerpoint/2010/main" val="3057371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35FA6-358D-ED4A-C77D-6106C18BC8C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42393A-2295-632C-21CC-C4C6878EA914}"/>
              </a:ext>
            </a:extLst>
          </p:cNvPr>
          <p:cNvSpPr>
            <a:spLocks noGrp="1"/>
          </p:cNvSpPr>
          <p:nvPr>
            <p:ph type="sldNum" sz="quarter" idx="12"/>
          </p:nvPr>
        </p:nvSpPr>
        <p:spPr/>
        <p:txBody>
          <a:bodyPr/>
          <a:lstStyle/>
          <a:p>
            <a:fld id="{93288B1A-0894-4E52-95D8-2AC74CBED725}" type="slidenum">
              <a:rPr lang="en-US" smtClean="0"/>
              <a:t>5</a:t>
            </a:fld>
            <a:endParaRPr lang="en-US"/>
          </a:p>
        </p:txBody>
      </p:sp>
      <p:sp>
        <p:nvSpPr>
          <p:cNvPr id="3" name="Text Placeholder 2">
            <a:extLst>
              <a:ext uri="{FF2B5EF4-FFF2-40B4-BE49-F238E27FC236}">
                <a16:creationId xmlns:a16="http://schemas.microsoft.com/office/drawing/2014/main" id="{8D0A8210-D177-4B15-6948-C28562E3D5D8}"/>
              </a:ext>
            </a:extLst>
          </p:cNvPr>
          <p:cNvSpPr>
            <a:spLocks noGrp="1"/>
          </p:cNvSpPr>
          <p:nvPr>
            <p:ph type="body" idx="1"/>
          </p:nvPr>
        </p:nvSpPr>
        <p:spPr/>
        <p:txBody>
          <a:bodyPr/>
          <a:lstStyle/>
          <a:p>
            <a:r>
              <a:rPr lang="en-US" dirty="0"/>
              <a:t>About Revamp &amp; Enhancement</a:t>
            </a:r>
          </a:p>
        </p:txBody>
      </p:sp>
      <p:sp>
        <p:nvSpPr>
          <p:cNvPr id="10" name="TextBox 9">
            <a:extLst>
              <a:ext uri="{FF2B5EF4-FFF2-40B4-BE49-F238E27FC236}">
                <a16:creationId xmlns:a16="http://schemas.microsoft.com/office/drawing/2014/main" id="{74B569DA-42FD-69E8-A40D-A75075CF4404}"/>
              </a:ext>
            </a:extLst>
          </p:cNvPr>
          <p:cNvSpPr txBox="1"/>
          <p:nvPr/>
        </p:nvSpPr>
        <p:spPr>
          <a:xfrm>
            <a:off x="205946" y="923773"/>
            <a:ext cx="11576908" cy="2911695"/>
          </a:xfrm>
          <a:prstGeom prst="rect">
            <a:avLst/>
          </a:prstGeom>
          <a:noFill/>
        </p:spPr>
        <p:txBody>
          <a:bodyPr wrap="square">
            <a:spAutoFit/>
          </a:bodyPr>
          <a:lstStyle/>
          <a:p>
            <a:pPr>
              <a:lnSpc>
                <a:spcPct val="150000"/>
              </a:lnSpc>
            </a:pPr>
            <a:r>
              <a:rPr lang="en-US" sz="1600" b="1" dirty="0"/>
              <a:t>About G&amp;G  Bill ,</a:t>
            </a:r>
            <a:r>
              <a:rPr lang="en-US" sz="1600" b="1" dirty="0" err="1"/>
              <a:t>eserrvices</a:t>
            </a:r>
            <a:endParaRPr lang="en-US" sz="1600" b="1" dirty="0"/>
          </a:p>
          <a:p>
            <a:pPr marL="285750" indent="-285750">
              <a:lnSpc>
                <a:spcPct val="150000"/>
              </a:lnSpc>
              <a:buFont typeface="Arial" panose="020B0604020202020204" pitchFamily="34" charset="0"/>
              <a:buChar char="•"/>
            </a:pPr>
            <a:r>
              <a:rPr lang="en-US" sz="1400" dirty="0"/>
              <a:t>Currently Sale staff operate G&amp;G </a:t>
            </a:r>
            <a:r>
              <a:rPr lang="en-US" sz="1400" dirty="0" err="1"/>
              <a:t>Eservice</a:t>
            </a:r>
            <a:r>
              <a:rPr lang="en-US" sz="1400" dirty="0"/>
              <a:t> to provide top up , electric bill and subscription </a:t>
            </a:r>
          </a:p>
          <a:p>
            <a:pPr marL="285750" indent="-285750">
              <a:lnSpc>
                <a:spcPct val="150000"/>
              </a:lnSpc>
              <a:buFont typeface="Arial" panose="020B0604020202020204" pitchFamily="34" charset="0"/>
              <a:buChar char="•"/>
            </a:pPr>
            <a:r>
              <a:rPr lang="en-US" sz="1400" dirty="0"/>
              <a:t>Among each service top up( bill) is the pain point</a:t>
            </a:r>
          </a:p>
          <a:p>
            <a:pPr marL="285750" indent="-285750">
              <a:lnSpc>
                <a:spcPct val="150000"/>
              </a:lnSpc>
              <a:buFont typeface="Arial" panose="020B0604020202020204" pitchFamily="34" charset="0"/>
              <a:buChar char="•"/>
            </a:pPr>
            <a:endParaRPr lang="en-US" sz="1800" dirty="0"/>
          </a:p>
          <a:p>
            <a:pPr>
              <a:lnSpc>
                <a:spcPct val="150000"/>
              </a:lnSpc>
            </a:pPr>
            <a:r>
              <a:rPr lang="en-US" sz="1600" b="1" dirty="0"/>
              <a:t>Key Problem with Current  G&amp;G Services</a:t>
            </a:r>
          </a:p>
          <a:p>
            <a:pPr marL="285750" indent="-285750">
              <a:lnSpc>
                <a:spcPct val="150000"/>
              </a:lnSpc>
              <a:buFont typeface="Arial" panose="020B0604020202020204" pitchFamily="34" charset="0"/>
              <a:buChar char="•"/>
            </a:pPr>
            <a:r>
              <a:rPr lang="en-US" altLang="en-US" sz="1400" dirty="0">
                <a:latin typeface="Arial" panose="020B0604020202020204" pitchFamily="34" charset="0"/>
              </a:rPr>
              <a:t>Financial Lost - Due to  unsuccessful top up even top up success at CCN </a:t>
            </a:r>
            <a:r>
              <a:rPr lang="en-US" altLang="en-US" sz="1400" dirty="0" err="1">
                <a:latin typeface="Arial" panose="020B0604020202020204" pitchFamily="34" charset="0"/>
              </a:rPr>
              <a:t>Eservice</a:t>
            </a:r>
            <a:r>
              <a:rPr lang="en-US" altLang="en-US" sz="1400" dirty="0">
                <a:latin typeface="Arial" panose="020B0604020202020204" pitchFamily="34" charset="0"/>
              </a:rPr>
              <a:t> middle  , G&amp;G suffer financial lost , this occur because of time out issues</a:t>
            </a:r>
          </a:p>
          <a:p>
            <a:pPr>
              <a:lnSpc>
                <a:spcPct val="150000"/>
              </a:lnSpc>
            </a:pPr>
            <a:endParaRPr lang="en-US" sz="1800" dirty="0"/>
          </a:p>
        </p:txBody>
      </p:sp>
    </p:spTree>
    <p:extLst>
      <p:ext uri="{BB962C8B-B14F-4D97-AF65-F5344CB8AC3E}">
        <p14:creationId xmlns:p14="http://schemas.microsoft.com/office/powerpoint/2010/main" val="652253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B3652-1C06-C6DD-E4C3-44864C1E309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4AE7B4-BBE1-8529-16B2-CAA21CEFE10B}"/>
              </a:ext>
            </a:extLst>
          </p:cNvPr>
          <p:cNvSpPr>
            <a:spLocks noGrp="1"/>
          </p:cNvSpPr>
          <p:nvPr>
            <p:ph type="sldNum" sz="quarter" idx="12"/>
          </p:nvPr>
        </p:nvSpPr>
        <p:spPr/>
        <p:txBody>
          <a:bodyPr/>
          <a:lstStyle/>
          <a:p>
            <a:fld id="{93288B1A-0894-4E52-95D8-2AC74CBED725}" type="slidenum">
              <a:rPr lang="en-US" smtClean="0"/>
              <a:t>6</a:t>
            </a:fld>
            <a:endParaRPr lang="en-US"/>
          </a:p>
        </p:txBody>
      </p:sp>
      <p:sp>
        <p:nvSpPr>
          <p:cNvPr id="3" name="Text Placeholder 2">
            <a:extLst>
              <a:ext uri="{FF2B5EF4-FFF2-40B4-BE49-F238E27FC236}">
                <a16:creationId xmlns:a16="http://schemas.microsoft.com/office/drawing/2014/main" id="{51E56B7F-C487-AE14-54A8-59C81F3ED81F}"/>
              </a:ext>
            </a:extLst>
          </p:cNvPr>
          <p:cNvSpPr>
            <a:spLocks noGrp="1"/>
          </p:cNvSpPr>
          <p:nvPr>
            <p:ph type="body" idx="1"/>
          </p:nvPr>
        </p:nvSpPr>
        <p:spPr/>
        <p:txBody>
          <a:bodyPr/>
          <a:lstStyle/>
          <a:p>
            <a:r>
              <a:rPr lang="en-US" dirty="0"/>
              <a:t>About Revamp &amp; Enhancement</a:t>
            </a:r>
          </a:p>
        </p:txBody>
      </p:sp>
      <p:sp>
        <p:nvSpPr>
          <p:cNvPr id="4" name="TextBox 3">
            <a:extLst>
              <a:ext uri="{FF2B5EF4-FFF2-40B4-BE49-F238E27FC236}">
                <a16:creationId xmlns:a16="http://schemas.microsoft.com/office/drawing/2014/main" id="{4C79C9EE-B9C3-325D-FA00-1CB43BF87656}"/>
              </a:ext>
            </a:extLst>
          </p:cNvPr>
          <p:cNvSpPr txBox="1"/>
          <p:nvPr/>
        </p:nvSpPr>
        <p:spPr>
          <a:xfrm>
            <a:off x="140043" y="932935"/>
            <a:ext cx="11203460" cy="705258"/>
          </a:xfrm>
          <a:prstGeom prst="rect">
            <a:avLst/>
          </a:prstGeom>
          <a:noFill/>
        </p:spPr>
        <p:txBody>
          <a:bodyPr wrap="square">
            <a:spAutoFit/>
          </a:bodyPr>
          <a:lstStyle/>
          <a:p>
            <a:pPr>
              <a:lnSpc>
                <a:spcPct val="150000"/>
              </a:lnSpc>
            </a:pPr>
            <a:endParaRPr lang="en-US" sz="1400" dirty="0"/>
          </a:p>
          <a:p>
            <a:pPr marL="342900" indent="-342900">
              <a:lnSpc>
                <a:spcPct val="150000"/>
              </a:lnSpc>
              <a:buAutoNum type="arabicPeriod"/>
            </a:pPr>
            <a:endParaRPr lang="en-US" sz="1400" dirty="0"/>
          </a:p>
        </p:txBody>
      </p:sp>
      <p:sp>
        <p:nvSpPr>
          <p:cNvPr id="5" name="TextBox 4">
            <a:extLst>
              <a:ext uri="{FF2B5EF4-FFF2-40B4-BE49-F238E27FC236}">
                <a16:creationId xmlns:a16="http://schemas.microsoft.com/office/drawing/2014/main" id="{B45C5188-5DAD-3A49-9C0F-3796A10E02B6}"/>
              </a:ext>
            </a:extLst>
          </p:cNvPr>
          <p:cNvSpPr txBox="1"/>
          <p:nvPr/>
        </p:nvSpPr>
        <p:spPr>
          <a:xfrm>
            <a:off x="227914" y="1172516"/>
            <a:ext cx="11576908" cy="3111749"/>
          </a:xfrm>
          <a:prstGeom prst="rect">
            <a:avLst/>
          </a:prstGeom>
          <a:noFill/>
        </p:spPr>
        <p:txBody>
          <a:bodyPr wrap="square">
            <a:spAutoFit/>
          </a:bodyPr>
          <a:lstStyle/>
          <a:p>
            <a:r>
              <a:rPr lang="en-US" sz="1600" b="1" dirty="0"/>
              <a:t>About Large Data Volume &amp; Increasing Transaction Load</a:t>
            </a:r>
          </a:p>
          <a:p>
            <a:pPr marL="285750" indent="-285750">
              <a:lnSpc>
                <a:spcPct val="150000"/>
              </a:lnSpc>
              <a:buFont typeface="Arial" panose="020B0604020202020204" pitchFamily="34" charset="0"/>
              <a:buChar char="•"/>
            </a:pPr>
            <a:r>
              <a:rPr lang="en-US" sz="1400" dirty="0"/>
              <a:t>Currently key transaction table like sale data need to retain up to 2 years and it store 7 million records.</a:t>
            </a:r>
          </a:p>
          <a:p>
            <a:pPr marL="285750" indent="-285750">
              <a:lnSpc>
                <a:spcPct val="150000"/>
              </a:lnSpc>
              <a:buFont typeface="Arial" panose="020B0604020202020204" pitchFamily="34" charset="0"/>
              <a:buChar char="•"/>
            </a:pPr>
            <a:r>
              <a:rPr lang="en-US" altLang="en-US" sz="1400" dirty="0">
                <a:latin typeface="Arial" panose="020B0604020202020204" pitchFamily="34" charset="0"/>
              </a:rPr>
              <a:t>All-store reports require up to </a:t>
            </a:r>
            <a:r>
              <a:rPr lang="en-US" altLang="en-US" sz="1400" b="1" dirty="0">
                <a:latin typeface="Arial" panose="020B0604020202020204" pitchFamily="34" charset="0"/>
              </a:rPr>
              <a:t>2 months of data</a:t>
            </a:r>
            <a:r>
              <a:rPr lang="en-US" altLang="en-US" sz="1400" dirty="0">
                <a:latin typeface="Arial" panose="020B0604020202020204" pitchFamily="34" charset="0"/>
              </a:rPr>
              <a:t>.</a:t>
            </a:r>
          </a:p>
          <a:p>
            <a:pPr marL="285750" indent="-285750">
              <a:lnSpc>
                <a:spcPct val="150000"/>
              </a:lnSpc>
              <a:buFont typeface="Arial" panose="020B0604020202020204" pitchFamily="34" charset="0"/>
              <a:buChar char="•"/>
            </a:pPr>
            <a:r>
              <a:rPr lang="en-US" altLang="en-US" sz="1400" dirty="0">
                <a:latin typeface="Arial" panose="020B0604020202020204" pitchFamily="34" charset="0"/>
              </a:rPr>
              <a:t>Individual stores must access reports up to </a:t>
            </a:r>
            <a:r>
              <a:rPr lang="en-US" altLang="en-US" sz="1400" b="1" dirty="0">
                <a:latin typeface="Arial" panose="020B0604020202020204" pitchFamily="34" charset="0"/>
              </a:rPr>
              <a:t>180 days</a:t>
            </a:r>
            <a:r>
              <a:rPr lang="en-US" altLang="en-US" sz="1400" dirty="0">
                <a:latin typeface="Arial" panose="020B0604020202020204" pitchFamily="34" charset="0"/>
              </a:rPr>
              <a:t>.</a:t>
            </a:r>
          </a:p>
          <a:p>
            <a:pPr marL="285750" indent="-285750">
              <a:lnSpc>
                <a:spcPct val="150000"/>
              </a:lnSpc>
              <a:buFont typeface="Arial" panose="020B0604020202020204" pitchFamily="34" charset="0"/>
              <a:buChar char="•"/>
            </a:pPr>
            <a:endParaRPr lang="en-US" sz="1800" dirty="0"/>
          </a:p>
          <a:p>
            <a:pPr>
              <a:lnSpc>
                <a:spcPct val="150000"/>
              </a:lnSpc>
            </a:pPr>
            <a:r>
              <a:rPr lang="en-US" sz="1600" b="1" dirty="0"/>
              <a:t>Key Problem with  Large Data Volumes</a:t>
            </a:r>
          </a:p>
          <a:p>
            <a:pPr marL="285750" indent="-285750">
              <a:lnSpc>
                <a:spcPct val="150000"/>
              </a:lnSpc>
              <a:buFont typeface="Arial" panose="020B0604020202020204" pitchFamily="34" charset="0"/>
              <a:buChar char="•"/>
            </a:pPr>
            <a:r>
              <a:rPr lang="en-US" sz="1400" dirty="0"/>
              <a:t>Performance &amp; Scalability issues -Growing data volume impacts on query performance , ERP sync performance , report generation speed and  system scalability</a:t>
            </a:r>
          </a:p>
          <a:p>
            <a:pPr>
              <a:lnSpc>
                <a:spcPct val="150000"/>
              </a:lnSpc>
            </a:pPr>
            <a:endParaRPr lang="en-US" sz="1800" dirty="0"/>
          </a:p>
        </p:txBody>
      </p:sp>
      <p:sp>
        <p:nvSpPr>
          <p:cNvPr id="8" name="TextBox 7">
            <a:extLst>
              <a:ext uri="{FF2B5EF4-FFF2-40B4-BE49-F238E27FC236}">
                <a16:creationId xmlns:a16="http://schemas.microsoft.com/office/drawing/2014/main" id="{85D886FD-F105-0BD9-0FE5-FF6F9E6B0064}"/>
              </a:ext>
            </a:extLst>
          </p:cNvPr>
          <p:cNvSpPr txBox="1"/>
          <p:nvPr/>
        </p:nvSpPr>
        <p:spPr>
          <a:xfrm>
            <a:off x="227914" y="3823380"/>
            <a:ext cx="11576908" cy="2465419"/>
          </a:xfrm>
          <a:prstGeom prst="rect">
            <a:avLst/>
          </a:prstGeom>
          <a:noFill/>
        </p:spPr>
        <p:txBody>
          <a:bodyPr wrap="square">
            <a:spAutoFit/>
          </a:bodyPr>
          <a:lstStyle/>
          <a:p>
            <a:r>
              <a:rPr lang="en-US" sz="1600" b="1" dirty="0"/>
              <a:t>About Sale Data Sync Services</a:t>
            </a:r>
          </a:p>
          <a:p>
            <a:pPr marL="285750" indent="-285750">
              <a:lnSpc>
                <a:spcPct val="150000"/>
              </a:lnSpc>
              <a:buFont typeface="Arial" panose="020B0604020202020204" pitchFamily="34" charset="0"/>
              <a:buChar char="•"/>
            </a:pPr>
            <a:r>
              <a:rPr lang="en-US" sz="1400" dirty="0"/>
              <a:t>Currently sale data sync to Ax (Capital Sale Data) and D365 (G&amp;G Data) with scheduler  with 15 min interval</a:t>
            </a:r>
          </a:p>
          <a:p>
            <a:pPr marL="285750" indent="-285750">
              <a:lnSpc>
                <a:spcPct val="150000"/>
              </a:lnSpc>
              <a:buFont typeface="Arial" panose="020B0604020202020204" pitchFamily="34" charset="0"/>
              <a:buChar char="•"/>
            </a:pPr>
            <a:r>
              <a:rPr lang="en-US" altLang="en-US" sz="1400" dirty="0">
                <a:latin typeface="Arial" panose="020B0604020202020204" pitchFamily="34" charset="0"/>
              </a:rPr>
              <a:t>After all transaction finish sync , it end work shift.</a:t>
            </a:r>
          </a:p>
          <a:p>
            <a:pPr marL="285750" indent="-285750">
              <a:lnSpc>
                <a:spcPct val="150000"/>
              </a:lnSpc>
              <a:buFont typeface="Arial" panose="020B0604020202020204" pitchFamily="34" charset="0"/>
              <a:buChar char="•"/>
            </a:pPr>
            <a:endParaRPr lang="en-US" sz="1800" dirty="0"/>
          </a:p>
          <a:p>
            <a:pPr>
              <a:lnSpc>
                <a:spcPct val="150000"/>
              </a:lnSpc>
            </a:pPr>
            <a:r>
              <a:rPr lang="en-US" sz="1600" b="1" dirty="0"/>
              <a:t>Key Problem with  Sale Data Sync Services</a:t>
            </a:r>
          </a:p>
          <a:p>
            <a:pPr marL="285750" indent="-285750">
              <a:lnSpc>
                <a:spcPct val="150000"/>
              </a:lnSpc>
              <a:buFont typeface="Arial" panose="020B0604020202020204" pitchFamily="34" charset="0"/>
              <a:buChar char="•"/>
            </a:pPr>
            <a:r>
              <a:rPr lang="en-US" sz="1400" dirty="0"/>
              <a:t>Operation &amp; Data Reliability Issues -Due to delay in data sync , data does not reach to </a:t>
            </a:r>
            <a:r>
              <a:rPr lang="en-US" sz="1400" dirty="0" err="1"/>
              <a:t>erp</a:t>
            </a:r>
            <a:r>
              <a:rPr lang="en-US" sz="1400" dirty="0"/>
              <a:t> system in time and also hard to end </a:t>
            </a:r>
            <a:r>
              <a:rPr lang="en-US" sz="1400" dirty="0" err="1"/>
              <a:t>workshift</a:t>
            </a:r>
            <a:r>
              <a:rPr lang="en-US" sz="1400" dirty="0"/>
              <a:t>.</a:t>
            </a:r>
          </a:p>
          <a:p>
            <a:pPr>
              <a:lnSpc>
                <a:spcPct val="150000"/>
              </a:lnSpc>
            </a:pPr>
            <a:endParaRPr lang="en-US" sz="1800" dirty="0"/>
          </a:p>
        </p:txBody>
      </p:sp>
    </p:spTree>
    <p:extLst>
      <p:ext uri="{BB962C8B-B14F-4D97-AF65-F5344CB8AC3E}">
        <p14:creationId xmlns:p14="http://schemas.microsoft.com/office/powerpoint/2010/main" val="3924253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0F5CF6-2FC2-DAA9-FFF3-85FDAEDC377C}"/>
              </a:ext>
            </a:extLst>
          </p:cNvPr>
          <p:cNvSpPr>
            <a:spLocks noGrp="1"/>
          </p:cNvSpPr>
          <p:nvPr>
            <p:ph type="sldNum" sz="quarter" idx="12"/>
          </p:nvPr>
        </p:nvSpPr>
        <p:spPr/>
        <p:txBody>
          <a:bodyPr/>
          <a:lstStyle/>
          <a:p>
            <a:fld id="{93288B1A-0894-4E52-95D8-2AC74CBED725}" type="slidenum">
              <a:rPr lang="en-US" smtClean="0"/>
              <a:t>7</a:t>
            </a:fld>
            <a:endParaRPr lang="en-US"/>
          </a:p>
        </p:txBody>
      </p:sp>
      <p:sp>
        <p:nvSpPr>
          <p:cNvPr id="3" name="Text Placeholder 2">
            <a:extLst>
              <a:ext uri="{FF2B5EF4-FFF2-40B4-BE49-F238E27FC236}">
                <a16:creationId xmlns:a16="http://schemas.microsoft.com/office/drawing/2014/main" id="{18BF5E4B-B356-09D4-A2FB-5CF5B996F068}"/>
              </a:ext>
            </a:extLst>
          </p:cNvPr>
          <p:cNvSpPr>
            <a:spLocks noGrp="1"/>
          </p:cNvSpPr>
          <p:nvPr>
            <p:ph type="body" idx="1"/>
          </p:nvPr>
        </p:nvSpPr>
        <p:spPr/>
        <p:txBody>
          <a:bodyPr/>
          <a:lstStyle/>
          <a:p>
            <a:r>
              <a:rPr lang="en-US" dirty="0"/>
              <a:t>Design Principles</a:t>
            </a:r>
          </a:p>
        </p:txBody>
      </p:sp>
      <p:graphicFrame>
        <p:nvGraphicFramePr>
          <p:cNvPr id="4" name="Table 4">
            <a:extLst>
              <a:ext uri="{FF2B5EF4-FFF2-40B4-BE49-F238E27FC236}">
                <a16:creationId xmlns:a16="http://schemas.microsoft.com/office/drawing/2014/main" id="{7DAAC8F7-9035-8E1E-2CD1-C78762AA6E00}"/>
              </a:ext>
            </a:extLst>
          </p:cNvPr>
          <p:cNvGraphicFramePr>
            <a:graphicFrameLocks noGrp="1"/>
          </p:cNvGraphicFramePr>
          <p:nvPr>
            <p:extLst>
              <p:ext uri="{D42A27DB-BD31-4B8C-83A1-F6EECF244321}">
                <p14:modId xmlns:p14="http://schemas.microsoft.com/office/powerpoint/2010/main" val="3015781225"/>
              </p:ext>
            </p:extLst>
          </p:nvPr>
        </p:nvGraphicFramePr>
        <p:xfrm>
          <a:off x="203201" y="1925136"/>
          <a:ext cx="10104580" cy="2118360"/>
        </p:xfrm>
        <a:graphic>
          <a:graphicData uri="http://schemas.openxmlformats.org/drawingml/2006/table">
            <a:tbl>
              <a:tblPr firstRow="1" bandRow="1">
                <a:tableStyleId>{5C22544A-7EE6-4342-B048-85BDC9FD1C3A}</a:tableStyleId>
              </a:tblPr>
              <a:tblGrid>
                <a:gridCol w="2817594">
                  <a:extLst>
                    <a:ext uri="{9D8B030D-6E8A-4147-A177-3AD203B41FA5}">
                      <a16:colId xmlns:a16="http://schemas.microsoft.com/office/drawing/2014/main" val="3117481561"/>
                    </a:ext>
                  </a:extLst>
                </a:gridCol>
                <a:gridCol w="7286986">
                  <a:extLst>
                    <a:ext uri="{9D8B030D-6E8A-4147-A177-3AD203B41FA5}">
                      <a16:colId xmlns:a16="http://schemas.microsoft.com/office/drawing/2014/main" val="1277055347"/>
                    </a:ext>
                  </a:extLst>
                </a:gridCol>
              </a:tblGrid>
              <a:tr h="170808">
                <a:tc>
                  <a:txBody>
                    <a:bodyPr/>
                    <a:lstStyle/>
                    <a:p>
                      <a:r>
                        <a:rPr lang="en-US" sz="1300" dirty="0"/>
                        <a:t>Principle</a:t>
                      </a:r>
                    </a:p>
                  </a:txBody>
                  <a:tcPr/>
                </a:tc>
                <a:tc>
                  <a:txBody>
                    <a:bodyPr/>
                    <a:lstStyle/>
                    <a:p>
                      <a:r>
                        <a:rPr lang="en-US" sz="1300" dirty="0"/>
                        <a:t>Description</a:t>
                      </a:r>
                    </a:p>
                  </a:txBody>
                  <a:tcPr/>
                </a:tc>
                <a:extLst>
                  <a:ext uri="{0D108BD9-81ED-4DB2-BD59-A6C34878D82A}">
                    <a16:rowId xmlns:a16="http://schemas.microsoft.com/office/drawing/2014/main" val="2038381032"/>
                  </a:ext>
                </a:extLst>
              </a:tr>
              <a:tr h="287677">
                <a:tc>
                  <a:txBody>
                    <a:bodyPr/>
                    <a:lstStyle/>
                    <a:p>
                      <a:r>
                        <a:rPr lang="en-US" sz="1300" dirty="0"/>
                        <a:t>Scalability</a:t>
                      </a:r>
                    </a:p>
                  </a:txBody>
                  <a:tcPr/>
                </a:tc>
                <a:tc>
                  <a:txBody>
                    <a:bodyPr/>
                    <a:lstStyle/>
                    <a:p>
                      <a:r>
                        <a:rPr lang="en-US" sz="1400" dirty="0"/>
                        <a:t>Design the system to handle increasing workloads without impacting performance.</a:t>
                      </a:r>
                      <a:endParaRPr lang="en-US" sz="1300" dirty="0"/>
                    </a:p>
                  </a:txBody>
                  <a:tcPr/>
                </a:tc>
                <a:extLst>
                  <a:ext uri="{0D108BD9-81ED-4DB2-BD59-A6C34878D82A}">
                    <a16:rowId xmlns:a16="http://schemas.microsoft.com/office/drawing/2014/main" val="509114263"/>
                  </a:ext>
                </a:extLst>
              </a:tr>
              <a:tr h="287677">
                <a:tc>
                  <a:txBody>
                    <a:bodyPr/>
                    <a:lstStyle/>
                    <a:p>
                      <a:r>
                        <a:rPr lang="en-US" sz="1300" dirty="0"/>
                        <a:t>Security</a:t>
                      </a:r>
                    </a:p>
                  </a:txBody>
                  <a:tcPr/>
                </a:tc>
                <a:tc>
                  <a:txBody>
                    <a:bodyPr/>
                    <a:lstStyle/>
                    <a:p>
                      <a:r>
                        <a:rPr lang="en-US" sz="1400" dirty="0"/>
                        <a:t>Apply security best practices, including encryption, authentication, and authorization.</a:t>
                      </a:r>
                      <a:endParaRPr lang="en-US" sz="1300" b="0" dirty="0"/>
                    </a:p>
                  </a:txBody>
                  <a:tcPr/>
                </a:tc>
                <a:extLst>
                  <a:ext uri="{0D108BD9-81ED-4DB2-BD59-A6C34878D82A}">
                    <a16:rowId xmlns:a16="http://schemas.microsoft.com/office/drawing/2014/main" val="2063871858"/>
                  </a:ext>
                </a:extLst>
              </a:tr>
              <a:tr h="287677">
                <a:tc>
                  <a:txBody>
                    <a:bodyPr/>
                    <a:lstStyle/>
                    <a:p>
                      <a:r>
                        <a:rPr lang="en-US" sz="1300" dirty="0"/>
                        <a:t>Modularity</a:t>
                      </a:r>
                    </a:p>
                  </a:txBody>
                  <a:tcPr/>
                </a:tc>
                <a:tc>
                  <a:txBody>
                    <a:bodyPr/>
                    <a:lstStyle/>
                    <a:p>
                      <a:pPr marL="0" indent="0">
                        <a:buFont typeface="Wingdings" panose="05000000000000000000" pitchFamily="2" charset="2"/>
                        <a:buNone/>
                      </a:pPr>
                      <a:r>
                        <a:rPr lang="en-US" sz="1400" dirty="0"/>
                        <a:t>Build loosely coupled components for easier maintenance and future enhancements.</a:t>
                      </a:r>
                      <a:endParaRPr lang="en-US" sz="1300" dirty="0"/>
                    </a:p>
                  </a:txBody>
                  <a:tcPr/>
                </a:tc>
                <a:extLst>
                  <a:ext uri="{0D108BD9-81ED-4DB2-BD59-A6C34878D82A}">
                    <a16:rowId xmlns:a16="http://schemas.microsoft.com/office/drawing/2014/main" val="2605578501"/>
                  </a:ext>
                </a:extLst>
              </a:tr>
              <a:tr h="170808">
                <a:tc>
                  <a:txBody>
                    <a:bodyPr/>
                    <a:lstStyle/>
                    <a:p>
                      <a:r>
                        <a:rPr lang="en-US" sz="1300" dirty="0"/>
                        <a:t>Performance</a:t>
                      </a:r>
                    </a:p>
                  </a:txBody>
                  <a:tcPr/>
                </a:tc>
                <a:tc>
                  <a:txBody>
                    <a:bodyPr/>
                    <a:lstStyle/>
                    <a:p>
                      <a:r>
                        <a:rPr lang="en-US" sz="1400" dirty="0"/>
                        <a:t>Optimize for response time, throughput, and resource efficiency.</a:t>
                      </a:r>
                      <a:endParaRPr lang="en-US" sz="1300" dirty="0"/>
                    </a:p>
                  </a:txBody>
                  <a:tcPr/>
                </a:tc>
                <a:extLst>
                  <a:ext uri="{0D108BD9-81ED-4DB2-BD59-A6C34878D82A}">
                    <a16:rowId xmlns:a16="http://schemas.microsoft.com/office/drawing/2014/main" val="3066532321"/>
                  </a:ext>
                </a:extLst>
              </a:tr>
              <a:tr h="287677">
                <a:tc>
                  <a:txBody>
                    <a:bodyPr/>
                    <a:lstStyle/>
                    <a:p>
                      <a:r>
                        <a:rPr lang="en-US" sz="1300" dirty="0"/>
                        <a:t>Compliance</a:t>
                      </a:r>
                    </a:p>
                  </a:txBody>
                  <a:tcPr/>
                </a:tc>
                <a:tc>
                  <a:txBody>
                    <a:bodyPr/>
                    <a:lstStyle/>
                    <a:p>
                      <a:r>
                        <a:rPr lang="en-US" sz="1400" dirty="0"/>
                        <a:t>Adhere to regulatory, audit, and internal governance standards.</a:t>
                      </a:r>
                      <a:endParaRPr lang="en-US" sz="1300" dirty="0"/>
                    </a:p>
                  </a:txBody>
                  <a:tcPr/>
                </a:tc>
                <a:extLst>
                  <a:ext uri="{0D108BD9-81ED-4DB2-BD59-A6C34878D82A}">
                    <a16:rowId xmlns:a16="http://schemas.microsoft.com/office/drawing/2014/main" val="4189954835"/>
                  </a:ext>
                </a:extLst>
              </a:tr>
              <a:tr h="287677">
                <a:tc>
                  <a:txBody>
                    <a:bodyPr/>
                    <a:lstStyle/>
                    <a:p>
                      <a:r>
                        <a:rPr lang="en-US" sz="1300" b="0" dirty="0"/>
                        <a:t>Observability</a:t>
                      </a:r>
                    </a:p>
                  </a:txBody>
                  <a:tcPr/>
                </a:tc>
                <a:tc>
                  <a:txBody>
                    <a:bodyPr/>
                    <a:lstStyle/>
                    <a:p>
                      <a:r>
                        <a:rPr lang="en-US" sz="1400" dirty="0"/>
                        <a:t>Include logging, monitoring, and alerting for proactive issue detection.</a:t>
                      </a:r>
                      <a:endParaRPr lang="en-US" sz="1300" dirty="0"/>
                    </a:p>
                  </a:txBody>
                  <a:tcPr/>
                </a:tc>
                <a:extLst>
                  <a:ext uri="{0D108BD9-81ED-4DB2-BD59-A6C34878D82A}">
                    <a16:rowId xmlns:a16="http://schemas.microsoft.com/office/drawing/2014/main" val="4257528081"/>
                  </a:ext>
                </a:extLst>
              </a:tr>
            </a:tbl>
          </a:graphicData>
        </a:graphic>
      </p:graphicFrame>
    </p:spTree>
    <p:extLst>
      <p:ext uri="{BB962C8B-B14F-4D97-AF65-F5344CB8AC3E}">
        <p14:creationId xmlns:p14="http://schemas.microsoft.com/office/powerpoint/2010/main" val="615142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0F5CF6-2FC2-DAA9-FFF3-85FDAEDC377C}"/>
              </a:ext>
            </a:extLst>
          </p:cNvPr>
          <p:cNvSpPr>
            <a:spLocks noGrp="1"/>
          </p:cNvSpPr>
          <p:nvPr>
            <p:ph type="sldNum" sz="quarter" idx="12"/>
          </p:nvPr>
        </p:nvSpPr>
        <p:spPr/>
        <p:txBody>
          <a:bodyPr/>
          <a:lstStyle/>
          <a:p>
            <a:fld id="{93288B1A-0894-4E52-95D8-2AC74CBED725}" type="slidenum">
              <a:rPr lang="en-US" smtClean="0"/>
              <a:t>8</a:t>
            </a:fld>
            <a:endParaRPr lang="en-US"/>
          </a:p>
        </p:txBody>
      </p:sp>
      <p:sp>
        <p:nvSpPr>
          <p:cNvPr id="3" name="Text Placeholder 2">
            <a:extLst>
              <a:ext uri="{FF2B5EF4-FFF2-40B4-BE49-F238E27FC236}">
                <a16:creationId xmlns:a16="http://schemas.microsoft.com/office/drawing/2014/main" id="{18BF5E4B-B356-09D4-A2FB-5CF5B996F068}"/>
              </a:ext>
            </a:extLst>
          </p:cNvPr>
          <p:cNvSpPr>
            <a:spLocks noGrp="1"/>
          </p:cNvSpPr>
          <p:nvPr>
            <p:ph type="body" idx="1"/>
          </p:nvPr>
        </p:nvSpPr>
        <p:spPr/>
        <p:txBody>
          <a:bodyPr/>
          <a:lstStyle/>
          <a:p>
            <a:r>
              <a:rPr lang="en-US" dirty="0"/>
              <a:t>Scope</a:t>
            </a:r>
          </a:p>
        </p:txBody>
      </p:sp>
      <p:sp>
        <p:nvSpPr>
          <p:cNvPr id="6" name="TextBox 5">
            <a:extLst>
              <a:ext uri="{FF2B5EF4-FFF2-40B4-BE49-F238E27FC236}">
                <a16:creationId xmlns:a16="http://schemas.microsoft.com/office/drawing/2014/main" id="{4A08F4D0-3A0B-98D3-152B-8DA7EAE1C4AE}"/>
              </a:ext>
            </a:extLst>
          </p:cNvPr>
          <p:cNvSpPr txBox="1"/>
          <p:nvPr/>
        </p:nvSpPr>
        <p:spPr>
          <a:xfrm>
            <a:off x="148281" y="930876"/>
            <a:ext cx="11195222" cy="4724370"/>
          </a:xfrm>
          <a:prstGeom prst="rect">
            <a:avLst/>
          </a:prstGeom>
          <a:noFill/>
        </p:spPr>
        <p:txBody>
          <a:bodyPr wrap="square">
            <a:spAutoFit/>
          </a:bodyPr>
          <a:lstStyle/>
          <a:p>
            <a:r>
              <a:rPr lang="en-US" sz="1400" b="1" dirty="0"/>
              <a:t>In-Scope</a:t>
            </a:r>
          </a:p>
          <a:p>
            <a:pPr>
              <a:lnSpc>
                <a:spcPct val="150000"/>
              </a:lnSpc>
            </a:pPr>
            <a:r>
              <a:rPr lang="en-US" sz="1400" u="sng" dirty="0"/>
              <a:t> YPS Service</a:t>
            </a:r>
            <a:endParaRPr lang="en-US" sz="1400" b="1" dirty="0"/>
          </a:p>
          <a:p>
            <a:pPr marL="285750" indent="-285750">
              <a:lnSpc>
                <a:spcPct val="150000"/>
              </a:lnSpc>
              <a:buFont typeface="Wingdings" panose="05000000000000000000" pitchFamily="2" charset="2"/>
              <a:buChar char="Ø"/>
            </a:pPr>
            <a:r>
              <a:rPr lang="en-US" sz="1400" dirty="0"/>
              <a:t>Implement new service as </a:t>
            </a:r>
            <a:r>
              <a:rPr lang="en-US" sz="1400" dirty="0" err="1"/>
              <a:t>YPSService</a:t>
            </a:r>
            <a:r>
              <a:rPr lang="en-US" sz="1400" dirty="0"/>
              <a:t> to handle all </a:t>
            </a:r>
            <a:r>
              <a:rPr lang="en-US" sz="1400" dirty="0" err="1"/>
              <a:t>yps</a:t>
            </a:r>
            <a:r>
              <a:rPr lang="en-US" sz="1400" dirty="0"/>
              <a:t> operation such as incoming </a:t>
            </a:r>
            <a:r>
              <a:rPr lang="en-US" sz="1400" dirty="0" err="1"/>
              <a:t>yps</a:t>
            </a:r>
            <a:r>
              <a:rPr lang="en-US" sz="1400" dirty="0"/>
              <a:t> transaction ,preparing raw sale data and recovering  fail sale data part.</a:t>
            </a:r>
          </a:p>
          <a:p>
            <a:pPr marL="285750" indent="-285750">
              <a:lnSpc>
                <a:spcPct val="150000"/>
              </a:lnSpc>
              <a:buFont typeface="Wingdings" panose="05000000000000000000" pitchFamily="2" charset="2"/>
              <a:buChar char="Ø"/>
            </a:pPr>
            <a:r>
              <a:rPr lang="en-US" sz="1400" dirty="0"/>
              <a:t>Use separate </a:t>
            </a:r>
            <a:r>
              <a:rPr lang="en-US" sz="1400" dirty="0" err="1"/>
              <a:t>yps</a:t>
            </a:r>
            <a:r>
              <a:rPr lang="en-US" sz="1400" dirty="0"/>
              <a:t> database for handling </a:t>
            </a:r>
            <a:r>
              <a:rPr lang="en-US" sz="1400" dirty="0" err="1"/>
              <a:t>yps</a:t>
            </a:r>
            <a:r>
              <a:rPr lang="en-US" sz="1400" dirty="0"/>
              <a:t> operations for storing </a:t>
            </a:r>
            <a:r>
              <a:rPr lang="en-US" sz="1400" dirty="0" err="1"/>
              <a:t>yps</a:t>
            </a:r>
            <a:r>
              <a:rPr lang="en-US" sz="1400" dirty="0"/>
              <a:t> transactions ,import records and </a:t>
            </a:r>
            <a:r>
              <a:rPr lang="en-US" sz="1400" dirty="0" err="1"/>
              <a:t>ypsfile</a:t>
            </a:r>
            <a:r>
              <a:rPr lang="en-US" sz="1400" dirty="0"/>
              <a:t> config records.</a:t>
            </a:r>
          </a:p>
          <a:p>
            <a:pPr marL="285750" indent="-285750">
              <a:lnSpc>
                <a:spcPct val="150000"/>
              </a:lnSpc>
              <a:buFont typeface="Wingdings" panose="05000000000000000000" pitchFamily="2" charset="2"/>
              <a:buChar char="Ø"/>
            </a:pPr>
            <a:r>
              <a:rPr lang="en-US" sz="1400" dirty="0"/>
              <a:t>Raw sale data will send to Rabbit MQ and it will consume by DataService and process sale operations. </a:t>
            </a:r>
            <a:r>
              <a:rPr lang="en-US" sz="1400" dirty="0" err="1"/>
              <a:t>DataServices</a:t>
            </a:r>
            <a:r>
              <a:rPr lang="en-US" sz="1400" dirty="0"/>
              <a:t> will implement for revamp to process </a:t>
            </a:r>
            <a:r>
              <a:rPr lang="en-US" sz="1400" dirty="0" err="1"/>
              <a:t>YPSsale</a:t>
            </a:r>
            <a:r>
              <a:rPr lang="en-US" sz="1400" dirty="0"/>
              <a:t> and finalize other </a:t>
            </a:r>
            <a:r>
              <a:rPr lang="en-US" sz="1400" dirty="0" err="1"/>
              <a:t>g&amp;g</a:t>
            </a:r>
            <a:r>
              <a:rPr lang="en-US" sz="1400" dirty="0"/>
              <a:t> operations.</a:t>
            </a:r>
          </a:p>
          <a:p>
            <a:pPr>
              <a:lnSpc>
                <a:spcPct val="150000"/>
              </a:lnSpc>
            </a:pPr>
            <a:endParaRPr lang="en-US" sz="1400" dirty="0"/>
          </a:p>
          <a:p>
            <a:pPr>
              <a:lnSpc>
                <a:spcPct val="150000"/>
              </a:lnSpc>
            </a:pPr>
            <a:r>
              <a:rPr lang="en-US" sz="1400" u="sng" dirty="0"/>
              <a:t>G&amp;G Bill &amp; Subscription Service</a:t>
            </a:r>
          </a:p>
          <a:p>
            <a:pPr marL="285750" indent="-285750">
              <a:lnSpc>
                <a:spcPct val="150000"/>
              </a:lnSpc>
              <a:buFont typeface="Wingdings" panose="05000000000000000000" pitchFamily="2" charset="2"/>
              <a:buChar char="Ø"/>
            </a:pPr>
            <a:r>
              <a:rPr lang="en-US" sz="1400" dirty="0"/>
              <a:t>Sale operations will enhance  by using Redis &amp; Rabbit MQ. So, implement only sale part before publishing to queue in existing G&amp;G </a:t>
            </a:r>
            <a:r>
              <a:rPr lang="en-US" sz="1400" dirty="0" err="1"/>
              <a:t>Eservices</a:t>
            </a:r>
            <a:r>
              <a:rPr lang="en-US" sz="1400" dirty="0"/>
              <a:t>  and DataService  part is consuming sale data and finalize sale by adding commission ,print and prefunding.</a:t>
            </a:r>
          </a:p>
          <a:p>
            <a:pPr marL="285750" indent="-285750">
              <a:lnSpc>
                <a:spcPct val="150000"/>
              </a:lnSpc>
              <a:buFont typeface="Wingdings" panose="05000000000000000000" pitchFamily="2" charset="2"/>
              <a:buChar char="Ø"/>
            </a:pPr>
            <a:r>
              <a:rPr lang="en-US" sz="1400" dirty="0"/>
              <a:t>Optimize code flow for data fetching  and processing sale operation by dividing code part (sale ,commission , print) to prevent operation fail &amp; data lost due to database processing.</a:t>
            </a:r>
          </a:p>
          <a:p>
            <a:pPr marL="285750" indent="-285750">
              <a:lnSpc>
                <a:spcPct val="150000"/>
              </a:lnSpc>
              <a:buFont typeface="Wingdings" panose="05000000000000000000" pitchFamily="2" charset="2"/>
              <a:buChar char="Ø"/>
            </a:pPr>
            <a:r>
              <a:rPr lang="en-US" sz="1400" dirty="0"/>
              <a:t>Retry mechanism for bill , subscription service for fail operations and rollback to prevent duplication operations</a:t>
            </a:r>
          </a:p>
          <a:p>
            <a:endParaRPr lang="en-US" sz="1400" dirty="0"/>
          </a:p>
        </p:txBody>
      </p:sp>
    </p:spTree>
    <p:extLst>
      <p:ext uri="{BB962C8B-B14F-4D97-AF65-F5344CB8AC3E}">
        <p14:creationId xmlns:p14="http://schemas.microsoft.com/office/powerpoint/2010/main" val="2253167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D89C9-E8DA-94A2-577F-6636A989D3A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AC11A3-EB5F-AD58-CE02-B0906833E222}"/>
              </a:ext>
            </a:extLst>
          </p:cNvPr>
          <p:cNvSpPr>
            <a:spLocks noGrp="1"/>
          </p:cNvSpPr>
          <p:nvPr>
            <p:ph type="sldNum" sz="quarter" idx="12"/>
          </p:nvPr>
        </p:nvSpPr>
        <p:spPr/>
        <p:txBody>
          <a:bodyPr/>
          <a:lstStyle/>
          <a:p>
            <a:fld id="{93288B1A-0894-4E52-95D8-2AC74CBED725}" type="slidenum">
              <a:rPr lang="en-US" smtClean="0"/>
              <a:t>9</a:t>
            </a:fld>
            <a:endParaRPr lang="en-US"/>
          </a:p>
        </p:txBody>
      </p:sp>
      <p:sp>
        <p:nvSpPr>
          <p:cNvPr id="3" name="Text Placeholder 2">
            <a:extLst>
              <a:ext uri="{FF2B5EF4-FFF2-40B4-BE49-F238E27FC236}">
                <a16:creationId xmlns:a16="http://schemas.microsoft.com/office/drawing/2014/main" id="{A17C72E8-5E50-9F5A-ECC9-A6479B38753A}"/>
              </a:ext>
            </a:extLst>
          </p:cNvPr>
          <p:cNvSpPr>
            <a:spLocks noGrp="1"/>
          </p:cNvSpPr>
          <p:nvPr>
            <p:ph type="body" idx="1"/>
          </p:nvPr>
        </p:nvSpPr>
        <p:spPr/>
        <p:txBody>
          <a:bodyPr/>
          <a:lstStyle/>
          <a:p>
            <a:r>
              <a:rPr lang="en-US" dirty="0"/>
              <a:t>Scope</a:t>
            </a:r>
          </a:p>
        </p:txBody>
      </p:sp>
      <p:sp>
        <p:nvSpPr>
          <p:cNvPr id="6" name="TextBox 5">
            <a:extLst>
              <a:ext uri="{FF2B5EF4-FFF2-40B4-BE49-F238E27FC236}">
                <a16:creationId xmlns:a16="http://schemas.microsoft.com/office/drawing/2014/main" id="{A19D81BE-110C-342E-AE03-D1248546B62A}"/>
              </a:ext>
            </a:extLst>
          </p:cNvPr>
          <p:cNvSpPr txBox="1"/>
          <p:nvPr/>
        </p:nvSpPr>
        <p:spPr>
          <a:xfrm>
            <a:off x="148281" y="930876"/>
            <a:ext cx="11491784" cy="4832092"/>
          </a:xfrm>
          <a:prstGeom prst="rect">
            <a:avLst/>
          </a:prstGeom>
          <a:noFill/>
        </p:spPr>
        <p:txBody>
          <a:bodyPr wrap="square">
            <a:spAutoFit/>
          </a:bodyPr>
          <a:lstStyle/>
          <a:p>
            <a:r>
              <a:rPr lang="en-US" sz="1400" b="1" dirty="0"/>
              <a:t>In-Scope</a:t>
            </a:r>
          </a:p>
          <a:p>
            <a:r>
              <a:rPr lang="en-US" sz="1400" u="sng" dirty="0"/>
              <a:t>Schedule Service</a:t>
            </a:r>
          </a:p>
          <a:p>
            <a:endParaRPr lang="en-US" sz="1400" b="1" dirty="0"/>
          </a:p>
          <a:p>
            <a:pPr marL="285750" indent="-285750">
              <a:lnSpc>
                <a:spcPct val="150000"/>
              </a:lnSpc>
              <a:buFont typeface="Wingdings" panose="05000000000000000000" pitchFamily="2" charset="2"/>
              <a:buChar char="Ø"/>
            </a:pPr>
            <a:r>
              <a:rPr lang="en-US" sz="1400" dirty="0"/>
              <a:t>Optimize current code by changing sync operations to async operation for AX and D365 operations for saving  data to database only in Sale Scheduler.</a:t>
            </a:r>
          </a:p>
          <a:p>
            <a:pPr marL="285750" indent="-285750">
              <a:lnSpc>
                <a:spcPct val="150000"/>
              </a:lnSpc>
              <a:buFont typeface="Wingdings" panose="05000000000000000000" pitchFamily="2" charset="2"/>
              <a:buChar char="Ø"/>
            </a:pPr>
            <a:r>
              <a:rPr lang="en-US" sz="1400" dirty="0"/>
              <a:t>For AX &amp; D365 data insert will use  batch  insert  by 30 rows per transactions.</a:t>
            </a:r>
          </a:p>
          <a:p>
            <a:pPr>
              <a:lnSpc>
                <a:spcPct val="150000"/>
              </a:lnSpc>
            </a:pPr>
            <a:endParaRPr lang="en-US" sz="1400" dirty="0"/>
          </a:p>
          <a:p>
            <a:endParaRPr lang="en-US" sz="1400" b="1" dirty="0"/>
          </a:p>
          <a:p>
            <a:r>
              <a:rPr lang="en-US" sz="1400" u="sng" dirty="0"/>
              <a:t>Data Archiving Service</a:t>
            </a:r>
          </a:p>
          <a:p>
            <a:endParaRPr lang="en-US" sz="1400" b="1" dirty="0"/>
          </a:p>
          <a:p>
            <a:pPr marL="285750" indent="-285750">
              <a:lnSpc>
                <a:spcPct val="150000"/>
              </a:lnSpc>
              <a:buFont typeface="Wingdings" panose="05000000000000000000" pitchFamily="2" charset="2"/>
              <a:buChar char="Ø"/>
            </a:pPr>
            <a:r>
              <a:rPr lang="en-US" sz="1400" dirty="0"/>
              <a:t>For data archiving following key table are selected </a:t>
            </a:r>
          </a:p>
          <a:p>
            <a:pPr marL="1257300" lvl="2" indent="-342900">
              <a:lnSpc>
                <a:spcPct val="150000"/>
              </a:lnSpc>
              <a:buFont typeface="+mj-lt"/>
              <a:buAutoNum type="arabicPeriod"/>
            </a:pPr>
            <a:r>
              <a:rPr lang="en-US" sz="1400" dirty="0"/>
              <a:t> Sale ( More than 7 Million)</a:t>
            </a:r>
          </a:p>
          <a:p>
            <a:pPr marL="1257300" lvl="2" indent="-342900">
              <a:lnSpc>
                <a:spcPct val="150000"/>
              </a:lnSpc>
              <a:buFont typeface="+mj-lt"/>
              <a:buAutoNum type="arabicPeriod"/>
            </a:pPr>
            <a:r>
              <a:rPr lang="en-US" sz="1400" dirty="0"/>
              <a:t>Commission ( More than 7 million)</a:t>
            </a:r>
          </a:p>
          <a:p>
            <a:pPr marL="1257300" lvl="2" indent="-342900">
              <a:lnSpc>
                <a:spcPct val="150000"/>
              </a:lnSpc>
              <a:buFont typeface="+mj-lt"/>
              <a:buAutoNum type="arabicPeriod"/>
            </a:pPr>
            <a:r>
              <a:rPr lang="en-US" sz="1400" dirty="0"/>
              <a:t> Reprint ,</a:t>
            </a:r>
            <a:r>
              <a:rPr lang="en-US" sz="1400" dirty="0" err="1"/>
              <a:t>PrintSummary</a:t>
            </a:r>
            <a:r>
              <a:rPr lang="en-US" sz="1400" dirty="0"/>
              <a:t> (More than 7 million) </a:t>
            </a:r>
          </a:p>
          <a:p>
            <a:pPr marL="285750" indent="-285750">
              <a:lnSpc>
                <a:spcPct val="150000"/>
              </a:lnSpc>
              <a:buFont typeface="Wingdings" panose="05000000000000000000" pitchFamily="2" charset="2"/>
              <a:buChar char="Ø"/>
            </a:pPr>
            <a:r>
              <a:rPr lang="en-US" sz="1400" dirty="0"/>
              <a:t>Only  selected table will archive to archive database  and each of the selected table will archive to date duration archive table in archive database. </a:t>
            </a:r>
          </a:p>
          <a:p>
            <a:pPr marL="285750" indent="-285750">
              <a:lnSpc>
                <a:spcPct val="150000"/>
              </a:lnSpc>
              <a:buFont typeface="Wingdings" panose="05000000000000000000" pitchFamily="2" charset="2"/>
              <a:buChar char="Ø"/>
            </a:pPr>
            <a:r>
              <a:rPr lang="en-US" sz="1400" dirty="0"/>
              <a:t>For example in archive database , sale table will exist with 2025-04-01_sale and 2025_08_01_sale for storing old sale records.</a:t>
            </a:r>
          </a:p>
          <a:p>
            <a:pPr>
              <a:lnSpc>
                <a:spcPct val="150000"/>
              </a:lnSpc>
            </a:pPr>
            <a:endParaRPr lang="en-US" sz="1400" dirty="0"/>
          </a:p>
          <a:p>
            <a:endParaRPr lang="en-US" sz="1400" dirty="0"/>
          </a:p>
        </p:txBody>
      </p:sp>
    </p:spTree>
    <p:extLst>
      <p:ext uri="{BB962C8B-B14F-4D97-AF65-F5344CB8AC3E}">
        <p14:creationId xmlns:p14="http://schemas.microsoft.com/office/powerpoint/2010/main" val="2474854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539CC-91C8-CE6C-7864-AD93F8C5DAA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D309A1-B26D-0A21-2A99-3B98EE7BAC3F}"/>
              </a:ext>
            </a:extLst>
          </p:cNvPr>
          <p:cNvSpPr>
            <a:spLocks noGrp="1"/>
          </p:cNvSpPr>
          <p:nvPr>
            <p:ph type="sldNum" sz="quarter" idx="12"/>
          </p:nvPr>
        </p:nvSpPr>
        <p:spPr/>
        <p:txBody>
          <a:bodyPr/>
          <a:lstStyle/>
          <a:p>
            <a:fld id="{93288B1A-0894-4E52-95D8-2AC74CBED725}" type="slidenum">
              <a:rPr lang="en-US" smtClean="0"/>
              <a:t>10</a:t>
            </a:fld>
            <a:endParaRPr lang="en-US"/>
          </a:p>
        </p:txBody>
      </p:sp>
      <p:sp>
        <p:nvSpPr>
          <p:cNvPr id="3" name="Text Placeholder 2">
            <a:extLst>
              <a:ext uri="{FF2B5EF4-FFF2-40B4-BE49-F238E27FC236}">
                <a16:creationId xmlns:a16="http://schemas.microsoft.com/office/drawing/2014/main" id="{04E5F536-B441-9EDC-BAFC-BBBCA5922233}"/>
              </a:ext>
            </a:extLst>
          </p:cNvPr>
          <p:cNvSpPr>
            <a:spLocks noGrp="1"/>
          </p:cNvSpPr>
          <p:nvPr>
            <p:ph type="body" idx="1"/>
          </p:nvPr>
        </p:nvSpPr>
        <p:spPr/>
        <p:txBody>
          <a:bodyPr/>
          <a:lstStyle/>
          <a:p>
            <a:r>
              <a:rPr lang="en-US" dirty="0"/>
              <a:t>Scope</a:t>
            </a:r>
          </a:p>
        </p:txBody>
      </p:sp>
      <p:sp>
        <p:nvSpPr>
          <p:cNvPr id="6" name="TextBox 5">
            <a:extLst>
              <a:ext uri="{FF2B5EF4-FFF2-40B4-BE49-F238E27FC236}">
                <a16:creationId xmlns:a16="http://schemas.microsoft.com/office/drawing/2014/main" id="{B2E4EF5A-7DEE-214D-A7F2-C9918FA244D8}"/>
              </a:ext>
            </a:extLst>
          </p:cNvPr>
          <p:cNvSpPr txBox="1"/>
          <p:nvPr/>
        </p:nvSpPr>
        <p:spPr>
          <a:xfrm>
            <a:off x="148281" y="930876"/>
            <a:ext cx="11434119" cy="5478423"/>
          </a:xfrm>
          <a:prstGeom prst="rect">
            <a:avLst/>
          </a:prstGeom>
          <a:noFill/>
        </p:spPr>
        <p:txBody>
          <a:bodyPr wrap="square">
            <a:spAutoFit/>
          </a:bodyPr>
          <a:lstStyle/>
          <a:p>
            <a:pPr>
              <a:lnSpc>
                <a:spcPct val="150000"/>
              </a:lnSpc>
            </a:pPr>
            <a:r>
              <a:rPr lang="en-US" sz="1400" b="1" dirty="0"/>
              <a:t>Out-Scope</a:t>
            </a:r>
          </a:p>
          <a:p>
            <a:pPr marL="285750" indent="-285750">
              <a:lnSpc>
                <a:spcPct val="150000"/>
              </a:lnSpc>
              <a:buFont typeface="Wingdings" panose="05000000000000000000" pitchFamily="2" charset="2"/>
              <a:buChar char="Ø"/>
            </a:pPr>
            <a:r>
              <a:rPr lang="en-US" sz="1400" dirty="0"/>
              <a:t>Only selected table will archive and archive data can’t fetch from system and require manual query support for old data fetching or report generation.</a:t>
            </a:r>
          </a:p>
          <a:p>
            <a:pPr marL="285750" indent="-285750">
              <a:lnSpc>
                <a:spcPct val="150000"/>
              </a:lnSpc>
              <a:buFont typeface="Wingdings" panose="05000000000000000000" pitchFamily="2" charset="2"/>
              <a:buChar char="Ø"/>
            </a:pPr>
            <a:r>
              <a:rPr lang="en-US" sz="1400" dirty="0"/>
              <a:t>Only 1 year data will left at original G&amp;G database for processing.</a:t>
            </a:r>
          </a:p>
          <a:p>
            <a:pPr marL="285750" indent="-285750">
              <a:lnSpc>
                <a:spcPct val="150000"/>
              </a:lnSpc>
              <a:buFont typeface="Wingdings" panose="05000000000000000000" pitchFamily="2" charset="2"/>
              <a:buChar char="Ø"/>
            </a:pPr>
            <a:r>
              <a:rPr lang="en-US" sz="1400" dirty="0"/>
              <a:t>Only retry service will apply for sale operations at G&amp;G Bill ,subscription , </a:t>
            </a:r>
            <a:r>
              <a:rPr lang="en-US" sz="1400" dirty="0" err="1"/>
              <a:t>Eservices</a:t>
            </a:r>
            <a:r>
              <a:rPr lang="en-US" sz="1400" dirty="0"/>
              <a:t> and </a:t>
            </a:r>
            <a:r>
              <a:rPr lang="en-US" sz="1400" dirty="0" err="1"/>
              <a:t>yps</a:t>
            </a:r>
            <a:r>
              <a:rPr lang="en-US" sz="1400" dirty="0"/>
              <a:t> service.</a:t>
            </a:r>
          </a:p>
          <a:p>
            <a:pPr marL="285750" indent="-285750">
              <a:lnSpc>
                <a:spcPct val="150000"/>
              </a:lnSpc>
              <a:buFont typeface="Wingdings" panose="05000000000000000000" pitchFamily="2" charset="2"/>
              <a:buChar char="Ø"/>
            </a:pPr>
            <a:r>
              <a:rPr lang="en-US" sz="1400" dirty="0"/>
              <a:t>Only code optimization &amp; adding Redia and Rabbit MQ will apply at G&amp;G Services for processing faster &amp; prevent sale operation fail or time out error but this can’t help unsuccessful top up or time out issues at  telecom side .</a:t>
            </a:r>
          </a:p>
          <a:p>
            <a:pPr marL="285750" indent="-285750">
              <a:lnSpc>
                <a:spcPct val="150000"/>
              </a:lnSpc>
              <a:buFont typeface="Wingdings" panose="05000000000000000000" pitchFamily="2" charset="2"/>
              <a:buChar char="Ø"/>
            </a:pPr>
            <a:r>
              <a:rPr lang="en-US" sz="1400" dirty="0"/>
              <a:t>Non-functional requirements not explicitly covered (e.g., hardware upgrades outside the current architecture).</a:t>
            </a:r>
          </a:p>
          <a:p>
            <a:pPr marL="285750" indent="-285750">
              <a:lnSpc>
                <a:spcPct val="150000"/>
              </a:lnSpc>
              <a:buFont typeface="Wingdings" panose="05000000000000000000" pitchFamily="2" charset="2"/>
              <a:buChar char="Ø"/>
            </a:pPr>
            <a:r>
              <a:rPr lang="en-US" sz="1400" dirty="0"/>
              <a:t>Any future enhancements or modules beyond the current project scope.</a:t>
            </a:r>
          </a:p>
          <a:p>
            <a:pPr marL="285750" indent="-285750">
              <a:lnSpc>
                <a:spcPct val="150000"/>
              </a:lnSpc>
              <a:buFont typeface="Wingdings" panose="05000000000000000000" pitchFamily="2" charset="2"/>
              <a:buChar char="Ø"/>
            </a:pPr>
            <a:r>
              <a:rPr lang="en-US" sz="1400" dirty="0"/>
              <a:t>In data Sync , sync process flow will faster than current set up but data will not reach real time .</a:t>
            </a:r>
          </a:p>
          <a:p>
            <a:pPr marL="285750" indent="-285750">
              <a:lnSpc>
                <a:spcPct val="150000"/>
              </a:lnSpc>
              <a:buFont typeface="Wingdings" panose="05000000000000000000" pitchFamily="2" charset="2"/>
              <a:buChar char="Ø"/>
            </a:pPr>
            <a:r>
              <a:rPr lang="en-US" sz="1400" dirty="0"/>
              <a:t>YPS service side incomplete data may fail at </a:t>
            </a:r>
            <a:r>
              <a:rPr lang="en-US" sz="1400" dirty="0" err="1"/>
              <a:t>g&amp;g</a:t>
            </a:r>
            <a:r>
              <a:rPr lang="en-US" sz="1400" dirty="0"/>
              <a:t> side and this will not cover by system and require manual upload by align with  </a:t>
            </a:r>
            <a:r>
              <a:rPr lang="en-US" sz="1400" dirty="0" err="1"/>
              <a:t>yps</a:t>
            </a:r>
            <a:r>
              <a:rPr lang="en-US" sz="1400" dirty="0"/>
              <a:t> side.</a:t>
            </a:r>
          </a:p>
          <a:p>
            <a:pPr marL="285750" indent="-285750">
              <a:lnSpc>
                <a:spcPct val="150000"/>
              </a:lnSpc>
              <a:buFont typeface="Wingdings" panose="05000000000000000000" pitchFamily="2" charset="2"/>
              <a:buChar char="Ø"/>
            </a:pPr>
            <a:r>
              <a:rPr lang="en-US" sz="1400" dirty="0"/>
              <a:t>In YPS revamp ,  clicking reprint require for printing </a:t>
            </a:r>
            <a:r>
              <a:rPr lang="en-US" sz="1400" dirty="0" err="1"/>
              <a:t>yps</a:t>
            </a:r>
            <a:r>
              <a:rPr lang="en-US" sz="1400" dirty="0"/>
              <a:t> voucher for top up bill with device which does not have built in printer.</a:t>
            </a:r>
          </a:p>
          <a:p>
            <a:pPr marL="285750" indent="-285750">
              <a:lnSpc>
                <a:spcPct val="150000"/>
              </a:lnSpc>
              <a:buFont typeface="Wingdings" panose="05000000000000000000" pitchFamily="2" charset="2"/>
              <a:buChar char="Ø"/>
            </a:pPr>
            <a:endParaRPr lang="en-US" sz="1400" dirty="0"/>
          </a:p>
          <a:p>
            <a:pPr marL="285750" indent="-285750">
              <a:lnSpc>
                <a:spcPct val="150000"/>
              </a:lnSpc>
              <a:buFont typeface="Wingdings" panose="05000000000000000000" pitchFamily="2" charset="2"/>
              <a:buChar char="Ø"/>
            </a:pPr>
            <a:endParaRPr lang="en-US" sz="1400" dirty="0"/>
          </a:p>
          <a:p>
            <a:pPr marL="285750" indent="-285750">
              <a:lnSpc>
                <a:spcPct val="150000"/>
              </a:lnSpc>
              <a:buFont typeface="Wingdings" panose="05000000000000000000" pitchFamily="2" charset="2"/>
              <a:buChar char="Ø"/>
            </a:pPr>
            <a:endParaRPr lang="en-US" sz="1400" dirty="0"/>
          </a:p>
          <a:p>
            <a:pPr marL="285750" indent="-285750">
              <a:lnSpc>
                <a:spcPct val="150000"/>
              </a:lnSpc>
              <a:buFont typeface="Wingdings" panose="05000000000000000000" pitchFamily="2" charset="2"/>
              <a:buChar char="Ø"/>
            </a:pPr>
            <a:endParaRPr lang="en-US" sz="1400" dirty="0"/>
          </a:p>
          <a:p>
            <a:pPr marL="285750" indent="-285750">
              <a:lnSpc>
                <a:spcPct val="150000"/>
              </a:lnSpc>
              <a:buFont typeface="Wingdings" panose="05000000000000000000" pitchFamily="2" charset="2"/>
              <a:buChar char="Ø"/>
            </a:pPr>
            <a:endParaRPr lang="en-US" sz="1400" dirty="0"/>
          </a:p>
          <a:p>
            <a:endParaRPr lang="en-US" sz="1400" dirty="0"/>
          </a:p>
        </p:txBody>
      </p:sp>
    </p:spTree>
    <p:extLst>
      <p:ext uri="{BB962C8B-B14F-4D97-AF65-F5344CB8AC3E}">
        <p14:creationId xmlns:p14="http://schemas.microsoft.com/office/powerpoint/2010/main" val="1386108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53FD79-DFAF-0975-69EF-FB3463742E2D}"/>
              </a:ext>
            </a:extLst>
          </p:cNvPr>
          <p:cNvSpPr>
            <a:spLocks noGrp="1"/>
          </p:cNvSpPr>
          <p:nvPr>
            <p:ph type="sldNum" sz="quarter" idx="12"/>
          </p:nvPr>
        </p:nvSpPr>
        <p:spPr/>
        <p:txBody>
          <a:bodyPr/>
          <a:lstStyle/>
          <a:p>
            <a:fld id="{93288B1A-0894-4E52-95D8-2AC74CBED725}" type="slidenum">
              <a:rPr lang="en-US" smtClean="0"/>
              <a:t>11</a:t>
            </a:fld>
            <a:endParaRPr lang="en-US"/>
          </a:p>
        </p:txBody>
      </p:sp>
      <p:sp>
        <p:nvSpPr>
          <p:cNvPr id="18" name="Text Placeholder 2">
            <a:extLst>
              <a:ext uri="{FF2B5EF4-FFF2-40B4-BE49-F238E27FC236}">
                <a16:creationId xmlns:a16="http://schemas.microsoft.com/office/drawing/2014/main" id="{B6A3574E-BCA8-647A-9EAA-2CEFC6088E80}"/>
              </a:ext>
            </a:extLst>
          </p:cNvPr>
          <p:cNvSpPr>
            <a:spLocks noGrp="1"/>
          </p:cNvSpPr>
          <p:nvPr>
            <p:ph type="body" idx="1"/>
          </p:nvPr>
        </p:nvSpPr>
        <p:spPr>
          <a:xfrm>
            <a:off x="81002" y="48294"/>
            <a:ext cx="10226779" cy="465975"/>
          </a:xfrm>
        </p:spPr>
        <p:txBody>
          <a:bodyPr/>
          <a:lstStyle/>
          <a:p>
            <a:r>
              <a:rPr lang="en-US" dirty="0"/>
              <a:t>Assumptions And Constraints</a:t>
            </a:r>
          </a:p>
        </p:txBody>
      </p:sp>
      <p:sp>
        <p:nvSpPr>
          <p:cNvPr id="19" name="TextBox 18">
            <a:extLst>
              <a:ext uri="{FF2B5EF4-FFF2-40B4-BE49-F238E27FC236}">
                <a16:creationId xmlns:a16="http://schemas.microsoft.com/office/drawing/2014/main" id="{85B4683E-03BA-A611-0997-F9DE828A7C96}"/>
              </a:ext>
            </a:extLst>
          </p:cNvPr>
          <p:cNvSpPr txBox="1"/>
          <p:nvPr/>
        </p:nvSpPr>
        <p:spPr>
          <a:xfrm>
            <a:off x="81001" y="864974"/>
            <a:ext cx="11460209" cy="5586145"/>
          </a:xfrm>
          <a:prstGeom prst="rect">
            <a:avLst/>
          </a:prstGeom>
          <a:noFill/>
        </p:spPr>
        <p:txBody>
          <a:bodyPr wrap="square">
            <a:spAutoFit/>
          </a:bodyPr>
          <a:lstStyle/>
          <a:p>
            <a:r>
              <a:rPr lang="en-US" sz="1400" b="1" dirty="0"/>
              <a:t>Assumption</a:t>
            </a:r>
          </a:p>
          <a:p>
            <a:pPr>
              <a:lnSpc>
                <a:spcPct val="150000"/>
              </a:lnSpc>
            </a:pPr>
            <a:r>
              <a:rPr lang="en-US" sz="1400" dirty="0"/>
              <a:t>YPS Revamp</a:t>
            </a:r>
          </a:p>
          <a:p>
            <a:pPr marL="285750" indent="-285750">
              <a:lnSpc>
                <a:spcPct val="150000"/>
              </a:lnSpc>
              <a:buFont typeface="Wingdings" panose="05000000000000000000" pitchFamily="2" charset="2"/>
              <a:buChar char="Ø"/>
            </a:pPr>
            <a:r>
              <a:rPr lang="en-US" sz="1400" dirty="0"/>
              <a:t>Due to time out issues and delay in processing sale operations for </a:t>
            </a:r>
            <a:r>
              <a:rPr lang="en-US" sz="1400" dirty="0" err="1"/>
              <a:t>yps</a:t>
            </a:r>
            <a:r>
              <a:rPr lang="en-US" sz="1400" dirty="0"/>
              <a:t> , use Rabbit MQ for dividing preparing sale  data part and processing sale  part for more quick response and async processing.</a:t>
            </a:r>
          </a:p>
          <a:p>
            <a:pPr marL="285750" indent="-285750">
              <a:lnSpc>
                <a:spcPct val="150000"/>
              </a:lnSpc>
              <a:buFont typeface="Wingdings" panose="05000000000000000000" pitchFamily="2" charset="2"/>
              <a:buChar char="Ø"/>
            </a:pPr>
            <a:r>
              <a:rPr lang="en-US" sz="1400" dirty="0"/>
              <a:t>To  recover sale related operations fail due to database connection or other case need to use retry mechanism.</a:t>
            </a:r>
          </a:p>
          <a:p>
            <a:pPr marL="285750" indent="-285750">
              <a:lnSpc>
                <a:spcPct val="150000"/>
              </a:lnSpc>
              <a:buFont typeface="Wingdings" panose="05000000000000000000" pitchFamily="2" charset="2"/>
              <a:buChar char="Ø"/>
            </a:pPr>
            <a:r>
              <a:rPr lang="en-US" sz="1400" dirty="0"/>
              <a:t>To prevent static data like bill , product and store fetch many time from database , data will store and fetch from </a:t>
            </a:r>
            <a:r>
              <a:rPr lang="en-US" sz="1400" dirty="0" err="1"/>
              <a:t>redis</a:t>
            </a:r>
            <a:r>
              <a:rPr lang="en-US" sz="1400" dirty="0"/>
              <a:t> ( store will hold for 10 min , bill and product will hold for 6 </a:t>
            </a:r>
            <a:r>
              <a:rPr lang="en-US" sz="1400" dirty="0" err="1"/>
              <a:t>hr</a:t>
            </a:r>
            <a:r>
              <a:rPr lang="en-US" sz="1400" dirty="0"/>
              <a:t>)</a:t>
            </a:r>
          </a:p>
          <a:p>
            <a:pPr marL="285750" indent="-285750">
              <a:lnSpc>
                <a:spcPct val="150000"/>
              </a:lnSpc>
              <a:buFont typeface="Wingdings" panose="05000000000000000000" pitchFamily="2" charset="2"/>
              <a:buChar char="Ø"/>
            </a:pPr>
            <a:r>
              <a:rPr lang="en-US" sz="1400" dirty="0"/>
              <a:t>To make </a:t>
            </a:r>
            <a:r>
              <a:rPr lang="en-US" sz="1400" dirty="0" err="1"/>
              <a:t>yps</a:t>
            </a:r>
            <a:r>
              <a:rPr lang="en-US" sz="1400" dirty="0"/>
              <a:t> service more scalable in future  separate </a:t>
            </a:r>
            <a:r>
              <a:rPr lang="en-US" sz="1400" dirty="0" err="1"/>
              <a:t>yps</a:t>
            </a:r>
            <a:r>
              <a:rPr lang="en-US" sz="1400" dirty="0"/>
              <a:t> operations as new service repo by following microservice architecture</a:t>
            </a:r>
          </a:p>
          <a:p>
            <a:pPr>
              <a:lnSpc>
                <a:spcPct val="150000"/>
              </a:lnSpc>
            </a:pPr>
            <a:endParaRPr lang="en-US" sz="1400" dirty="0"/>
          </a:p>
          <a:p>
            <a:pPr>
              <a:lnSpc>
                <a:spcPct val="150000"/>
              </a:lnSpc>
            </a:pPr>
            <a:r>
              <a:rPr lang="en-US" sz="1400" dirty="0"/>
              <a:t>G&amp;G </a:t>
            </a:r>
          </a:p>
          <a:p>
            <a:pPr marL="285750" indent="-285750">
              <a:lnSpc>
                <a:spcPct val="150000"/>
              </a:lnSpc>
              <a:buFont typeface="Wingdings" panose="05000000000000000000" pitchFamily="2" charset="2"/>
              <a:buChar char="Ø"/>
            </a:pPr>
            <a:r>
              <a:rPr lang="en-US" sz="1400" dirty="0"/>
              <a:t>To reduce time out issues and more faster processing sale operations for G&amp;G, use queue by publishing sale operations part which is major business logic and sale completion part ( commission , print , print summary ,sale response )  which consume from queue and process</a:t>
            </a:r>
          </a:p>
          <a:p>
            <a:pPr marL="285750" indent="-285750">
              <a:lnSpc>
                <a:spcPct val="150000"/>
              </a:lnSpc>
              <a:buFont typeface="Wingdings" panose="05000000000000000000" pitchFamily="2" charset="2"/>
              <a:buChar char="Ø"/>
            </a:pPr>
            <a:r>
              <a:rPr lang="en-US" sz="1400" dirty="0"/>
              <a:t>To  recover sale related operations fail due to database connection or other case need to use retry mechanism.</a:t>
            </a:r>
          </a:p>
          <a:p>
            <a:pPr marL="285750" indent="-285750">
              <a:lnSpc>
                <a:spcPct val="150000"/>
              </a:lnSpc>
              <a:buFont typeface="Wingdings" panose="05000000000000000000" pitchFamily="2" charset="2"/>
              <a:buChar char="Ø"/>
            </a:pPr>
            <a:r>
              <a:rPr lang="en-US" sz="1400" dirty="0"/>
              <a:t>To prevent static data like bill , product and store fetch many time from database , data will store and fetch from </a:t>
            </a:r>
            <a:r>
              <a:rPr lang="en-US" sz="1400" dirty="0" err="1"/>
              <a:t>redis</a:t>
            </a:r>
            <a:r>
              <a:rPr lang="en-US" sz="1400" dirty="0"/>
              <a:t> ( store will hold for 10 min , bill and product will hold for 6 </a:t>
            </a:r>
            <a:r>
              <a:rPr lang="en-US" sz="1400" dirty="0" err="1"/>
              <a:t>hr</a:t>
            </a:r>
            <a:r>
              <a:rPr lang="en-US" sz="1400" dirty="0"/>
              <a:t>)</a:t>
            </a:r>
          </a:p>
          <a:p>
            <a:pPr marL="285750" indent="-285750">
              <a:lnSpc>
                <a:spcPct val="150000"/>
              </a:lnSpc>
              <a:buFont typeface="Wingdings" panose="05000000000000000000" pitchFamily="2" charset="2"/>
              <a:buChar char="Ø"/>
            </a:pPr>
            <a:r>
              <a:rPr lang="en-US" sz="1400" dirty="0"/>
              <a:t>To reduce financial lost due to time out in top up , status check will done for time out case and this will minimize to some extent for top up bill lost.</a:t>
            </a:r>
          </a:p>
          <a:p>
            <a:endParaRPr lang="en-US" sz="1400" dirty="0"/>
          </a:p>
          <a:p>
            <a:endParaRPr lang="en-US" sz="1400" dirty="0"/>
          </a:p>
        </p:txBody>
      </p:sp>
    </p:spTree>
    <p:extLst>
      <p:ext uri="{BB962C8B-B14F-4D97-AF65-F5344CB8AC3E}">
        <p14:creationId xmlns:p14="http://schemas.microsoft.com/office/powerpoint/2010/main" val="1235559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84690-B900-1EEE-E390-41816FD7C2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01426C-D6A8-B539-4106-89472DB03A26}"/>
              </a:ext>
            </a:extLst>
          </p:cNvPr>
          <p:cNvSpPr>
            <a:spLocks noGrp="1"/>
          </p:cNvSpPr>
          <p:nvPr>
            <p:ph type="sldNum" sz="quarter" idx="12"/>
          </p:nvPr>
        </p:nvSpPr>
        <p:spPr/>
        <p:txBody>
          <a:bodyPr/>
          <a:lstStyle/>
          <a:p>
            <a:fld id="{93288B1A-0894-4E52-95D8-2AC74CBED725}" type="slidenum">
              <a:rPr lang="en-US" smtClean="0"/>
              <a:t>12</a:t>
            </a:fld>
            <a:endParaRPr lang="en-US"/>
          </a:p>
        </p:txBody>
      </p:sp>
      <p:sp>
        <p:nvSpPr>
          <p:cNvPr id="18" name="Text Placeholder 2">
            <a:extLst>
              <a:ext uri="{FF2B5EF4-FFF2-40B4-BE49-F238E27FC236}">
                <a16:creationId xmlns:a16="http://schemas.microsoft.com/office/drawing/2014/main" id="{E4DF247F-51E1-9FEE-1686-20061D794FE8}"/>
              </a:ext>
            </a:extLst>
          </p:cNvPr>
          <p:cNvSpPr>
            <a:spLocks noGrp="1"/>
          </p:cNvSpPr>
          <p:nvPr>
            <p:ph type="body" idx="1"/>
          </p:nvPr>
        </p:nvSpPr>
        <p:spPr>
          <a:xfrm>
            <a:off x="81002" y="48294"/>
            <a:ext cx="10226779" cy="465975"/>
          </a:xfrm>
        </p:spPr>
        <p:txBody>
          <a:bodyPr/>
          <a:lstStyle/>
          <a:p>
            <a:r>
              <a:rPr lang="en-US" dirty="0"/>
              <a:t>Assumptions And Constraints</a:t>
            </a:r>
          </a:p>
        </p:txBody>
      </p:sp>
      <p:sp>
        <p:nvSpPr>
          <p:cNvPr id="19" name="TextBox 18">
            <a:extLst>
              <a:ext uri="{FF2B5EF4-FFF2-40B4-BE49-F238E27FC236}">
                <a16:creationId xmlns:a16="http://schemas.microsoft.com/office/drawing/2014/main" id="{40F5D4BA-8E47-6CB9-9346-B69FD3F7B089}"/>
              </a:ext>
            </a:extLst>
          </p:cNvPr>
          <p:cNvSpPr txBox="1"/>
          <p:nvPr/>
        </p:nvSpPr>
        <p:spPr>
          <a:xfrm>
            <a:off x="319898" y="1062682"/>
            <a:ext cx="11229549" cy="3000821"/>
          </a:xfrm>
          <a:prstGeom prst="rect">
            <a:avLst/>
          </a:prstGeom>
          <a:noFill/>
        </p:spPr>
        <p:txBody>
          <a:bodyPr wrap="square">
            <a:spAutoFit/>
          </a:bodyPr>
          <a:lstStyle/>
          <a:p>
            <a:r>
              <a:rPr lang="en-US" sz="1400" b="1" dirty="0"/>
              <a:t>Assumption</a:t>
            </a:r>
          </a:p>
          <a:p>
            <a:endParaRPr lang="en-US" sz="1400" dirty="0"/>
          </a:p>
          <a:p>
            <a:pPr>
              <a:lnSpc>
                <a:spcPct val="150000"/>
              </a:lnSpc>
            </a:pPr>
            <a:r>
              <a:rPr lang="en-US" sz="1400" dirty="0"/>
              <a:t>Sale Scheduler </a:t>
            </a:r>
          </a:p>
          <a:p>
            <a:pPr marL="285750" indent="-285750">
              <a:lnSpc>
                <a:spcPct val="150000"/>
              </a:lnSpc>
              <a:buFont typeface="Wingdings" panose="05000000000000000000" pitchFamily="2" charset="2"/>
              <a:buChar char="Ø"/>
            </a:pPr>
            <a:r>
              <a:rPr lang="en-US" sz="1400" dirty="0"/>
              <a:t>Due to single insert for data sync  related with AX and D365 database , data insertion is pretty slow , beside these data first sync to AX and then sync to D365 one after another which make data sync make more slower.</a:t>
            </a:r>
          </a:p>
          <a:p>
            <a:pPr marL="285750" indent="-285750">
              <a:lnSpc>
                <a:spcPct val="150000"/>
              </a:lnSpc>
              <a:buFont typeface="Wingdings" panose="05000000000000000000" pitchFamily="2" charset="2"/>
              <a:buChar char="Ø"/>
            </a:pPr>
            <a:r>
              <a:rPr lang="en-US" sz="1400" dirty="0"/>
              <a:t>To prevent these case batch insert will done by 30 records per batch and async processing for AX and D365 data sync.</a:t>
            </a:r>
          </a:p>
          <a:p>
            <a:pPr marL="285750" indent="-285750">
              <a:lnSpc>
                <a:spcPct val="150000"/>
              </a:lnSpc>
              <a:buFont typeface="Wingdings" panose="05000000000000000000" pitchFamily="2" charset="2"/>
              <a:buChar char="Ø"/>
            </a:pPr>
            <a:endParaRPr lang="en-US" sz="1400" dirty="0"/>
          </a:p>
          <a:p>
            <a:pPr>
              <a:lnSpc>
                <a:spcPct val="150000"/>
              </a:lnSpc>
            </a:pPr>
            <a:r>
              <a:rPr lang="en-US" sz="1400" dirty="0"/>
              <a:t>Data Archiving</a:t>
            </a:r>
          </a:p>
          <a:p>
            <a:pPr marL="285750" indent="-285750">
              <a:lnSpc>
                <a:spcPct val="150000"/>
              </a:lnSpc>
              <a:buFont typeface="Wingdings" panose="05000000000000000000" pitchFamily="2" charset="2"/>
              <a:buChar char="Ø"/>
            </a:pPr>
            <a:r>
              <a:rPr lang="en-US" sz="1400" dirty="0"/>
              <a:t>Current data in table are growing longer day to day which can interrupt sale operations , so to prevent this data archiving is require.</a:t>
            </a:r>
          </a:p>
          <a:p>
            <a:endParaRPr lang="en-US" sz="1400" dirty="0"/>
          </a:p>
        </p:txBody>
      </p:sp>
    </p:spTree>
    <p:extLst>
      <p:ext uri="{BB962C8B-B14F-4D97-AF65-F5344CB8AC3E}">
        <p14:creationId xmlns:p14="http://schemas.microsoft.com/office/powerpoint/2010/main" val="3443330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A218B-60FE-E60A-0F3E-7C0182F08CE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2DA9F6-2BEA-B047-60D3-23A45794C32F}"/>
              </a:ext>
            </a:extLst>
          </p:cNvPr>
          <p:cNvSpPr>
            <a:spLocks noGrp="1"/>
          </p:cNvSpPr>
          <p:nvPr>
            <p:ph type="sldNum" sz="quarter" idx="12"/>
          </p:nvPr>
        </p:nvSpPr>
        <p:spPr/>
        <p:txBody>
          <a:bodyPr/>
          <a:lstStyle/>
          <a:p>
            <a:fld id="{93288B1A-0894-4E52-95D8-2AC74CBED725}" type="slidenum">
              <a:rPr lang="en-US" smtClean="0"/>
              <a:t>13</a:t>
            </a:fld>
            <a:endParaRPr lang="en-US"/>
          </a:p>
        </p:txBody>
      </p:sp>
      <p:sp>
        <p:nvSpPr>
          <p:cNvPr id="18" name="Text Placeholder 2">
            <a:extLst>
              <a:ext uri="{FF2B5EF4-FFF2-40B4-BE49-F238E27FC236}">
                <a16:creationId xmlns:a16="http://schemas.microsoft.com/office/drawing/2014/main" id="{C4C7B635-1912-E4A1-9A59-FFB0B088A5D7}"/>
              </a:ext>
            </a:extLst>
          </p:cNvPr>
          <p:cNvSpPr>
            <a:spLocks noGrp="1"/>
          </p:cNvSpPr>
          <p:nvPr>
            <p:ph type="body" idx="1"/>
          </p:nvPr>
        </p:nvSpPr>
        <p:spPr>
          <a:xfrm>
            <a:off x="81002" y="48294"/>
            <a:ext cx="10226779" cy="465975"/>
          </a:xfrm>
        </p:spPr>
        <p:txBody>
          <a:bodyPr/>
          <a:lstStyle/>
          <a:p>
            <a:r>
              <a:rPr lang="en-US" dirty="0"/>
              <a:t>Assumptions And Constraints</a:t>
            </a:r>
          </a:p>
        </p:txBody>
      </p:sp>
      <p:sp>
        <p:nvSpPr>
          <p:cNvPr id="19" name="TextBox 18">
            <a:extLst>
              <a:ext uri="{FF2B5EF4-FFF2-40B4-BE49-F238E27FC236}">
                <a16:creationId xmlns:a16="http://schemas.microsoft.com/office/drawing/2014/main" id="{165E2067-42E3-DDF2-488A-30B226A5E1D3}"/>
              </a:ext>
            </a:extLst>
          </p:cNvPr>
          <p:cNvSpPr txBox="1"/>
          <p:nvPr/>
        </p:nvSpPr>
        <p:spPr>
          <a:xfrm>
            <a:off x="319898" y="1062682"/>
            <a:ext cx="11229549" cy="2246769"/>
          </a:xfrm>
          <a:prstGeom prst="rect">
            <a:avLst/>
          </a:prstGeom>
          <a:noFill/>
        </p:spPr>
        <p:txBody>
          <a:bodyPr wrap="square">
            <a:spAutoFit/>
          </a:bodyPr>
          <a:lstStyle/>
          <a:p>
            <a:r>
              <a:rPr lang="en-US" sz="1400" b="1" dirty="0"/>
              <a:t>Constraint</a:t>
            </a:r>
          </a:p>
          <a:p>
            <a:pPr marL="342900" indent="-342900">
              <a:buFont typeface="Wingdings" panose="05000000000000000000" pitchFamily="2" charset="2"/>
              <a:buChar char="Ø"/>
            </a:pPr>
            <a:r>
              <a:rPr lang="en-US" sz="1400" dirty="0"/>
              <a:t>YPS REVAMP- Due to consuming sale data from queue and process sale operation , it will need to wait few seconds for reprinting top up </a:t>
            </a:r>
            <a:r>
              <a:rPr lang="en-US" sz="1400" dirty="0" err="1"/>
              <a:t>bill.Current</a:t>
            </a:r>
            <a:r>
              <a:rPr lang="en-US" sz="1400" dirty="0"/>
              <a:t> pos device does not require reprint but future sumi pos will need voucher print from </a:t>
            </a:r>
            <a:r>
              <a:rPr lang="en-US" sz="1400" dirty="0" err="1"/>
              <a:t>Eservice</a:t>
            </a:r>
            <a:r>
              <a:rPr lang="en-US" sz="1400" dirty="0"/>
              <a:t> front end , if customer request.</a:t>
            </a:r>
          </a:p>
          <a:p>
            <a:pPr marL="342900" indent="-342900">
              <a:buFont typeface="Wingdings" panose="05000000000000000000" pitchFamily="2" charset="2"/>
              <a:buChar char="Ø"/>
            </a:pPr>
            <a:r>
              <a:rPr lang="en-US" sz="1400" dirty="0"/>
              <a:t>G&amp;G Bill ,Subscription  &amp; other operations enhancement0,  although sale operation part finish before publishing to queue ,  rest part like commission , prefunding , print and print summary saving part done after consuming from queue so if queue fail due to some reason or block ,data will delay .it will not directly impact customer operations but for management report  part it can cause delay .</a:t>
            </a:r>
          </a:p>
          <a:p>
            <a:pPr marL="342900" indent="-342900">
              <a:buFont typeface="Wingdings" panose="05000000000000000000" pitchFamily="2" charset="2"/>
              <a:buChar char="Ø"/>
            </a:pPr>
            <a:r>
              <a:rPr lang="en-US" sz="1400" dirty="0"/>
              <a:t>Sale Scheduler – Due to async processing between 3 database this will make more resource usage at sync time.</a:t>
            </a:r>
          </a:p>
          <a:p>
            <a:pPr marL="342900" indent="-342900">
              <a:buFont typeface="Wingdings" panose="05000000000000000000" pitchFamily="2" charset="2"/>
              <a:buChar char="Ø"/>
            </a:pPr>
            <a:r>
              <a:rPr lang="en-US" sz="1400" dirty="0"/>
              <a:t>Data Archiving Enhancement – Without proper </a:t>
            </a:r>
            <a:r>
              <a:rPr lang="en-US" sz="1400" dirty="0" err="1"/>
              <a:t>manul</a:t>
            </a:r>
            <a:r>
              <a:rPr lang="en-US" sz="1400" dirty="0"/>
              <a:t> script combination or system , old data cant gather easily and need to implement report system for fetching between current database and archive database.</a:t>
            </a:r>
          </a:p>
          <a:p>
            <a:pPr marL="342900" indent="-342900">
              <a:buFont typeface="Wingdings" panose="05000000000000000000" pitchFamily="2" charset="2"/>
              <a:buChar char="Ø"/>
            </a:pPr>
            <a:endParaRPr lang="en-US" sz="1400" dirty="0"/>
          </a:p>
        </p:txBody>
      </p:sp>
    </p:spTree>
    <p:extLst>
      <p:ext uri="{BB962C8B-B14F-4D97-AF65-F5344CB8AC3E}">
        <p14:creationId xmlns:p14="http://schemas.microsoft.com/office/powerpoint/2010/main" val="2018470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A1ABD3-2224-FCAA-C067-563A2AFC6D7E}"/>
              </a:ext>
            </a:extLst>
          </p:cNvPr>
          <p:cNvSpPr>
            <a:spLocks noGrp="1"/>
          </p:cNvSpPr>
          <p:nvPr>
            <p:ph type="sldNum" sz="quarter" idx="12"/>
          </p:nvPr>
        </p:nvSpPr>
        <p:spPr/>
        <p:txBody>
          <a:bodyPr/>
          <a:lstStyle/>
          <a:p>
            <a:fld id="{93288B1A-0894-4E52-95D8-2AC74CBED725}" type="slidenum">
              <a:rPr lang="en-US" smtClean="0"/>
              <a:t>14</a:t>
            </a:fld>
            <a:endParaRPr lang="en-US"/>
          </a:p>
        </p:txBody>
      </p:sp>
      <p:sp>
        <p:nvSpPr>
          <p:cNvPr id="3" name="Text Placeholder 2">
            <a:extLst>
              <a:ext uri="{FF2B5EF4-FFF2-40B4-BE49-F238E27FC236}">
                <a16:creationId xmlns:a16="http://schemas.microsoft.com/office/drawing/2014/main" id="{895422F2-7454-7627-91EE-5B441571B88F}"/>
              </a:ext>
            </a:extLst>
          </p:cNvPr>
          <p:cNvSpPr>
            <a:spLocks noGrp="1"/>
          </p:cNvSpPr>
          <p:nvPr>
            <p:ph type="body" idx="1"/>
          </p:nvPr>
        </p:nvSpPr>
        <p:spPr/>
        <p:txBody>
          <a:bodyPr/>
          <a:lstStyle/>
          <a:p>
            <a:r>
              <a:rPr lang="en-US" dirty="0"/>
              <a:t>System Overview</a:t>
            </a:r>
          </a:p>
        </p:txBody>
      </p:sp>
      <p:pic>
        <p:nvPicPr>
          <p:cNvPr id="6" name="Picture 5">
            <a:extLst>
              <a:ext uri="{FF2B5EF4-FFF2-40B4-BE49-F238E27FC236}">
                <a16:creationId xmlns:a16="http://schemas.microsoft.com/office/drawing/2014/main" id="{93C8D813-E260-6A78-12E5-9DE07D2C4C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7674" y="823783"/>
            <a:ext cx="7503418" cy="5897692"/>
          </a:xfrm>
          <a:prstGeom prst="rect">
            <a:avLst/>
          </a:prstGeom>
        </p:spPr>
      </p:pic>
    </p:spTree>
    <p:extLst>
      <p:ext uri="{BB962C8B-B14F-4D97-AF65-F5344CB8AC3E}">
        <p14:creationId xmlns:p14="http://schemas.microsoft.com/office/powerpoint/2010/main" val="2224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7A9FD-FB06-025D-0BC0-6D810A98D3D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B4B551-2D82-43A4-DBF1-6DC94D98D015}"/>
              </a:ext>
            </a:extLst>
          </p:cNvPr>
          <p:cNvSpPr>
            <a:spLocks noGrp="1"/>
          </p:cNvSpPr>
          <p:nvPr>
            <p:ph type="sldNum" sz="quarter" idx="12"/>
          </p:nvPr>
        </p:nvSpPr>
        <p:spPr/>
        <p:txBody>
          <a:bodyPr/>
          <a:lstStyle/>
          <a:p>
            <a:fld id="{93288B1A-0894-4E52-95D8-2AC74CBED725}" type="slidenum">
              <a:rPr lang="en-US" smtClean="0"/>
              <a:t>15</a:t>
            </a:fld>
            <a:endParaRPr lang="en-US"/>
          </a:p>
        </p:txBody>
      </p:sp>
      <p:sp>
        <p:nvSpPr>
          <p:cNvPr id="3" name="Text Placeholder 2">
            <a:extLst>
              <a:ext uri="{FF2B5EF4-FFF2-40B4-BE49-F238E27FC236}">
                <a16:creationId xmlns:a16="http://schemas.microsoft.com/office/drawing/2014/main" id="{017450C6-326F-AD3F-B9F6-70637D8AD257}"/>
              </a:ext>
            </a:extLst>
          </p:cNvPr>
          <p:cNvSpPr>
            <a:spLocks noGrp="1"/>
          </p:cNvSpPr>
          <p:nvPr>
            <p:ph type="body" idx="1"/>
          </p:nvPr>
        </p:nvSpPr>
        <p:spPr/>
        <p:txBody>
          <a:bodyPr/>
          <a:lstStyle/>
          <a:p>
            <a:r>
              <a:rPr lang="en-US" dirty="0"/>
              <a:t>High Level Architecture (Existing System)</a:t>
            </a:r>
          </a:p>
        </p:txBody>
      </p:sp>
      <p:pic>
        <p:nvPicPr>
          <p:cNvPr id="8" name="Picture 7">
            <a:extLst>
              <a:ext uri="{FF2B5EF4-FFF2-40B4-BE49-F238E27FC236}">
                <a16:creationId xmlns:a16="http://schemas.microsoft.com/office/drawing/2014/main" id="{8712141F-80B5-E59F-DCD4-E1765FDE35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026" y="923191"/>
            <a:ext cx="9580328" cy="5798283"/>
          </a:xfrm>
          <a:prstGeom prst="rect">
            <a:avLst/>
          </a:prstGeom>
        </p:spPr>
      </p:pic>
    </p:spTree>
    <p:extLst>
      <p:ext uri="{BB962C8B-B14F-4D97-AF65-F5344CB8AC3E}">
        <p14:creationId xmlns:p14="http://schemas.microsoft.com/office/powerpoint/2010/main" val="2325877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D99018-257E-E80B-CC48-12AEEEDA48FB}"/>
              </a:ext>
            </a:extLst>
          </p:cNvPr>
          <p:cNvSpPr>
            <a:spLocks noGrp="1"/>
          </p:cNvSpPr>
          <p:nvPr>
            <p:ph type="sldNum" sz="quarter" idx="12"/>
          </p:nvPr>
        </p:nvSpPr>
        <p:spPr/>
        <p:txBody>
          <a:bodyPr/>
          <a:lstStyle/>
          <a:p>
            <a:fld id="{93288B1A-0894-4E52-95D8-2AC74CBED725}" type="slidenum">
              <a:rPr lang="en-US" smtClean="0"/>
              <a:t>16</a:t>
            </a:fld>
            <a:endParaRPr lang="en-US"/>
          </a:p>
        </p:txBody>
      </p:sp>
      <p:sp>
        <p:nvSpPr>
          <p:cNvPr id="3" name="Text Placeholder 2">
            <a:extLst>
              <a:ext uri="{FF2B5EF4-FFF2-40B4-BE49-F238E27FC236}">
                <a16:creationId xmlns:a16="http://schemas.microsoft.com/office/drawing/2014/main" id="{F43F683D-1547-ED8B-AFDE-8F3ED9815590}"/>
              </a:ext>
            </a:extLst>
          </p:cNvPr>
          <p:cNvSpPr>
            <a:spLocks noGrp="1"/>
          </p:cNvSpPr>
          <p:nvPr>
            <p:ph type="body" idx="1"/>
          </p:nvPr>
        </p:nvSpPr>
        <p:spPr/>
        <p:txBody>
          <a:bodyPr/>
          <a:lstStyle/>
          <a:p>
            <a:r>
              <a:rPr lang="en-US" dirty="0"/>
              <a:t>High Level Architecture</a:t>
            </a:r>
          </a:p>
        </p:txBody>
      </p:sp>
      <p:pic>
        <p:nvPicPr>
          <p:cNvPr id="6" name="Picture 5">
            <a:extLst>
              <a:ext uri="{FF2B5EF4-FFF2-40B4-BE49-F238E27FC236}">
                <a16:creationId xmlns:a16="http://schemas.microsoft.com/office/drawing/2014/main" id="{32BFBE9D-208C-142B-CB5C-930C2192EE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3741"/>
            <a:ext cx="10420865" cy="6174259"/>
          </a:xfrm>
          <a:prstGeom prst="rect">
            <a:avLst/>
          </a:prstGeom>
        </p:spPr>
      </p:pic>
    </p:spTree>
    <p:extLst>
      <p:ext uri="{BB962C8B-B14F-4D97-AF65-F5344CB8AC3E}">
        <p14:creationId xmlns:p14="http://schemas.microsoft.com/office/powerpoint/2010/main" val="3363287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55D4C7-5BB5-FF19-92CE-65503AB70A2D}"/>
              </a:ext>
            </a:extLst>
          </p:cNvPr>
          <p:cNvSpPr>
            <a:spLocks noGrp="1"/>
          </p:cNvSpPr>
          <p:nvPr>
            <p:ph type="sldNum" sz="quarter" idx="12"/>
          </p:nvPr>
        </p:nvSpPr>
        <p:spPr/>
        <p:txBody>
          <a:bodyPr/>
          <a:lstStyle/>
          <a:p>
            <a:fld id="{93288B1A-0894-4E52-95D8-2AC74CBED725}" type="slidenum">
              <a:rPr lang="en-US" smtClean="0"/>
              <a:t>17</a:t>
            </a:fld>
            <a:endParaRPr lang="en-US"/>
          </a:p>
        </p:txBody>
      </p:sp>
      <p:sp>
        <p:nvSpPr>
          <p:cNvPr id="3" name="Text Placeholder 2">
            <a:extLst>
              <a:ext uri="{FF2B5EF4-FFF2-40B4-BE49-F238E27FC236}">
                <a16:creationId xmlns:a16="http://schemas.microsoft.com/office/drawing/2014/main" id="{E87A27D2-3989-9BB6-7123-D448AD8D2F09}"/>
              </a:ext>
            </a:extLst>
          </p:cNvPr>
          <p:cNvSpPr>
            <a:spLocks noGrp="1"/>
          </p:cNvSpPr>
          <p:nvPr>
            <p:ph type="body" idx="1"/>
          </p:nvPr>
        </p:nvSpPr>
        <p:spPr/>
        <p:txBody>
          <a:bodyPr/>
          <a:lstStyle/>
          <a:p>
            <a:r>
              <a:rPr lang="en-US" dirty="0"/>
              <a:t>Key Components (Component Diagram for YPS)</a:t>
            </a:r>
          </a:p>
        </p:txBody>
      </p:sp>
      <p:pic>
        <p:nvPicPr>
          <p:cNvPr id="5" name="Picture 4">
            <a:extLst>
              <a:ext uri="{FF2B5EF4-FFF2-40B4-BE49-F238E27FC236}">
                <a16:creationId xmlns:a16="http://schemas.microsoft.com/office/drawing/2014/main" id="{55CA3E6C-186D-780B-AD27-0D960563FA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02" y="698598"/>
            <a:ext cx="9997870" cy="6159402"/>
          </a:xfrm>
          <a:prstGeom prst="rect">
            <a:avLst/>
          </a:prstGeom>
        </p:spPr>
      </p:pic>
    </p:spTree>
    <p:extLst>
      <p:ext uri="{BB962C8B-B14F-4D97-AF65-F5344CB8AC3E}">
        <p14:creationId xmlns:p14="http://schemas.microsoft.com/office/powerpoint/2010/main" val="1563390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646CA-2DB2-33B4-AC79-AB8522E217B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091DDC-64D3-AEC1-3001-CD5C4DC4709E}"/>
              </a:ext>
            </a:extLst>
          </p:cNvPr>
          <p:cNvSpPr>
            <a:spLocks noGrp="1"/>
          </p:cNvSpPr>
          <p:nvPr>
            <p:ph type="sldNum" sz="quarter" idx="12"/>
          </p:nvPr>
        </p:nvSpPr>
        <p:spPr/>
        <p:txBody>
          <a:bodyPr/>
          <a:lstStyle/>
          <a:p>
            <a:fld id="{93288B1A-0894-4E52-95D8-2AC74CBED725}" type="slidenum">
              <a:rPr lang="en-US" smtClean="0"/>
              <a:t>18</a:t>
            </a:fld>
            <a:endParaRPr lang="en-US"/>
          </a:p>
        </p:txBody>
      </p:sp>
      <p:sp>
        <p:nvSpPr>
          <p:cNvPr id="3" name="Text Placeholder 2">
            <a:extLst>
              <a:ext uri="{FF2B5EF4-FFF2-40B4-BE49-F238E27FC236}">
                <a16:creationId xmlns:a16="http://schemas.microsoft.com/office/drawing/2014/main" id="{E2EF1F56-C17A-0D2D-1D42-8B981DBEBAE4}"/>
              </a:ext>
            </a:extLst>
          </p:cNvPr>
          <p:cNvSpPr>
            <a:spLocks noGrp="1"/>
          </p:cNvSpPr>
          <p:nvPr>
            <p:ph type="body" idx="1"/>
          </p:nvPr>
        </p:nvSpPr>
        <p:spPr/>
        <p:txBody>
          <a:bodyPr/>
          <a:lstStyle/>
          <a:p>
            <a:r>
              <a:rPr lang="en-US" dirty="0"/>
              <a:t>Key Components (Component Diagram for G&amp;G)</a:t>
            </a:r>
          </a:p>
        </p:txBody>
      </p:sp>
      <p:pic>
        <p:nvPicPr>
          <p:cNvPr id="5" name="Picture 4">
            <a:extLst>
              <a:ext uri="{FF2B5EF4-FFF2-40B4-BE49-F238E27FC236}">
                <a16:creationId xmlns:a16="http://schemas.microsoft.com/office/drawing/2014/main" id="{35847915-0E59-3006-A1B3-0432D35B6C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01" y="694606"/>
            <a:ext cx="9524317" cy="6105099"/>
          </a:xfrm>
          <a:prstGeom prst="rect">
            <a:avLst/>
          </a:prstGeom>
        </p:spPr>
      </p:pic>
    </p:spTree>
    <p:extLst>
      <p:ext uri="{BB962C8B-B14F-4D97-AF65-F5344CB8AC3E}">
        <p14:creationId xmlns:p14="http://schemas.microsoft.com/office/powerpoint/2010/main" val="681174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F9569-F8B4-0BF2-1E8D-51494CCC28D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C7AF08-CC6B-1C1E-F76C-60D49FE7505C}"/>
              </a:ext>
            </a:extLst>
          </p:cNvPr>
          <p:cNvSpPr>
            <a:spLocks noGrp="1"/>
          </p:cNvSpPr>
          <p:nvPr>
            <p:ph type="sldNum" sz="quarter" idx="12"/>
          </p:nvPr>
        </p:nvSpPr>
        <p:spPr/>
        <p:txBody>
          <a:bodyPr/>
          <a:lstStyle/>
          <a:p>
            <a:fld id="{93288B1A-0894-4E52-95D8-2AC74CBED725}" type="slidenum">
              <a:rPr lang="en-US" smtClean="0"/>
              <a:t>19</a:t>
            </a:fld>
            <a:endParaRPr lang="en-US"/>
          </a:p>
        </p:txBody>
      </p:sp>
      <p:sp>
        <p:nvSpPr>
          <p:cNvPr id="3" name="Text Placeholder 2">
            <a:extLst>
              <a:ext uri="{FF2B5EF4-FFF2-40B4-BE49-F238E27FC236}">
                <a16:creationId xmlns:a16="http://schemas.microsoft.com/office/drawing/2014/main" id="{5EA9A210-0A55-C414-8A7D-7C139E7E94E2}"/>
              </a:ext>
            </a:extLst>
          </p:cNvPr>
          <p:cNvSpPr>
            <a:spLocks noGrp="1"/>
          </p:cNvSpPr>
          <p:nvPr>
            <p:ph type="body" idx="1"/>
          </p:nvPr>
        </p:nvSpPr>
        <p:spPr/>
        <p:txBody>
          <a:bodyPr/>
          <a:lstStyle/>
          <a:p>
            <a:r>
              <a:rPr lang="en-US" dirty="0"/>
              <a:t>Key Components (Component Diagram for Sale Service)</a:t>
            </a:r>
          </a:p>
        </p:txBody>
      </p:sp>
      <p:pic>
        <p:nvPicPr>
          <p:cNvPr id="7" name="Picture 6">
            <a:extLst>
              <a:ext uri="{FF2B5EF4-FFF2-40B4-BE49-F238E27FC236}">
                <a16:creationId xmlns:a16="http://schemas.microsoft.com/office/drawing/2014/main" id="{378B3358-698C-E521-27F5-BEA427D9D3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581" y="1222187"/>
            <a:ext cx="9151620" cy="5204460"/>
          </a:xfrm>
          <a:prstGeom prst="rect">
            <a:avLst/>
          </a:prstGeom>
        </p:spPr>
      </p:pic>
    </p:spTree>
    <p:extLst>
      <p:ext uri="{BB962C8B-B14F-4D97-AF65-F5344CB8AC3E}">
        <p14:creationId xmlns:p14="http://schemas.microsoft.com/office/powerpoint/2010/main" val="3416017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D5D123-49E2-F0CE-4FE5-17CB1B0FC8BE}"/>
              </a:ext>
            </a:extLst>
          </p:cNvPr>
          <p:cNvSpPr>
            <a:spLocks noGrp="1"/>
          </p:cNvSpPr>
          <p:nvPr>
            <p:ph type="sldNum" sz="quarter" idx="12"/>
          </p:nvPr>
        </p:nvSpPr>
        <p:spPr/>
        <p:txBody>
          <a:bodyPr/>
          <a:lstStyle/>
          <a:p>
            <a:fld id="{93288B1A-0894-4E52-95D8-2AC74CBED725}" type="slidenum">
              <a:rPr lang="en-US" smtClean="0"/>
              <a:t>20</a:t>
            </a:fld>
            <a:endParaRPr lang="en-US"/>
          </a:p>
        </p:txBody>
      </p:sp>
      <p:sp>
        <p:nvSpPr>
          <p:cNvPr id="3" name="Text Placeholder 2">
            <a:extLst>
              <a:ext uri="{FF2B5EF4-FFF2-40B4-BE49-F238E27FC236}">
                <a16:creationId xmlns:a16="http://schemas.microsoft.com/office/drawing/2014/main" id="{1CEB25EF-88E3-154B-60A8-18D70F3CBC48}"/>
              </a:ext>
            </a:extLst>
          </p:cNvPr>
          <p:cNvSpPr>
            <a:spLocks noGrp="1"/>
          </p:cNvSpPr>
          <p:nvPr>
            <p:ph type="body" idx="1"/>
          </p:nvPr>
        </p:nvSpPr>
        <p:spPr/>
        <p:txBody>
          <a:bodyPr/>
          <a:lstStyle/>
          <a:p>
            <a:r>
              <a:rPr lang="en-US" dirty="0"/>
              <a:t>Swimlane for YPS</a:t>
            </a:r>
          </a:p>
        </p:txBody>
      </p:sp>
      <p:pic>
        <p:nvPicPr>
          <p:cNvPr id="5" name="Picture 4">
            <a:extLst>
              <a:ext uri="{FF2B5EF4-FFF2-40B4-BE49-F238E27FC236}">
                <a16:creationId xmlns:a16="http://schemas.microsoft.com/office/drawing/2014/main" id="{EDAAF048-E42A-5CBB-7F72-CF0B2FF46E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80844"/>
            <a:ext cx="11576807" cy="5907743"/>
          </a:xfrm>
          <a:prstGeom prst="rect">
            <a:avLst/>
          </a:prstGeom>
        </p:spPr>
      </p:pic>
    </p:spTree>
    <p:extLst>
      <p:ext uri="{BB962C8B-B14F-4D97-AF65-F5344CB8AC3E}">
        <p14:creationId xmlns:p14="http://schemas.microsoft.com/office/powerpoint/2010/main" val="3811131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7F542-DBA0-9524-16FC-BA6B1D1F141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C7ABCC-1FA1-BB35-E175-D6B2530F6F86}"/>
              </a:ext>
            </a:extLst>
          </p:cNvPr>
          <p:cNvSpPr>
            <a:spLocks noGrp="1"/>
          </p:cNvSpPr>
          <p:nvPr>
            <p:ph type="sldNum" sz="quarter" idx="12"/>
          </p:nvPr>
        </p:nvSpPr>
        <p:spPr/>
        <p:txBody>
          <a:bodyPr/>
          <a:lstStyle/>
          <a:p>
            <a:fld id="{93288B1A-0894-4E52-95D8-2AC74CBED725}" type="slidenum">
              <a:rPr lang="en-US" smtClean="0"/>
              <a:t>21</a:t>
            </a:fld>
            <a:endParaRPr lang="en-US"/>
          </a:p>
        </p:txBody>
      </p:sp>
      <p:sp>
        <p:nvSpPr>
          <p:cNvPr id="3" name="Text Placeholder 2">
            <a:extLst>
              <a:ext uri="{FF2B5EF4-FFF2-40B4-BE49-F238E27FC236}">
                <a16:creationId xmlns:a16="http://schemas.microsoft.com/office/drawing/2014/main" id="{77AC21FC-36FD-7EA7-C46A-F92486BE0EA6}"/>
              </a:ext>
            </a:extLst>
          </p:cNvPr>
          <p:cNvSpPr>
            <a:spLocks noGrp="1"/>
          </p:cNvSpPr>
          <p:nvPr>
            <p:ph type="body" idx="1"/>
          </p:nvPr>
        </p:nvSpPr>
        <p:spPr/>
        <p:txBody>
          <a:bodyPr/>
          <a:lstStyle/>
          <a:p>
            <a:r>
              <a:rPr lang="en-US" dirty="0"/>
              <a:t>Swimlane for G&amp;G</a:t>
            </a:r>
          </a:p>
        </p:txBody>
      </p:sp>
      <p:pic>
        <p:nvPicPr>
          <p:cNvPr id="6" name="Picture 5">
            <a:extLst>
              <a:ext uri="{FF2B5EF4-FFF2-40B4-BE49-F238E27FC236}">
                <a16:creationId xmlns:a16="http://schemas.microsoft.com/office/drawing/2014/main" id="{7F6BDA59-1201-1687-9327-E25AB76116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576" y="902611"/>
            <a:ext cx="11431778" cy="5709203"/>
          </a:xfrm>
          <a:prstGeom prst="rect">
            <a:avLst/>
          </a:prstGeom>
        </p:spPr>
      </p:pic>
    </p:spTree>
    <p:extLst>
      <p:ext uri="{BB962C8B-B14F-4D97-AF65-F5344CB8AC3E}">
        <p14:creationId xmlns:p14="http://schemas.microsoft.com/office/powerpoint/2010/main" val="3219006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6D1A3D-D8D1-97E3-EFD0-0A8F2EB4A746}"/>
              </a:ext>
            </a:extLst>
          </p:cNvPr>
          <p:cNvSpPr>
            <a:spLocks noGrp="1"/>
          </p:cNvSpPr>
          <p:nvPr>
            <p:ph type="sldNum" sz="quarter" idx="12"/>
          </p:nvPr>
        </p:nvSpPr>
        <p:spPr/>
        <p:txBody>
          <a:bodyPr/>
          <a:lstStyle/>
          <a:p>
            <a:fld id="{93288B1A-0894-4E52-95D8-2AC74CBED725}" type="slidenum">
              <a:rPr lang="en-US" smtClean="0"/>
              <a:t>22</a:t>
            </a:fld>
            <a:endParaRPr lang="en-US"/>
          </a:p>
        </p:txBody>
      </p:sp>
      <p:sp>
        <p:nvSpPr>
          <p:cNvPr id="3" name="Text Placeholder 2">
            <a:extLst>
              <a:ext uri="{FF2B5EF4-FFF2-40B4-BE49-F238E27FC236}">
                <a16:creationId xmlns:a16="http://schemas.microsoft.com/office/drawing/2014/main" id="{6D3407A6-CDE3-D3A9-EF51-C54D92FB1B5D}"/>
              </a:ext>
            </a:extLst>
          </p:cNvPr>
          <p:cNvSpPr>
            <a:spLocks noGrp="1"/>
          </p:cNvSpPr>
          <p:nvPr>
            <p:ph type="body" idx="1"/>
          </p:nvPr>
        </p:nvSpPr>
        <p:spPr/>
        <p:txBody>
          <a:bodyPr/>
          <a:lstStyle/>
          <a:p>
            <a:r>
              <a:rPr lang="en-US" dirty="0"/>
              <a:t>Deployment Diagram</a:t>
            </a:r>
          </a:p>
        </p:txBody>
      </p:sp>
      <p:pic>
        <p:nvPicPr>
          <p:cNvPr id="6" name="Picture 5">
            <a:extLst>
              <a:ext uri="{FF2B5EF4-FFF2-40B4-BE49-F238E27FC236}">
                <a16:creationId xmlns:a16="http://schemas.microsoft.com/office/drawing/2014/main" id="{211B43FD-952E-058D-E21C-FE52A1B36D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002" y="663764"/>
            <a:ext cx="9281160" cy="5958840"/>
          </a:xfrm>
          <a:prstGeom prst="rect">
            <a:avLst/>
          </a:prstGeom>
        </p:spPr>
      </p:pic>
    </p:spTree>
    <p:extLst>
      <p:ext uri="{BB962C8B-B14F-4D97-AF65-F5344CB8AC3E}">
        <p14:creationId xmlns:p14="http://schemas.microsoft.com/office/powerpoint/2010/main" val="2967694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6E405-AAC8-05D8-7ECE-81E9975F757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91064B-73D6-452F-64A9-1328B8A6F04D}"/>
              </a:ext>
            </a:extLst>
          </p:cNvPr>
          <p:cNvSpPr>
            <a:spLocks noGrp="1"/>
          </p:cNvSpPr>
          <p:nvPr>
            <p:ph type="sldNum" sz="quarter" idx="12"/>
          </p:nvPr>
        </p:nvSpPr>
        <p:spPr/>
        <p:txBody>
          <a:bodyPr/>
          <a:lstStyle/>
          <a:p>
            <a:fld id="{93288B1A-0894-4E52-95D8-2AC74CBED725}" type="slidenum">
              <a:rPr lang="en-US" smtClean="0"/>
              <a:t>23</a:t>
            </a:fld>
            <a:endParaRPr lang="en-US"/>
          </a:p>
        </p:txBody>
      </p:sp>
      <p:sp>
        <p:nvSpPr>
          <p:cNvPr id="3" name="Text Placeholder 2">
            <a:extLst>
              <a:ext uri="{FF2B5EF4-FFF2-40B4-BE49-F238E27FC236}">
                <a16:creationId xmlns:a16="http://schemas.microsoft.com/office/drawing/2014/main" id="{87D4E100-3623-3D48-9C5F-C62975D655F4}"/>
              </a:ext>
            </a:extLst>
          </p:cNvPr>
          <p:cNvSpPr>
            <a:spLocks noGrp="1"/>
          </p:cNvSpPr>
          <p:nvPr>
            <p:ph type="body" idx="1"/>
          </p:nvPr>
        </p:nvSpPr>
        <p:spPr/>
        <p:txBody>
          <a:bodyPr/>
          <a:lstStyle/>
          <a:p>
            <a:r>
              <a:rPr lang="en-US" dirty="0"/>
              <a:t>Database Archival &amp; Housekeeping</a:t>
            </a:r>
          </a:p>
        </p:txBody>
      </p:sp>
      <p:sp>
        <p:nvSpPr>
          <p:cNvPr id="10" name="TextBox 9">
            <a:extLst>
              <a:ext uri="{FF2B5EF4-FFF2-40B4-BE49-F238E27FC236}">
                <a16:creationId xmlns:a16="http://schemas.microsoft.com/office/drawing/2014/main" id="{A2C2AD31-6C98-BA61-C179-828B8100A1FB}"/>
              </a:ext>
            </a:extLst>
          </p:cNvPr>
          <p:cNvSpPr txBox="1"/>
          <p:nvPr/>
        </p:nvSpPr>
        <p:spPr>
          <a:xfrm>
            <a:off x="609599" y="1015483"/>
            <a:ext cx="10412627" cy="646331"/>
          </a:xfrm>
          <a:prstGeom prst="rect">
            <a:avLst/>
          </a:prstGeom>
          <a:noFill/>
        </p:spPr>
        <p:txBody>
          <a:bodyPr wrap="square">
            <a:spAutoFit/>
          </a:bodyPr>
          <a:lstStyle/>
          <a:p>
            <a:r>
              <a:rPr lang="en-US" dirty="0"/>
              <a:t>Prevent performance degradation, synchronization delays, and failed operations caused by large transaction volumes.</a:t>
            </a:r>
          </a:p>
        </p:txBody>
      </p:sp>
      <p:sp>
        <p:nvSpPr>
          <p:cNvPr id="12" name="TextBox 11">
            <a:extLst>
              <a:ext uri="{FF2B5EF4-FFF2-40B4-BE49-F238E27FC236}">
                <a16:creationId xmlns:a16="http://schemas.microsoft.com/office/drawing/2014/main" id="{D5300EA8-FBFB-EE40-4BB8-3972B0782F49}"/>
              </a:ext>
            </a:extLst>
          </p:cNvPr>
          <p:cNvSpPr txBox="1"/>
          <p:nvPr/>
        </p:nvSpPr>
        <p:spPr>
          <a:xfrm>
            <a:off x="510746" y="1822273"/>
            <a:ext cx="9522940" cy="646331"/>
          </a:xfrm>
          <a:prstGeom prst="rect">
            <a:avLst/>
          </a:prstGeom>
          <a:noFill/>
        </p:spPr>
        <p:txBody>
          <a:bodyPr wrap="square">
            <a:spAutoFit/>
          </a:bodyPr>
          <a:lstStyle/>
          <a:p>
            <a:pPr>
              <a:buNone/>
            </a:pPr>
            <a:r>
              <a:rPr lang="en-US" b="1" dirty="0"/>
              <a:t>Data Retention Requirement</a:t>
            </a:r>
          </a:p>
          <a:p>
            <a:pPr>
              <a:buFont typeface="Arial" panose="020B0604020202020204" pitchFamily="34" charset="0"/>
              <a:buChar char="•"/>
            </a:pPr>
            <a:r>
              <a:rPr lang="en-US" dirty="0"/>
              <a:t>Maintain active transaction data up to 6 months in primary database </a:t>
            </a:r>
          </a:p>
        </p:txBody>
      </p:sp>
      <p:sp>
        <p:nvSpPr>
          <p:cNvPr id="14" name="TextBox 13">
            <a:extLst>
              <a:ext uri="{FF2B5EF4-FFF2-40B4-BE49-F238E27FC236}">
                <a16:creationId xmlns:a16="http://schemas.microsoft.com/office/drawing/2014/main" id="{BCA4C2EF-2F48-3409-56D4-968E842243EF}"/>
              </a:ext>
            </a:extLst>
          </p:cNvPr>
          <p:cNvSpPr txBox="1"/>
          <p:nvPr/>
        </p:nvSpPr>
        <p:spPr>
          <a:xfrm>
            <a:off x="510746" y="2593364"/>
            <a:ext cx="10898660" cy="4019690"/>
          </a:xfrm>
          <a:prstGeom prst="rect">
            <a:avLst/>
          </a:prstGeom>
          <a:noFill/>
        </p:spPr>
        <p:txBody>
          <a:bodyPr wrap="square">
            <a:spAutoFit/>
          </a:bodyPr>
          <a:lstStyle/>
          <a:p>
            <a:pPr>
              <a:lnSpc>
                <a:spcPct val="150000"/>
              </a:lnSpc>
              <a:buNone/>
            </a:pPr>
            <a:r>
              <a:rPr lang="en-US" b="1" dirty="0"/>
              <a:t>Archival Strategy</a:t>
            </a:r>
          </a:p>
          <a:p>
            <a:pPr>
              <a:lnSpc>
                <a:spcPct val="150000"/>
              </a:lnSpc>
              <a:buNone/>
            </a:pPr>
            <a:r>
              <a:rPr lang="en-US" sz="1400" b="1" dirty="0"/>
              <a:t>Archival Rule</a:t>
            </a:r>
            <a:endParaRPr lang="en-US" sz="1400" dirty="0"/>
          </a:p>
          <a:p>
            <a:pPr>
              <a:lnSpc>
                <a:spcPct val="150000"/>
              </a:lnSpc>
              <a:buFont typeface="Arial" panose="020B0604020202020204" pitchFamily="34" charset="0"/>
              <a:buChar char="•"/>
            </a:pPr>
            <a:r>
              <a:rPr lang="en-US" dirty="0"/>
              <a:t>Move data </a:t>
            </a:r>
            <a:r>
              <a:rPr lang="en-US" b="1" dirty="0"/>
              <a:t>older than 6 months</a:t>
            </a:r>
            <a:r>
              <a:rPr lang="en-US" dirty="0"/>
              <a:t> from primary DB → archive storage </a:t>
            </a:r>
          </a:p>
          <a:p>
            <a:pPr>
              <a:lnSpc>
                <a:spcPct val="150000"/>
              </a:lnSpc>
              <a:buNone/>
            </a:pPr>
            <a:r>
              <a:rPr lang="en-US" sz="1400" b="1" dirty="0"/>
              <a:t>Storage Design</a:t>
            </a:r>
            <a:endParaRPr lang="en-US" sz="1400" dirty="0"/>
          </a:p>
          <a:p>
            <a:pPr>
              <a:lnSpc>
                <a:spcPct val="150000"/>
              </a:lnSpc>
              <a:buFont typeface="Arial" panose="020B0604020202020204" pitchFamily="34" charset="0"/>
              <a:buChar char="•"/>
            </a:pPr>
            <a:r>
              <a:rPr lang="en-US" dirty="0"/>
              <a:t>Archive data stored in </a:t>
            </a:r>
            <a:r>
              <a:rPr lang="en-US" b="1" dirty="0"/>
              <a:t>separate schema (same DB instance)</a:t>
            </a:r>
            <a:r>
              <a:rPr lang="en-US" dirty="0"/>
              <a:t> </a:t>
            </a:r>
          </a:p>
          <a:p>
            <a:pPr>
              <a:lnSpc>
                <a:spcPct val="150000"/>
              </a:lnSpc>
              <a:buFont typeface="Arial" panose="020B0604020202020204" pitchFamily="34" charset="0"/>
              <a:buChar char="•"/>
            </a:pPr>
            <a:r>
              <a:rPr lang="en-US" dirty="0"/>
              <a:t>Maintain </a:t>
            </a:r>
            <a:r>
              <a:rPr lang="en-US" b="1" dirty="0"/>
              <a:t>same table structure</a:t>
            </a:r>
            <a:r>
              <a:rPr lang="en-US" dirty="0"/>
              <a:t> for consistency and easy access </a:t>
            </a:r>
          </a:p>
          <a:p>
            <a:pPr>
              <a:lnSpc>
                <a:spcPct val="150000"/>
              </a:lnSpc>
              <a:buNone/>
            </a:pPr>
            <a:r>
              <a:rPr lang="en-US" sz="1400" b="1" dirty="0"/>
              <a:t>Archival Approach</a:t>
            </a:r>
            <a:endParaRPr lang="en-US" sz="1400" dirty="0"/>
          </a:p>
          <a:p>
            <a:pPr>
              <a:lnSpc>
                <a:spcPct val="150000"/>
              </a:lnSpc>
              <a:buFont typeface="Arial" panose="020B0604020202020204" pitchFamily="34" charset="0"/>
              <a:buChar char="•"/>
            </a:pPr>
            <a:r>
              <a:rPr lang="en-US" dirty="0"/>
              <a:t>Perform </a:t>
            </a:r>
            <a:r>
              <a:rPr lang="en-US" b="1" dirty="0"/>
              <a:t>monthly monitoring and batch archival</a:t>
            </a:r>
            <a:r>
              <a:rPr lang="en-US" dirty="0"/>
              <a:t> </a:t>
            </a:r>
          </a:p>
          <a:p>
            <a:pPr>
              <a:lnSpc>
                <a:spcPct val="150000"/>
              </a:lnSpc>
              <a:buFont typeface="Arial" panose="020B0604020202020204" pitchFamily="34" charset="0"/>
              <a:buChar char="•"/>
            </a:pPr>
            <a:r>
              <a:rPr lang="en-US" dirty="0"/>
              <a:t>Archive in </a:t>
            </a:r>
            <a:r>
              <a:rPr lang="en-US" b="1" dirty="0"/>
              <a:t>6-month cycles</a:t>
            </a:r>
            <a:r>
              <a:rPr lang="en-US" dirty="0"/>
              <a:t> (or </a:t>
            </a:r>
            <a:r>
              <a:rPr lang="en-US" b="1" dirty="0"/>
              <a:t>4-month for audit-sensitive data</a:t>
            </a:r>
            <a:r>
              <a:rPr lang="en-US" dirty="0"/>
              <a:t>) </a:t>
            </a:r>
          </a:p>
          <a:p>
            <a:pPr>
              <a:lnSpc>
                <a:spcPct val="150000"/>
              </a:lnSpc>
              <a:buFont typeface="Arial" panose="020B0604020202020204" pitchFamily="34" charset="0"/>
              <a:buChar char="•"/>
            </a:pPr>
            <a:r>
              <a:rPr lang="en-US" dirty="0"/>
              <a:t>Ensure </a:t>
            </a:r>
            <a:r>
              <a:rPr lang="en-US" b="1" dirty="0"/>
              <a:t>no impact on live transaction processing</a:t>
            </a:r>
            <a:r>
              <a:rPr lang="en-US" dirty="0"/>
              <a:t> </a:t>
            </a:r>
          </a:p>
        </p:txBody>
      </p:sp>
    </p:spTree>
    <p:extLst>
      <p:ext uri="{BB962C8B-B14F-4D97-AF65-F5344CB8AC3E}">
        <p14:creationId xmlns:p14="http://schemas.microsoft.com/office/powerpoint/2010/main" val="7771415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6A7D3-9466-8132-004A-C3EC05BCF37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850F89-A6ED-4613-6EFC-C903C6794EB6}"/>
              </a:ext>
            </a:extLst>
          </p:cNvPr>
          <p:cNvSpPr>
            <a:spLocks noGrp="1"/>
          </p:cNvSpPr>
          <p:nvPr>
            <p:ph type="sldNum" sz="quarter" idx="12"/>
          </p:nvPr>
        </p:nvSpPr>
        <p:spPr/>
        <p:txBody>
          <a:bodyPr/>
          <a:lstStyle/>
          <a:p>
            <a:fld id="{93288B1A-0894-4E52-95D8-2AC74CBED725}" type="slidenum">
              <a:rPr lang="en-US" smtClean="0"/>
              <a:t>24</a:t>
            </a:fld>
            <a:endParaRPr lang="en-US"/>
          </a:p>
        </p:txBody>
      </p:sp>
      <p:sp>
        <p:nvSpPr>
          <p:cNvPr id="3" name="Text Placeholder 2">
            <a:extLst>
              <a:ext uri="{FF2B5EF4-FFF2-40B4-BE49-F238E27FC236}">
                <a16:creationId xmlns:a16="http://schemas.microsoft.com/office/drawing/2014/main" id="{F804BB2C-01E2-3306-4F2E-39D93263EDF2}"/>
              </a:ext>
            </a:extLst>
          </p:cNvPr>
          <p:cNvSpPr>
            <a:spLocks noGrp="1"/>
          </p:cNvSpPr>
          <p:nvPr>
            <p:ph type="body" idx="1"/>
          </p:nvPr>
        </p:nvSpPr>
        <p:spPr/>
        <p:txBody>
          <a:bodyPr/>
          <a:lstStyle/>
          <a:p>
            <a:r>
              <a:rPr lang="en-US" dirty="0"/>
              <a:t>Database Archival &amp; Housekeeping</a:t>
            </a:r>
          </a:p>
        </p:txBody>
      </p:sp>
      <p:sp>
        <p:nvSpPr>
          <p:cNvPr id="5" name="TextBox 4">
            <a:extLst>
              <a:ext uri="{FF2B5EF4-FFF2-40B4-BE49-F238E27FC236}">
                <a16:creationId xmlns:a16="http://schemas.microsoft.com/office/drawing/2014/main" id="{989BE93A-4FF5-072A-8405-0BDF21D4D8F8}"/>
              </a:ext>
            </a:extLst>
          </p:cNvPr>
          <p:cNvSpPr txBox="1"/>
          <p:nvPr/>
        </p:nvSpPr>
        <p:spPr>
          <a:xfrm>
            <a:off x="593124" y="944936"/>
            <a:ext cx="6096000" cy="4247317"/>
          </a:xfrm>
          <a:prstGeom prst="rect">
            <a:avLst/>
          </a:prstGeom>
          <a:noFill/>
        </p:spPr>
        <p:txBody>
          <a:bodyPr wrap="square">
            <a:spAutoFit/>
          </a:bodyPr>
          <a:lstStyle/>
          <a:p>
            <a:pPr>
              <a:buNone/>
            </a:pPr>
            <a:r>
              <a:rPr lang="en-US" b="1" dirty="0"/>
              <a:t>Housekeeping &amp; Cleanup</a:t>
            </a:r>
          </a:p>
          <a:p>
            <a:pPr>
              <a:buNone/>
            </a:pPr>
            <a:r>
              <a:rPr lang="en-US" b="1" dirty="0"/>
              <a:t>Data Cleanup</a:t>
            </a:r>
            <a:endParaRPr lang="en-US" dirty="0"/>
          </a:p>
          <a:p>
            <a:pPr>
              <a:buFont typeface="Arial" panose="020B0604020202020204" pitchFamily="34" charset="0"/>
              <a:buChar char="•"/>
            </a:pPr>
            <a:r>
              <a:rPr lang="en-US" dirty="0"/>
              <a:t>Remove archived data from primary table </a:t>
            </a:r>
          </a:p>
          <a:p>
            <a:pPr>
              <a:buFont typeface="Arial" panose="020B0604020202020204" pitchFamily="34" charset="0"/>
              <a:buChar char="•"/>
            </a:pPr>
            <a:r>
              <a:rPr lang="en-US" dirty="0"/>
              <a:t>Maintain </a:t>
            </a:r>
            <a:r>
              <a:rPr lang="en-US" b="1" dirty="0"/>
              <a:t>only latest 6 months</a:t>
            </a:r>
            <a:r>
              <a:rPr lang="en-US" dirty="0"/>
              <a:t> in main DB </a:t>
            </a:r>
          </a:p>
          <a:p>
            <a:pPr>
              <a:buNone/>
            </a:pPr>
            <a:r>
              <a:rPr lang="en-US" b="1" dirty="0"/>
              <a:t>Optimization</a:t>
            </a:r>
            <a:endParaRPr lang="en-US" dirty="0"/>
          </a:p>
          <a:p>
            <a:pPr>
              <a:buFont typeface="Arial" panose="020B0604020202020204" pitchFamily="34" charset="0"/>
              <a:buChar char="•"/>
            </a:pPr>
            <a:r>
              <a:rPr lang="en-US" dirty="0"/>
              <a:t>Rebuild indexes after cleanup </a:t>
            </a:r>
          </a:p>
          <a:p>
            <a:pPr>
              <a:buFont typeface="Arial" panose="020B0604020202020204" pitchFamily="34" charset="0"/>
              <a:buChar char="•"/>
            </a:pPr>
            <a:r>
              <a:rPr lang="en-US" dirty="0"/>
              <a:t>Optimize table to improve query performance </a:t>
            </a:r>
          </a:p>
          <a:p>
            <a:pPr>
              <a:buNone/>
            </a:pPr>
            <a:br>
              <a:rPr lang="en-US" dirty="0"/>
            </a:br>
            <a:endParaRPr lang="en-US" dirty="0"/>
          </a:p>
          <a:p>
            <a:pPr>
              <a:buNone/>
            </a:pPr>
            <a:r>
              <a:rPr lang="en-US" b="1" dirty="0"/>
              <a:t>Automation Strategy</a:t>
            </a:r>
          </a:p>
          <a:p>
            <a:pPr>
              <a:buFont typeface="Arial" panose="020B0604020202020204" pitchFamily="34" charset="0"/>
              <a:buChar char="•"/>
            </a:pPr>
            <a:r>
              <a:rPr lang="en-US" dirty="0"/>
              <a:t>Implement </a:t>
            </a:r>
            <a:r>
              <a:rPr lang="en-US" b="1" dirty="0"/>
              <a:t>MySQL Event Scheduler</a:t>
            </a:r>
            <a:r>
              <a:rPr lang="en-US" dirty="0"/>
              <a:t> for: </a:t>
            </a:r>
          </a:p>
          <a:p>
            <a:pPr marL="742950" lvl="1" indent="-285750">
              <a:buFont typeface="Arial" panose="020B0604020202020204" pitchFamily="34" charset="0"/>
              <a:buChar char="•"/>
            </a:pPr>
            <a:r>
              <a:rPr lang="en-US" dirty="0"/>
              <a:t>Scheduled archival jobs </a:t>
            </a:r>
          </a:p>
          <a:p>
            <a:pPr marL="742950" lvl="1" indent="-285750">
              <a:buFont typeface="Arial" panose="020B0604020202020204" pitchFamily="34" charset="0"/>
              <a:buChar char="•"/>
            </a:pPr>
            <a:r>
              <a:rPr lang="en-US" dirty="0"/>
              <a:t>Periodic cleanup execution </a:t>
            </a:r>
          </a:p>
          <a:p>
            <a:pPr>
              <a:buFont typeface="Arial" panose="020B0604020202020204" pitchFamily="34" charset="0"/>
              <a:buChar char="•"/>
            </a:pPr>
            <a:r>
              <a:rPr lang="en-US" dirty="0"/>
              <a:t>Enable </a:t>
            </a:r>
            <a:r>
              <a:rPr lang="en-US" b="1" dirty="0"/>
              <a:t>controlled automation with manual monitoring</a:t>
            </a:r>
            <a:r>
              <a:rPr lang="en-US" dirty="0"/>
              <a:t> </a:t>
            </a:r>
          </a:p>
          <a:p>
            <a:pPr>
              <a:buFont typeface="Arial" panose="020B0604020202020204" pitchFamily="34" charset="0"/>
              <a:buChar char="•"/>
            </a:pPr>
            <a:r>
              <a:rPr lang="en-US" dirty="0"/>
              <a:t>Ensure </a:t>
            </a:r>
            <a:r>
              <a:rPr lang="en-US" b="1" dirty="0"/>
              <a:t>job logging and validation before data removal</a:t>
            </a:r>
            <a:endParaRPr lang="en-US" dirty="0"/>
          </a:p>
        </p:txBody>
      </p:sp>
    </p:spTree>
    <p:extLst>
      <p:ext uri="{BB962C8B-B14F-4D97-AF65-F5344CB8AC3E}">
        <p14:creationId xmlns:p14="http://schemas.microsoft.com/office/powerpoint/2010/main" val="3490163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D2043-1F2B-8A6F-F527-B766C278113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6056C1-E50A-0AE1-6686-097B851500DF}"/>
              </a:ext>
            </a:extLst>
          </p:cNvPr>
          <p:cNvSpPr>
            <a:spLocks noGrp="1"/>
          </p:cNvSpPr>
          <p:nvPr>
            <p:ph type="sldNum" sz="quarter" idx="12"/>
          </p:nvPr>
        </p:nvSpPr>
        <p:spPr/>
        <p:txBody>
          <a:bodyPr/>
          <a:lstStyle/>
          <a:p>
            <a:fld id="{93288B1A-0894-4E52-95D8-2AC74CBED725}" type="slidenum">
              <a:rPr lang="en-US" smtClean="0"/>
              <a:t>25</a:t>
            </a:fld>
            <a:endParaRPr lang="en-US"/>
          </a:p>
        </p:txBody>
      </p:sp>
      <p:sp>
        <p:nvSpPr>
          <p:cNvPr id="3" name="Text Placeholder 2">
            <a:extLst>
              <a:ext uri="{FF2B5EF4-FFF2-40B4-BE49-F238E27FC236}">
                <a16:creationId xmlns:a16="http://schemas.microsoft.com/office/drawing/2014/main" id="{1DBB439A-3424-6632-F65A-268093D8D698}"/>
              </a:ext>
            </a:extLst>
          </p:cNvPr>
          <p:cNvSpPr>
            <a:spLocks noGrp="1"/>
          </p:cNvSpPr>
          <p:nvPr>
            <p:ph type="body" idx="1"/>
          </p:nvPr>
        </p:nvSpPr>
        <p:spPr/>
        <p:txBody>
          <a:bodyPr/>
          <a:lstStyle/>
          <a:p>
            <a:r>
              <a:rPr lang="en-US" dirty="0"/>
              <a:t>Database Archival &amp; Housekeeping</a:t>
            </a:r>
          </a:p>
        </p:txBody>
      </p:sp>
      <p:sp>
        <p:nvSpPr>
          <p:cNvPr id="7" name="TextBox 6">
            <a:extLst>
              <a:ext uri="{FF2B5EF4-FFF2-40B4-BE49-F238E27FC236}">
                <a16:creationId xmlns:a16="http://schemas.microsoft.com/office/drawing/2014/main" id="{7B919ED9-1694-EE3B-B737-E73173B3B9CD}"/>
              </a:ext>
            </a:extLst>
          </p:cNvPr>
          <p:cNvSpPr txBox="1"/>
          <p:nvPr/>
        </p:nvSpPr>
        <p:spPr>
          <a:xfrm>
            <a:off x="757881" y="1397675"/>
            <a:ext cx="6096000" cy="2031325"/>
          </a:xfrm>
          <a:prstGeom prst="rect">
            <a:avLst/>
          </a:prstGeom>
          <a:noFill/>
        </p:spPr>
        <p:txBody>
          <a:bodyPr wrap="square">
            <a:spAutoFit/>
          </a:bodyPr>
          <a:lstStyle/>
          <a:p>
            <a:pPr>
              <a:buNone/>
            </a:pPr>
            <a:r>
              <a:rPr lang="en-US" b="1" dirty="0"/>
              <a:t>Future Enhancement</a:t>
            </a:r>
          </a:p>
          <a:p>
            <a:pPr>
              <a:buFont typeface="Arial" panose="020B0604020202020204" pitchFamily="34" charset="0"/>
              <a:buChar char="•"/>
            </a:pPr>
            <a:r>
              <a:rPr lang="en-US" dirty="0"/>
              <a:t>Implement </a:t>
            </a:r>
            <a:r>
              <a:rPr lang="en-US" b="1" dirty="0"/>
              <a:t>monthly table partitioning (by transaction date)</a:t>
            </a:r>
            <a:r>
              <a:rPr lang="en-US" dirty="0"/>
              <a:t> </a:t>
            </a:r>
          </a:p>
          <a:p>
            <a:pPr>
              <a:buFont typeface="Arial" panose="020B0604020202020204" pitchFamily="34" charset="0"/>
              <a:buChar char="•"/>
            </a:pPr>
            <a:r>
              <a:rPr lang="en-US" dirty="0"/>
              <a:t>Automate: </a:t>
            </a:r>
          </a:p>
          <a:p>
            <a:pPr marL="742950" lvl="1" indent="-285750">
              <a:buFont typeface="Arial" panose="020B0604020202020204" pitchFamily="34" charset="0"/>
              <a:buChar char="•"/>
            </a:pPr>
            <a:r>
              <a:rPr lang="en-US" dirty="0"/>
              <a:t>Partition creation </a:t>
            </a:r>
          </a:p>
          <a:p>
            <a:pPr marL="742950" lvl="1" indent="-285750">
              <a:buFont typeface="Arial" panose="020B0604020202020204" pitchFamily="34" charset="0"/>
              <a:buChar char="•"/>
            </a:pPr>
            <a:r>
              <a:rPr lang="en-US" dirty="0"/>
              <a:t>Archival process </a:t>
            </a:r>
          </a:p>
          <a:p>
            <a:pPr marL="742950" lvl="1" indent="-285750">
              <a:buFont typeface="Arial" panose="020B0604020202020204" pitchFamily="34" charset="0"/>
              <a:buChar char="•"/>
            </a:pPr>
            <a:r>
              <a:rPr lang="en-US" dirty="0"/>
              <a:t>Old data cleanup </a:t>
            </a:r>
          </a:p>
          <a:p>
            <a:pPr>
              <a:buFont typeface="Arial" panose="020B0604020202020204" pitchFamily="34" charset="0"/>
              <a:buChar char="•"/>
            </a:pPr>
            <a:r>
              <a:rPr lang="en-US" dirty="0"/>
              <a:t>Improve </a:t>
            </a:r>
            <a:r>
              <a:rPr lang="en-US" b="1" dirty="0"/>
              <a:t>data lifecycle management and scalability</a:t>
            </a:r>
            <a:r>
              <a:rPr lang="en-US" dirty="0"/>
              <a:t> </a:t>
            </a:r>
          </a:p>
        </p:txBody>
      </p:sp>
    </p:spTree>
    <p:extLst>
      <p:ext uri="{BB962C8B-B14F-4D97-AF65-F5344CB8AC3E}">
        <p14:creationId xmlns:p14="http://schemas.microsoft.com/office/powerpoint/2010/main" val="1021220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9C983F-458B-06E6-E4F8-F1462FB49156}"/>
              </a:ext>
            </a:extLst>
          </p:cNvPr>
          <p:cNvSpPr>
            <a:spLocks noGrp="1"/>
          </p:cNvSpPr>
          <p:nvPr>
            <p:ph type="sldNum" sz="quarter" idx="12"/>
          </p:nvPr>
        </p:nvSpPr>
        <p:spPr/>
        <p:txBody>
          <a:bodyPr/>
          <a:lstStyle/>
          <a:p>
            <a:fld id="{93288B1A-0894-4E52-95D8-2AC74CBED725}" type="slidenum">
              <a:rPr lang="en-US" smtClean="0"/>
              <a:t>26</a:t>
            </a:fld>
            <a:endParaRPr lang="en-US"/>
          </a:p>
        </p:txBody>
      </p:sp>
      <p:sp>
        <p:nvSpPr>
          <p:cNvPr id="3" name="Text Placeholder 2">
            <a:extLst>
              <a:ext uri="{FF2B5EF4-FFF2-40B4-BE49-F238E27FC236}">
                <a16:creationId xmlns:a16="http://schemas.microsoft.com/office/drawing/2014/main" id="{E2F2EA55-F46C-8AB0-0140-A4E9772F2B82}"/>
              </a:ext>
            </a:extLst>
          </p:cNvPr>
          <p:cNvSpPr>
            <a:spLocks noGrp="1"/>
          </p:cNvSpPr>
          <p:nvPr>
            <p:ph type="body" idx="1"/>
          </p:nvPr>
        </p:nvSpPr>
        <p:spPr>
          <a:xfrm>
            <a:off x="0" y="3000635"/>
            <a:ext cx="12191999" cy="518983"/>
          </a:xfrm>
        </p:spPr>
        <p:txBody>
          <a:bodyPr/>
          <a:lstStyle/>
          <a:p>
            <a:pPr algn="ctr"/>
            <a:r>
              <a:rPr lang="en-US" dirty="0"/>
              <a:t>Thank You!</a:t>
            </a:r>
          </a:p>
        </p:txBody>
      </p:sp>
    </p:spTree>
    <p:extLst>
      <p:ext uri="{BB962C8B-B14F-4D97-AF65-F5344CB8AC3E}">
        <p14:creationId xmlns:p14="http://schemas.microsoft.com/office/powerpoint/2010/main" val="1784669213"/>
      </p:ext>
    </p:extLst>
  </p:cSld>
  <p:clrMapOvr>
    <a:masterClrMapping/>
  </p:clrMapOvr>
</p:sld>
</file>

<file path=ppt/theme/theme1.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59FAA4C2747084B87058E0E0A310158" ma:contentTypeVersion="17" ma:contentTypeDescription="Create a new document." ma:contentTypeScope="" ma:versionID="0d994700019694c4b789f2f92615bef0">
  <xsd:schema xmlns:xsd="http://www.w3.org/2001/XMLSchema" xmlns:xs="http://www.w3.org/2001/XMLSchema" xmlns:p="http://schemas.microsoft.com/office/2006/metadata/properties" xmlns:ns2="9fad6302-fdb1-4d2b-bae6-d2fdf9a97a42" xmlns:ns3="76bb2ce8-bb45-4930-a7cf-51d5c3ce9955" targetNamespace="http://schemas.microsoft.com/office/2006/metadata/properties" ma:root="true" ma:fieldsID="d1a30f74a7ef0c27ba753240d6a6513d" ns2:_="" ns3:_="">
    <xsd:import namespace="9fad6302-fdb1-4d2b-bae6-d2fdf9a97a42"/>
    <xsd:import namespace="76bb2ce8-bb45-4930-a7cf-51d5c3ce995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LengthInSeconds" minOccurs="0"/>
                <xsd:element ref="ns2: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ad6302-fdb1-4d2b-bae6-d2fdf9a97a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2a68c42a-fa4e-4690-8c8d-5e2b77104c2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_Flow_SignoffStatus" ma:index="24" nillable="true" ma:displayName="Sign-off status" ma:internalName="_x0024_Resources_x003a_core_x002c_Signoff_Status">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6bb2ce8-bb45-4930-a7cf-51d5c3ce995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ec937087-0f51-406b-8ce9-5382fca5863b}" ma:internalName="TaxCatchAll" ma:showField="CatchAllData" ma:web="76bb2ce8-bb45-4930-a7cf-51d5c3ce995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fad6302-fdb1-4d2b-bae6-d2fdf9a97a42">
      <Terms xmlns="http://schemas.microsoft.com/office/infopath/2007/PartnerControls"/>
    </lcf76f155ced4ddcb4097134ff3c332f>
    <TaxCatchAll xmlns="76bb2ce8-bb45-4930-a7cf-51d5c3ce9955" xsi:nil="true"/>
    <_Flow_SignoffStatus xmlns="9fad6302-fdb1-4d2b-bae6-d2fdf9a97a4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3B31715-BA8D-4E42-B12B-716E5EB2CB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ad6302-fdb1-4d2b-bae6-d2fdf9a97a42"/>
    <ds:schemaRef ds:uri="76bb2ce8-bb45-4930-a7cf-51d5c3ce995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B4568BD-1A8E-4633-AD94-D8FBD47F872A}">
  <ds:schemaRefs>
    <ds:schemaRef ds:uri="http://schemas.microsoft.com/office/2006/documentManagement/types"/>
    <ds:schemaRef ds:uri="http://purl.org/dc/elements/1.1/"/>
    <ds:schemaRef ds:uri="http://purl.org/dc/dcmitype/"/>
    <ds:schemaRef ds:uri="http://schemas.openxmlformats.org/package/2006/metadata/core-properties"/>
    <ds:schemaRef ds:uri="http://schemas.microsoft.com/office/infopath/2007/PartnerControls"/>
    <ds:schemaRef ds:uri="http://schemas.microsoft.com/office/2006/metadata/properties"/>
    <ds:schemaRef ds:uri="76bb2ce8-bb45-4930-a7cf-51d5c3ce9955"/>
    <ds:schemaRef ds:uri="9fad6302-fdb1-4d2b-bae6-d2fdf9a97a42"/>
    <ds:schemaRef ds:uri="http://www.w3.org/XML/1998/namespace"/>
    <ds:schemaRef ds:uri="http://purl.org/dc/terms/"/>
  </ds:schemaRefs>
</ds:datastoreItem>
</file>

<file path=customXml/itemProps3.xml><?xml version="1.0" encoding="utf-8"?>
<ds:datastoreItem xmlns:ds="http://schemas.openxmlformats.org/officeDocument/2006/customXml" ds:itemID="{8217D971-2416-483F-8C3C-F9A2317247D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23519</TotalTime>
  <Words>2108</Words>
  <Application>Microsoft Office PowerPoint</Application>
  <PresentationFormat>Widescreen</PresentationFormat>
  <Paragraphs>214</Paragraphs>
  <Slides>26</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Aptos Narrow</vt:lpstr>
      <vt:lpstr>Arial</vt:lpstr>
      <vt:lpstr>Calibri</vt:lpstr>
      <vt:lpstr>Wingdings</vt:lpstr>
      <vt:lpstr>6_Office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Phyo Thu Han</cp:lastModifiedBy>
  <cp:revision>213</cp:revision>
  <dcterms:created xsi:type="dcterms:W3CDTF">2021-01-16T06:03:56Z</dcterms:created>
  <dcterms:modified xsi:type="dcterms:W3CDTF">2026-03-26T08:43:00Z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0x010100159FAA4C2747084B87058E0E0A310158</vt:lpwstr>
  </property>
  <property fmtid="{D5CDD505-2E9C-101B-9397-08002B2CF9AE}" pid="3" name="MediaServiceImageTags">
    <vt:lpwstr/>
  </property>
</Properties>
</file>