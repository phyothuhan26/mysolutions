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11"/>
  </p:notesMasterIdLst>
  <p:sldIdLst>
    <p:sldId id="2145708748" r:id="rId5"/>
    <p:sldId id="2145708788" r:id="rId6"/>
    <p:sldId id="2145708792" r:id="rId7"/>
    <p:sldId id="2145708793" r:id="rId8"/>
    <p:sldId id="2145708794" r:id="rId9"/>
    <p:sldId id="21457087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87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8255" autoAdjust="0"/>
  </p:normalViewPr>
  <p:slideViewPr>
    <p:cSldViewPr snapToGrid="0">
      <p:cViewPr varScale="1">
        <p:scale>
          <a:sx n="87" d="100"/>
          <a:sy n="87" d="100"/>
        </p:scale>
        <p:origin x="43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B89EC9-ADF7-4CD8-A359-4B3486574A5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80750-FA6C-4B62-A27E-0AEE5A77F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67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63136-BFF8-EB78-2165-16658AEC1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4DD45-BABB-0DD6-2A45-730A5E2A3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64DEE-651B-DBFF-6616-A6F7523F1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E4A72-F922-477C-8EF1-5A284132E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87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6C0EAA3-C71A-43A2-91D0-C6C31102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4635" y="3447317"/>
            <a:ext cx="7676173" cy="1893748"/>
          </a:xfrm>
        </p:spPr>
        <p:txBody>
          <a:bodyPr/>
          <a:lstStyle>
            <a:lvl1pPr>
              <a:buNone/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8A08A-DC60-4455-BFC7-21B4F189180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3/31/2026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6408288"/>
            <a:ext cx="12192000" cy="2484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 sz="180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04250C-5885-48A6-8300-C696669B24AB}" type="slidenum">
              <a:rPr lang="en-US">
                <a:solidFill>
                  <a:prstClr val="white">
                    <a:lumMod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C60379-4B22-4A26-8D53-7990592BE2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0387" y="6259368"/>
            <a:ext cx="1356013" cy="50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FA9DCE2-9A27-41CD-AA22-E05C8C5DA730}"/>
              </a:ext>
            </a:extLst>
          </p:cNvPr>
          <p:cNvSpPr/>
          <p:nvPr userDrawn="1"/>
        </p:nvSpPr>
        <p:spPr>
          <a:xfrm>
            <a:off x="0" y="410547"/>
            <a:ext cx="589497" cy="335039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BA8CB8-EDC3-4B46-9A15-ACDB3324900B}"/>
              </a:ext>
            </a:extLst>
          </p:cNvPr>
          <p:cNvSpPr/>
          <p:nvPr userDrawn="1"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>
              <a:solidFill>
                <a:prstClr val="white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1BDA31-1101-46FE-8D24-6516A8D2B08F}"/>
              </a:ext>
            </a:extLst>
          </p:cNvPr>
          <p:cNvSpPr/>
          <p:nvPr userDrawn="1"/>
        </p:nvSpPr>
        <p:spPr>
          <a:xfrm>
            <a:off x="0" y="6185647"/>
            <a:ext cx="121920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>
              <a:solidFill>
                <a:prstClr val="white"/>
              </a:solidFill>
            </a:endParaRPr>
          </a:p>
        </p:txBody>
      </p:sp>
      <p:pic>
        <p:nvPicPr>
          <p:cNvPr id="14" name="Picture 7">
            <a:extLst>
              <a:ext uri="{FF2B5EF4-FFF2-40B4-BE49-F238E27FC236}">
                <a16:creationId xmlns:a16="http://schemas.microsoft.com/office/drawing/2014/main" id="{0D347471-B928-4112-A3B7-7591089D2E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9462" y="2158515"/>
            <a:ext cx="3173267" cy="1189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DBDD774-C799-4B89-A9B2-280F767B7AD9}"/>
              </a:ext>
            </a:extLst>
          </p:cNvPr>
          <p:cNvSpPr txBox="1"/>
          <p:nvPr userDrawn="1"/>
        </p:nvSpPr>
        <p:spPr>
          <a:xfrm>
            <a:off x="0" y="6629249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on this document is confidential and proprietary to CDSG. Do not copy or distribute this document.</a:t>
            </a:r>
          </a:p>
        </p:txBody>
      </p:sp>
    </p:spTree>
    <p:extLst>
      <p:ext uri="{BB962C8B-B14F-4D97-AF65-F5344CB8AC3E}">
        <p14:creationId xmlns:p14="http://schemas.microsoft.com/office/powerpoint/2010/main" val="1517239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3C4130-7473-4328-9DB3-C3281C7D1F05}"/>
              </a:ext>
            </a:extLst>
          </p:cNvPr>
          <p:cNvSpPr/>
          <p:nvPr userDrawn="1"/>
        </p:nvSpPr>
        <p:spPr>
          <a:xfrm>
            <a:off x="0" y="6147547"/>
            <a:ext cx="121920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2D724A-26F3-49B6-9B01-1DED33C73C61}"/>
              </a:ext>
            </a:extLst>
          </p:cNvPr>
          <p:cNvSpPr/>
          <p:nvPr userDrawn="1"/>
        </p:nvSpPr>
        <p:spPr>
          <a:xfrm>
            <a:off x="0" y="5995147"/>
            <a:ext cx="121920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>
              <a:solidFill>
                <a:prstClr val="white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9C6C64-80AF-412B-BDCC-C9B570CB10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3237" y="6011718"/>
            <a:ext cx="1748750" cy="655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DE81DD9C-07D6-4C15-AFFE-0D6D655994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0" y="508000"/>
            <a:ext cx="7137400" cy="914400"/>
          </a:xfrm>
        </p:spPr>
        <p:txBody>
          <a:bodyPr/>
          <a:lstStyle>
            <a:lvl1pPr marL="0" indent="0">
              <a:buNone/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CA29E5-4CD2-456D-8C37-AEF850980098}"/>
              </a:ext>
            </a:extLst>
          </p:cNvPr>
          <p:cNvSpPr txBox="1"/>
          <p:nvPr userDrawn="1"/>
        </p:nvSpPr>
        <p:spPr>
          <a:xfrm>
            <a:off x="0" y="6629249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on this document is confidential and proprietary to CDSG. Do not copy or distribute this document.</a:t>
            </a:r>
          </a:p>
        </p:txBody>
      </p:sp>
    </p:spTree>
    <p:extLst>
      <p:ext uri="{BB962C8B-B14F-4D97-AF65-F5344CB8AC3E}">
        <p14:creationId xmlns:p14="http://schemas.microsoft.com/office/powerpoint/2010/main" val="3319741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CD78-8B7B-4976-8AE0-648AF1DF3CEB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5A1445-8CA7-4094-8A1D-DA20D230DC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05838" y="-2643"/>
            <a:ext cx="1686161" cy="733528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A781350-F6E0-498B-8852-571864372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002" y="136525"/>
            <a:ext cx="10226779" cy="465975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9EBFB5-A964-42F9-B79F-978885BFC2B4}"/>
              </a:ext>
            </a:extLst>
          </p:cNvPr>
          <p:cNvSpPr/>
          <p:nvPr userDrawn="1"/>
        </p:nvSpPr>
        <p:spPr>
          <a:xfrm>
            <a:off x="81001" y="602501"/>
            <a:ext cx="10226779" cy="2010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52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260392" y="90127"/>
            <a:ext cx="11657086" cy="508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60392" y="695618"/>
            <a:ext cx="11657086" cy="5499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8D69B2-525F-4B3D-93C2-BAAB7414FB3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 dirty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408288"/>
            <a:ext cx="12192000" cy="2484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 sz="1800">
              <a:solidFill>
                <a:prstClr val="white"/>
              </a:solidFill>
              <a:latin typeface="Aptos" panose="020B00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440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769493-3986-45F8-8FCB-9328DFEE46FF}" type="slidenum">
              <a:rPr lang="en-US" smtClean="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CC0ADF-48E4-418A-A013-832BC4C38D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0387" y="6259368"/>
            <a:ext cx="1356013" cy="50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EFCD6E-A29E-4E94-8D63-F18873FB12A3}"/>
              </a:ext>
            </a:extLst>
          </p:cNvPr>
          <p:cNvSpPr txBox="1"/>
          <p:nvPr userDrawn="1"/>
        </p:nvSpPr>
        <p:spPr>
          <a:xfrm>
            <a:off x="0" y="6629249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The information on this document is confidential and proprietary to CDSG. Do not copy or distribute this document.</a:t>
            </a:r>
          </a:p>
        </p:txBody>
      </p:sp>
    </p:spTree>
    <p:extLst>
      <p:ext uri="{BB962C8B-B14F-4D97-AF65-F5344CB8AC3E}">
        <p14:creationId xmlns:p14="http://schemas.microsoft.com/office/powerpoint/2010/main" val="1892677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62" r:id="rId2"/>
    <p:sldLayoutId id="2147483663" r:id="rId3"/>
    <p:sldLayoutId id="2147483682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tx1"/>
          </a:solidFill>
          <a:latin typeface="Aptos" panose="020B0004020202020204" pitchFamily="34" charset="0"/>
          <a:ea typeface="+mj-ea"/>
          <a:cs typeface="Arial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Aptos" panose="020B0004020202020204" pitchFamily="34" charset="0"/>
          <a:ea typeface="+mn-ea"/>
          <a:cs typeface="Arial" pitchFamily="34" charset="0"/>
        </a:defRPr>
      </a:lvl1pPr>
      <a:lvl2pPr marL="8001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9CF22F-5AA4-B171-99C4-50EE2DCE24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47568" y="1581665"/>
            <a:ext cx="8491043" cy="1705232"/>
          </a:xfrm>
        </p:spPr>
        <p:txBody>
          <a:bodyPr/>
          <a:lstStyle/>
          <a:p>
            <a:pPr algn="ctr"/>
            <a:r>
              <a:rPr lang="en-GB" sz="3600" dirty="0">
                <a:latin typeface="Aptos Narrow" panose="020B0004020202020204" pitchFamily="34" charset="0"/>
              </a:rPr>
              <a:t>G&amp; G Archive</a:t>
            </a:r>
          </a:p>
          <a:p>
            <a:pPr algn="ctr"/>
            <a:r>
              <a:rPr lang="en-GB" sz="3600" b="0" dirty="0">
                <a:latin typeface="Aptos Narrow" panose="020B0004020202020204" pitchFamily="34" charset="0"/>
              </a:rPr>
              <a:t>Proposal</a:t>
            </a:r>
          </a:p>
          <a:p>
            <a:pPr algn="ctr"/>
            <a:endParaRPr lang="en-GB" sz="3600" b="0" dirty="0">
              <a:latin typeface="Aptos Narrow" panose="020B0004020202020204" pitchFamily="34" charset="0"/>
            </a:endParaRPr>
          </a:p>
          <a:p>
            <a:pPr algn="ctr"/>
            <a:endParaRPr lang="en-GB" sz="3600" b="0" dirty="0">
              <a:latin typeface="Aptos Narrow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C52E4-7A16-A6FD-0E8E-5DB151B24147}"/>
              </a:ext>
            </a:extLst>
          </p:cNvPr>
          <p:cNvSpPr txBox="1"/>
          <p:nvPr/>
        </p:nvSpPr>
        <p:spPr>
          <a:xfrm>
            <a:off x="9827741" y="5272219"/>
            <a:ext cx="2195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Solution Architect</a:t>
            </a:r>
          </a:p>
          <a:p>
            <a:r>
              <a:rPr lang="en-US" dirty="0">
                <a:solidFill>
                  <a:schemeClr val="bg1"/>
                </a:solidFill>
              </a:rPr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08816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6E405-AAC8-05D8-7ECE-81E9975F7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91064B-73D6-452F-64A9-1328B8A6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4E100-3623-3D48-9C5F-C62975D65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large volume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C2AD31-6C98-BA61-C179-828B8100A1FB}"/>
              </a:ext>
            </a:extLst>
          </p:cNvPr>
          <p:cNvSpPr txBox="1"/>
          <p:nvPr/>
        </p:nvSpPr>
        <p:spPr>
          <a:xfrm>
            <a:off x="609599" y="1015483"/>
            <a:ext cx="104126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Current </a:t>
            </a:r>
            <a:r>
              <a:rPr lang="en-US" dirty="0" err="1"/>
              <a:t>G&amp;Geservice</a:t>
            </a:r>
            <a:r>
              <a:rPr lang="en-US" dirty="0"/>
              <a:t> database have following table with large volume which cause </a:t>
            </a:r>
            <a:r>
              <a:rPr lang="en-US" b="1" dirty="0"/>
              <a:t>large CPU usage </a:t>
            </a:r>
            <a:r>
              <a:rPr lang="en-US" dirty="0"/>
              <a:t>,</a:t>
            </a:r>
            <a:r>
              <a:rPr lang="en-US" b="1" dirty="0"/>
              <a:t>disk</a:t>
            </a:r>
            <a:r>
              <a:rPr lang="en-US" dirty="0"/>
              <a:t> and impact on </a:t>
            </a:r>
            <a:r>
              <a:rPr lang="en-US" b="1" dirty="0"/>
              <a:t>query performance </a:t>
            </a:r>
            <a:r>
              <a:rPr lang="en-US" dirty="0"/>
              <a:t>database process which lead to failure on doing database transaction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70AED5-C218-F2F7-C043-2BAF911CB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079" y="2026481"/>
            <a:ext cx="4953921" cy="368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141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87F1A-6BF4-D1F6-91B2-C0A55966F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1173C9-ACA7-F18F-9684-1D11439B5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FDA4F-00C4-28C3-E2AF-CD2A06ED6A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Consideration for Archive , Retention and Improvement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382937-D68B-F1E1-FD00-D62CBF30C2C3}"/>
              </a:ext>
            </a:extLst>
          </p:cNvPr>
          <p:cNvSpPr txBox="1"/>
          <p:nvPr/>
        </p:nvSpPr>
        <p:spPr>
          <a:xfrm>
            <a:off x="698896" y="1191330"/>
            <a:ext cx="10412627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G&amp;G </a:t>
            </a:r>
            <a:r>
              <a:rPr lang="en-US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Eservice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processes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8,000–12,000 sales transactions per day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500–1,200 transactions per hour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Around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280,000 records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are inserted into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sale_transaction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every month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Each sale transaction also affects multiple related tables:</a:t>
            </a:r>
            <a:b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commission_transaction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integration_history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yps_integration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re_print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prefunding_log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print_summary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and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workshift_action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Before updating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print_summary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the system searches by </a:t>
            </a:r>
            <a:r>
              <a:rPr lang="en-US" alt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product_id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session_id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These columns are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not indexed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causing a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full scan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on about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2 million records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At 500 transactions, this can result in roughly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1 billion row scans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creating significant database performance issues </a:t>
            </a:r>
          </a:p>
        </p:txBody>
      </p:sp>
    </p:spTree>
    <p:extLst>
      <p:ext uri="{BB962C8B-B14F-4D97-AF65-F5344CB8AC3E}">
        <p14:creationId xmlns:p14="http://schemas.microsoft.com/office/powerpoint/2010/main" val="2131667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CB19E-E24C-061F-3F35-3C68059AC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AA4CBE-8E0C-2C62-4593-26CBCBF2D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5229E-4565-9A9A-8A29-1CE713D89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 Solution for Archiving ,Retention &amp; Improvement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5CCD31-7DE3-F4A7-CB78-529B94D0BFEB}"/>
              </a:ext>
            </a:extLst>
          </p:cNvPr>
          <p:cNvSpPr txBox="1"/>
          <p:nvPr/>
        </p:nvSpPr>
        <p:spPr>
          <a:xfrm>
            <a:off x="609599" y="1015483"/>
            <a:ext cx="104126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6E73597-1C6C-15BA-56BD-FFA8FC7D7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722174"/>
              </p:ext>
            </p:extLst>
          </p:nvPr>
        </p:nvGraphicFramePr>
        <p:xfrm>
          <a:off x="331787" y="1134257"/>
          <a:ext cx="11657013" cy="4023360"/>
        </p:xfrm>
        <a:graphic>
          <a:graphicData uri="http://schemas.openxmlformats.org/drawingml/2006/table">
            <a:tbl>
              <a:tblPr/>
              <a:tblGrid>
                <a:gridCol w="11657013">
                  <a:extLst>
                    <a:ext uri="{9D8B030D-6E8A-4147-A177-3AD203B41FA5}">
                      <a16:colId xmlns:a16="http://schemas.microsoft.com/office/drawing/2014/main" val="27357888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Low-impact tables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kumimoji="0" lang="en-US" alt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re_print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0" lang="en-US" alt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print_summary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0" lang="en-US" alt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workshift_action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b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Archive aggressively, retain only </a:t>
                      </a: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months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Core transaction tables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kumimoji="0" lang="en-US" alt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sale_transaction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0" lang="en-US" alt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commission_transaction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b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Retain </a:t>
                      </a: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months (~1.8M records)</a:t>
                      </a:r>
                      <a:b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Apply </a:t>
                      </a: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proper indexing for performance optimization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Prefunding_log</a:t>
                      </a:r>
                      <a:b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~</a:t>
                      </a: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516K records (6 months)</a:t>
                      </a:r>
                      <a:b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Retain </a:t>
                      </a: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months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n-US" alt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Trigger_log</a:t>
                      </a:r>
                      <a:b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Retain </a:t>
                      </a: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months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1149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9374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74D63-9CBF-91ED-0CA4-CF8E97480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38070D-2D47-88A9-C5E0-A4E673706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7D9EF-D1A2-B4FD-0932-73AA84671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 Solution for Archiving ,Retention &amp; Improvement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E9FDEC-1F90-DF19-160C-64C29CFD4AB4}"/>
              </a:ext>
            </a:extLst>
          </p:cNvPr>
          <p:cNvSpPr txBox="1"/>
          <p:nvPr/>
        </p:nvSpPr>
        <p:spPr>
          <a:xfrm>
            <a:off x="609599" y="1015483"/>
            <a:ext cx="104126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C0C7968-49DC-831B-68F5-7EC40BEF3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213535"/>
              </p:ext>
            </p:extLst>
          </p:nvPr>
        </p:nvGraphicFramePr>
        <p:xfrm>
          <a:off x="688042" y="1137187"/>
          <a:ext cx="8128002" cy="49730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93879734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8386011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5286438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15406994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27339266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067158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RowCount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 Archive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Propose </a:t>
                      </a:r>
                    </a:p>
                    <a:p>
                      <a:r>
                        <a:rPr lang="en-US" dirty="0" err="1"/>
                        <a:t>Rentention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610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 dirty="0" err="1">
                          <a:effectLst/>
                        </a:rPr>
                        <a:t>sale_transaction</a:t>
                      </a:r>
                      <a:endParaRPr lang="en-US" sz="1200" kern="100" dirty="0">
                        <a:effectLst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7338714</a:t>
                      </a:r>
                    </a:p>
                    <a:p>
                      <a:pPr marL="0" marR="0" algn="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369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print_summary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2246923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293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yps_integration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51677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528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integration_history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6887279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431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commission_transaction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buNone/>
                      </a:pPr>
                      <a:r>
                        <a:rPr lang="en-US" sz="1100" kern="100" dirty="0">
                          <a:effectLst/>
                        </a:rPr>
                        <a:t>7118764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697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re_print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buNone/>
                      </a:pPr>
                      <a:r>
                        <a:rPr lang="en-US" sz="1100" kern="100" dirty="0">
                          <a:effectLst/>
                        </a:rPr>
                        <a:t>6655344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5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prefunding_log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buNone/>
                      </a:pPr>
                      <a:r>
                        <a:rPr lang="en-US" sz="1100" kern="100" dirty="0">
                          <a:effectLst/>
                        </a:rPr>
                        <a:t>1649836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324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work_shift_action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buNone/>
                      </a:pPr>
                      <a:r>
                        <a:rPr lang="en-US" sz="1100" kern="100" dirty="0">
                          <a:effectLst/>
                        </a:rPr>
                        <a:t>596665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587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revinfo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buNone/>
                      </a:pPr>
                      <a:r>
                        <a:rPr lang="en-US" sz="1100" kern="100" dirty="0">
                          <a:effectLst/>
                        </a:rPr>
                        <a:t>120760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3077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yps_integration_aud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buNone/>
                      </a:pPr>
                      <a:r>
                        <a:rPr lang="en-US" sz="1100" kern="100" dirty="0">
                          <a:effectLst/>
                        </a:rPr>
                        <a:t>105204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028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buNone/>
                      </a:pPr>
                      <a:r>
                        <a:rPr lang="en-US" sz="1100" kern="100">
                          <a:effectLst/>
                        </a:rPr>
                        <a:t>trigger_log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buNone/>
                      </a:pPr>
                      <a:r>
                        <a:rPr lang="en-US" sz="1100" kern="100" dirty="0">
                          <a:effectLst/>
                        </a:rPr>
                        <a:t>2647377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85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7947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9C983F-458B-06E6-E4F8-F1462FB49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2EA55-F46C-8AB0-0140-A4E9772F2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000635"/>
            <a:ext cx="12191999" cy="518983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84669213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fad6302-fdb1-4d2b-bae6-d2fdf9a97a42">
      <Terms xmlns="http://schemas.microsoft.com/office/infopath/2007/PartnerControls"/>
    </lcf76f155ced4ddcb4097134ff3c332f>
    <TaxCatchAll xmlns="76bb2ce8-bb45-4930-a7cf-51d5c3ce9955" xsi:nil="true"/>
    <_Flow_SignoffStatus xmlns="9fad6302-fdb1-4d2b-bae6-d2fdf9a97a4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9FAA4C2747084B87058E0E0A310158" ma:contentTypeVersion="17" ma:contentTypeDescription="Create a new document." ma:contentTypeScope="" ma:versionID="0d994700019694c4b789f2f92615bef0">
  <xsd:schema xmlns:xsd="http://www.w3.org/2001/XMLSchema" xmlns:xs="http://www.w3.org/2001/XMLSchema" xmlns:p="http://schemas.microsoft.com/office/2006/metadata/properties" xmlns:ns2="9fad6302-fdb1-4d2b-bae6-d2fdf9a97a42" xmlns:ns3="76bb2ce8-bb45-4930-a7cf-51d5c3ce9955" targetNamespace="http://schemas.microsoft.com/office/2006/metadata/properties" ma:root="true" ma:fieldsID="d1a30f74a7ef0c27ba753240d6a6513d" ns2:_="" ns3:_="">
    <xsd:import namespace="9fad6302-fdb1-4d2b-bae6-d2fdf9a97a42"/>
    <xsd:import namespace="76bb2ce8-bb45-4930-a7cf-51d5c3ce99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ad6302-fdb1-4d2b-bae6-d2fdf9a97a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a68c42a-fa4e-4690-8c8d-5e2b77104c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_Flow_SignoffStatus" ma:index="24" nillable="true" ma:displayName="Sign-off status" ma:internalName="_x0024_Resources_x003a_core_x002c_Signoff_Status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bb2ce8-bb45-4930-a7cf-51d5c3ce995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ec937087-0f51-406b-8ce9-5382fca5863b}" ma:internalName="TaxCatchAll" ma:showField="CatchAllData" ma:web="76bb2ce8-bb45-4930-a7cf-51d5c3ce99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4568BD-1A8E-4633-AD94-D8FBD47F872A}">
  <ds:schemaRefs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76bb2ce8-bb45-4930-a7cf-51d5c3ce9955"/>
    <ds:schemaRef ds:uri="9fad6302-fdb1-4d2b-bae6-d2fdf9a97a42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217D971-2416-483F-8C3C-F9A2317247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B31715-BA8D-4E42-B12B-716E5EB2C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ad6302-fdb1-4d2b-bae6-d2fdf9a97a42"/>
    <ds:schemaRef ds:uri="76bb2ce8-bb45-4930-a7cf-51d5c3ce99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23918</TotalTime>
  <Words>324</Words>
  <Application>Microsoft Office PowerPoint</Application>
  <PresentationFormat>Widescreen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Aptos Narrow</vt:lpstr>
      <vt:lpstr>Arial</vt:lpstr>
      <vt:lpstr>Calibri</vt:lpstr>
      <vt:lpstr>Courier New</vt:lpstr>
      <vt:lpstr>Times New Roman</vt:lpstr>
      <vt:lpstr>Wingdings</vt:lpstr>
      <vt:lpstr>6_Office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Phyo Thu Han</cp:lastModifiedBy>
  <cp:revision>217</cp:revision>
  <dcterms:created xsi:type="dcterms:W3CDTF">2021-01-16T06:03:56Z</dcterms:created>
  <dcterms:modified xsi:type="dcterms:W3CDTF">2026-03-31T09:22:17Z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0x010100159FAA4C2747084B87058E0E0A310158</vt:lpwstr>
  </property>
  <property fmtid="{D5CDD505-2E9C-101B-9397-08002B2CF9AE}" pid="3" name="MediaServiceImageTags">
    <vt:lpwstr/>
  </property>
</Properties>
</file>