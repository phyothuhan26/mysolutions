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16"/>
  </p:notesMasterIdLst>
  <p:sldIdLst>
    <p:sldId id="2145708748" r:id="rId5"/>
    <p:sldId id="2145708800" r:id="rId6"/>
    <p:sldId id="2145708788" r:id="rId7"/>
    <p:sldId id="2145708796" r:id="rId8"/>
    <p:sldId id="2145708799" r:id="rId9"/>
    <p:sldId id="2145708794" r:id="rId10"/>
    <p:sldId id="2145708795" r:id="rId11"/>
    <p:sldId id="2145708798" r:id="rId12"/>
    <p:sldId id="2145708797" r:id="rId13"/>
    <p:sldId id="2145708802" r:id="rId14"/>
    <p:sldId id="21457087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87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8255" autoAdjust="0"/>
  </p:normalViewPr>
  <p:slideViewPr>
    <p:cSldViewPr snapToGrid="0">
      <p:cViewPr varScale="1">
        <p:scale>
          <a:sx n="84" d="100"/>
          <a:sy n="84" d="100"/>
        </p:scale>
        <p:origin x="5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B89EC9-ADF7-4CD8-A359-4B3486574A56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180750-FA6C-4B62-A27E-0AEE5A77F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67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FC656-E928-E5C6-E304-3E13BFC10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4EEE11-C271-DFD9-9C36-BCCDA4DC2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0AA18-4D48-51F9-9E79-45042806EF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C44575-9916-7054-2E8A-5B9698683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683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488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946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44DBB-B4F9-D29F-3B3C-99415CDA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9C567-5694-69B0-5D95-23CC93125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7B3A4-E485-090A-EE05-0012CBA3F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FB7B4-1F90-EF07-FDF7-34A5140EE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39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A61D8-AD97-DC3A-3EEF-C352061F6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D947CA-2590-BC11-065B-54B9A208A8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751E42-EC84-37DF-E645-331435314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F5BC6-3C8A-102F-9421-F58D47253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9308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D6FF6-F587-63DE-73EF-79E72312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39259F-98C6-2D2C-4316-5B49A44C7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37DBF5-E5E1-39A8-735A-E752A3BFB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99E6F6-C2FB-463F-AF92-9D1206ABE8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080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F5994-04CE-FD32-F9B0-B96E07E74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89CA9-4E9C-B133-7C5C-2029243D4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8DE56-0B33-AD2A-D440-F65F0E907C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5CB6D-FC0C-F131-23FF-B2801B0B53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489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63136-BFF8-EB78-2165-16658AEC1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4DD45-BABB-0DD6-2A45-730A5E2A3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64DEE-651B-DBFF-6616-A6F7523F1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E4A72-F922-477C-8EF1-5A284132E0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387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6C0EAA3-C71A-43A2-91D0-C6C311020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4635" y="3447317"/>
            <a:ext cx="7676173" cy="1893748"/>
          </a:xfrm>
        </p:spPr>
        <p:txBody>
          <a:bodyPr/>
          <a:lstStyle>
            <a:lvl1pPr>
              <a:buNone/>
              <a:defRPr sz="3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28A08A-DC60-4455-BFC7-21B4F189180D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4/1/2026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Rectangle 6"/>
          <p:cNvSpPr/>
          <p:nvPr userDrawn="1"/>
        </p:nvSpPr>
        <p:spPr>
          <a:xfrm>
            <a:off x="0" y="6408288"/>
            <a:ext cx="12192000" cy="24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 sz="1800">
              <a:solidFill>
                <a:prstClr val="white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04250C-5885-48A6-8300-C696669B24AB}" type="slidenum">
              <a:rPr lang="en-US">
                <a:solidFill>
                  <a:prstClr val="white">
                    <a:lumMod val="50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white">
                  <a:lumMod val="50000"/>
                </a:prst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C60379-4B22-4A26-8D53-7990592BE2B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0387" y="6259368"/>
            <a:ext cx="1356013" cy="508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A9DCE2-9A27-41CD-AA22-E05C8C5DA730}"/>
              </a:ext>
            </a:extLst>
          </p:cNvPr>
          <p:cNvSpPr/>
          <p:nvPr userDrawn="1"/>
        </p:nvSpPr>
        <p:spPr>
          <a:xfrm>
            <a:off x="0" y="410547"/>
            <a:ext cx="589497" cy="335039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BA8CB8-EDC3-4B46-9A15-ACDB3324900B}"/>
              </a:ext>
            </a:extLst>
          </p:cNvPr>
          <p:cNvSpPr/>
          <p:nvPr userDrawn="1"/>
        </p:nvSpPr>
        <p:spPr>
          <a:xfrm>
            <a:off x="0" y="0"/>
            <a:ext cx="12192000" cy="742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1BDA31-1101-46FE-8D24-6516A8D2B08F}"/>
              </a:ext>
            </a:extLst>
          </p:cNvPr>
          <p:cNvSpPr/>
          <p:nvPr userDrawn="1"/>
        </p:nvSpPr>
        <p:spPr>
          <a:xfrm>
            <a:off x="0" y="6185647"/>
            <a:ext cx="121920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pic>
        <p:nvPicPr>
          <p:cNvPr id="14" name="Picture 7">
            <a:extLst>
              <a:ext uri="{FF2B5EF4-FFF2-40B4-BE49-F238E27FC236}">
                <a16:creationId xmlns:a16="http://schemas.microsoft.com/office/drawing/2014/main" id="{0D347471-B928-4112-A3B7-7591089D2ED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39462" y="2158515"/>
            <a:ext cx="3173267" cy="11899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DD774-C799-4B89-A9B2-280F767B7AD9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1517239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3C4130-7473-4328-9DB3-C3281C7D1F05}"/>
              </a:ext>
            </a:extLst>
          </p:cNvPr>
          <p:cNvSpPr/>
          <p:nvPr userDrawn="1"/>
        </p:nvSpPr>
        <p:spPr>
          <a:xfrm>
            <a:off x="0" y="6147547"/>
            <a:ext cx="121920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2D724A-26F3-49B6-9B01-1DED33C73C61}"/>
              </a:ext>
            </a:extLst>
          </p:cNvPr>
          <p:cNvSpPr/>
          <p:nvPr userDrawn="1"/>
        </p:nvSpPr>
        <p:spPr>
          <a:xfrm>
            <a:off x="0" y="5995147"/>
            <a:ext cx="1219200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B9C6C64-80AF-412B-BDCC-C9B570CB105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3237" y="6011718"/>
            <a:ext cx="1748750" cy="6557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DE81DD9C-07D6-4C15-AFFE-0D6D655994A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08000"/>
            <a:ext cx="7137400" cy="914400"/>
          </a:xfrm>
        </p:spPr>
        <p:txBody>
          <a:bodyPr/>
          <a:lstStyle>
            <a:lvl1pPr marL="0" indent="0">
              <a:buNone/>
              <a:defRPr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CA29E5-4CD2-456D-8C37-AEF850980098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3319741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DCD78-8B7B-4976-8AE0-648AF1DF3CEB}" type="datetime1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5A1445-8CA7-4094-8A1D-DA20D230DC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05838" y="-2643"/>
            <a:ext cx="1686161" cy="733528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A781350-F6E0-498B-8852-571864372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136525"/>
            <a:ext cx="10226779" cy="465975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9EBFB5-A964-42F9-B79F-978885BFC2B4}"/>
              </a:ext>
            </a:extLst>
          </p:cNvPr>
          <p:cNvSpPr/>
          <p:nvPr userDrawn="1"/>
        </p:nvSpPr>
        <p:spPr>
          <a:xfrm>
            <a:off x="81001" y="602501"/>
            <a:ext cx="10226779" cy="2010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152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260392" y="90127"/>
            <a:ext cx="11657086" cy="508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60392" y="695618"/>
            <a:ext cx="11657086" cy="54990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  <a:cs typeface="Arial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9F8D69B2-525F-4B3D-93C2-BAAB7414FB32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4/1/2026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200" dirty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  <a:cs typeface="Arial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0" y="6408288"/>
            <a:ext cx="12192000" cy="24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 sz="1800">
              <a:solidFill>
                <a:prstClr val="white"/>
              </a:solidFill>
              <a:latin typeface="Aptos" panose="020B00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440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12769493-3986-45F8-8FCB-9328DFEE46FF}" type="slidenum">
              <a:rPr lang="en-US" smtClean="0">
                <a:solidFill>
                  <a:prstClr val="white">
                    <a:lumMod val="50000"/>
                  </a:prstClr>
                </a:solidFill>
                <a:cs typeface="Arial" panose="020B0604020202020204" pitchFamily="34" charset="0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>
              <a:solidFill>
                <a:prstClr val="white">
                  <a:lumMod val="50000"/>
                </a:prstClr>
              </a:solidFill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CC0ADF-48E4-418A-A013-832BC4C38D0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0387" y="6259368"/>
            <a:ext cx="1356013" cy="508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EFCD6E-A29E-4E94-8D63-F18873FB12A3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1892677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2" r:id="rId2"/>
    <p:sldLayoutId id="2147483663" r:id="rId3"/>
    <p:sldLayoutId id="2147483682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kern="1200">
          <a:solidFill>
            <a:schemeClr val="tx1"/>
          </a:solidFill>
          <a:latin typeface="Aptos" panose="020B0004020202020204" pitchFamily="34" charset="0"/>
          <a:ea typeface="+mj-ea"/>
          <a:cs typeface="Arial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1pPr>
      <a:lvl2pPr marL="8001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9CF22F-5AA4-B171-99C4-50EE2DCE24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47568" y="1581665"/>
            <a:ext cx="8491043" cy="1705232"/>
          </a:xfrm>
        </p:spPr>
        <p:txBody>
          <a:bodyPr/>
          <a:lstStyle/>
          <a:p>
            <a:pPr algn="ctr"/>
            <a:r>
              <a:rPr lang="en-GB" sz="3600" dirty="0">
                <a:latin typeface="Aptos Narrow" panose="020B0004020202020204" pitchFamily="34" charset="0"/>
              </a:rPr>
              <a:t>G&amp; G Data Management</a:t>
            </a: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16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0A47B-7C79-2FD3-208D-85959C536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FD6095-9105-0298-EC5C-D17125A79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B43DE3-EEDF-A94A-0EAE-C7F6C3004D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33C3D5-239C-0839-9ACD-697752781856}"/>
              </a:ext>
            </a:extLst>
          </p:cNvPr>
          <p:cNvSpPr txBox="1"/>
          <p:nvPr/>
        </p:nvSpPr>
        <p:spPr>
          <a:xfrm>
            <a:off x="267462" y="1254261"/>
            <a:ext cx="1041262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 improve G&amp;G </a:t>
            </a:r>
            <a:r>
              <a:rPr lang="en-US" dirty="0" err="1"/>
              <a:t>Eservice</a:t>
            </a:r>
            <a:r>
              <a:rPr lang="en-US" dirty="0"/>
              <a:t> database performance and stability by: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Reducing data volume in primary tables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Eliminating full table scans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Ensuring system readiness for future expansion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8448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6E405-AAC8-05D8-7ECE-81E9975F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91064B-73D6-452F-64A9-1328B8A6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D4E100-3623-3D48-9C5F-C62975D65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Database Situation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2AD31-6C98-BA61-C179-828B8100A1FB}"/>
              </a:ext>
            </a:extLst>
          </p:cNvPr>
          <p:cNvSpPr txBox="1"/>
          <p:nvPr/>
        </p:nvSpPr>
        <p:spPr>
          <a:xfrm>
            <a:off x="267462" y="1254261"/>
            <a:ext cx="10412627" cy="3462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+mj-lt"/>
              </a:rPr>
              <a:t>The G&amp;G </a:t>
            </a:r>
            <a:r>
              <a:rPr lang="en-US" dirty="0" err="1">
                <a:latin typeface="+mj-lt"/>
              </a:rPr>
              <a:t>Eservice</a:t>
            </a:r>
            <a:r>
              <a:rPr lang="en-US" dirty="0">
                <a:latin typeface="+mj-lt"/>
              </a:rPr>
              <a:t> database contains several high-volume tables that are continuously growing due to daily transaction processing.</a:t>
            </a:r>
            <a:endParaRPr lang="en-US" altLang="en-US" dirty="0">
              <a:latin typeface="+mj-lt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The system processes </a:t>
            </a:r>
            <a:r>
              <a:rPr lang="en-US" altLang="en-US" b="1" dirty="0">
                <a:latin typeface="+mj-lt"/>
              </a:rPr>
              <a:t>8,000–14,000 transactions per day</a:t>
            </a:r>
            <a:r>
              <a:rPr lang="en-US" altLang="en-US" dirty="0">
                <a:latin typeface="+mj-lt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Around </a:t>
            </a:r>
            <a:r>
              <a:rPr lang="en-US" altLang="en-US" b="1" dirty="0">
                <a:latin typeface="+mj-lt"/>
              </a:rPr>
              <a:t>280,000 records are inserted monthly</a:t>
            </a:r>
            <a:r>
              <a:rPr lang="en-US" altLang="en-US" dirty="0">
                <a:latin typeface="+mj-lt"/>
              </a:rPr>
              <a:t> into </a:t>
            </a:r>
            <a:r>
              <a:rPr lang="en-US" altLang="en-US" dirty="0" err="1">
                <a:latin typeface="+mj-lt"/>
              </a:rPr>
              <a:t>sale_transaction</a:t>
            </a:r>
            <a:r>
              <a:rPr lang="en-US" altLang="en-US" dirty="0">
                <a:latin typeface="+mj-lt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Each transaction affects multiple related tables: </a:t>
            </a:r>
          </a:p>
          <a:p>
            <a:pPr marL="171450" lvl="0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commission_transaction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integration_history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yps_integration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re_print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prefunding_log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print_summary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,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workshift_action</a:t>
            </a:r>
            <a:endParaRPr lang="en-US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977681-DE78-80E7-CEC5-090747F4C33D}"/>
              </a:ext>
            </a:extLst>
          </p:cNvPr>
          <p:cNvSpPr txBox="1"/>
          <p:nvPr/>
        </p:nvSpPr>
        <p:spPr>
          <a:xfrm>
            <a:off x="267462" y="884929"/>
            <a:ext cx="60944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High Data Volume &amp; Growth Impact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1E0265-8DF2-0261-59C1-778167F723BA}"/>
              </a:ext>
            </a:extLst>
          </p:cNvPr>
          <p:cNvSpPr txBox="1"/>
          <p:nvPr/>
        </p:nvSpPr>
        <p:spPr>
          <a:xfrm>
            <a:off x="395478" y="4178327"/>
            <a:ext cx="6094476" cy="1880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sz="2000" b="1" dirty="0"/>
              <a:t>Impact: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Increased CPU and disk usage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Slower query performance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Higher risk of transaction delay or failure </a:t>
            </a:r>
          </a:p>
        </p:txBody>
      </p:sp>
    </p:spTree>
    <p:extLst>
      <p:ext uri="{BB962C8B-B14F-4D97-AF65-F5344CB8AC3E}">
        <p14:creationId xmlns:p14="http://schemas.microsoft.com/office/powerpoint/2010/main" val="777141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93E78-33EF-AB1E-ECE7-200961025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8FE512-6FBF-1DD3-D0DB-90EAEC82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F6BE7-6CCD-4586-049A-15870D20D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Performance Issue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27E361-9E60-C76E-40A2-199FFBD77473}"/>
              </a:ext>
            </a:extLst>
          </p:cNvPr>
          <p:cNvSpPr txBox="1"/>
          <p:nvPr/>
        </p:nvSpPr>
        <p:spPr>
          <a:xfrm>
            <a:off x="644032" y="913835"/>
            <a:ext cx="10412627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Example: Print Summary Bottleneck</a:t>
            </a:r>
            <a:endParaRPr lang="en-US" dirty="0">
              <a:latin typeface="+mj-lt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dirty="0">
                <a:latin typeface="+mj-lt"/>
              </a:rPr>
              <a:t>For each sale transaction: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System performs </a:t>
            </a:r>
            <a:r>
              <a:rPr lang="en-US" b="1" dirty="0">
                <a:latin typeface="+mj-lt"/>
              </a:rPr>
              <a:t>lookup on </a:t>
            </a:r>
            <a:r>
              <a:rPr lang="en-US" b="1" dirty="0" err="1">
                <a:latin typeface="+mj-lt"/>
              </a:rPr>
              <a:t>print_summary</a:t>
            </a:r>
            <a:r>
              <a:rPr lang="en-US" dirty="0">
                <a:latin typeface="+mj-lt"/>
              </a:rPr>
              <a:t>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Condition: </a:t>
            </a:r>
            <a:r>
              <a:rPr lang="en-US" dirty="0" err="1">
                <a:latin typeface="+mj-lt"/>
              </a:rPr>
              <a:t>product_id</a:t>
            </a:r>
            <a:r>
              <a:rPr lang="en-US" dirty="0">
                <a:latin typeface="+mj-lt"/>
              </a:rPr>
              <a:t> + </a:t>
            </a:r>
            <a:r>
              <a:rPr lang="en-US" dirty="0" err="1">
                <a:latin typeface="+mj-lt"/>
              </a:rPr>
              <a:t>session_id</a:t>
            </a:r>
            <a:r>
              <a:rPr lang="en-US" dirty="0">
                <a:latin typeface="+mj-lt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Current issue: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These columns are </a:t>
            </a:r>
            <a:r>
              <a:rPr lang="en-US" b="1" dirty="0">
                <a:latin typeface="+mj-lt"/>
              </a:rPr>
              <a:t>not indexed</a:t>
            </a:r>
            <a:r>
              <a:rPr lang="en-US" dirty="0">
                <a:latin typeface="+mj-lt"/>
              </a:rPr>
              <a:t>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Table size: ~</a:t>
            </a:r>
            <a:r>
              <a:rPr lang="en-US" b="1" dirty="0">
                <a:latin typeface="+mj-lt"/>
              </a:rPr>
              <a:t>2 million rows</a:t>
            </a:r>
            <a:r>
              <a:rPr lang="en-US" dirty="0">
                <a:latin typeface="+mj-lt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Result: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Each lookup triggers </a:t>
            </a:r>
            <a:r>
              <a:rPr lang="en-US" b="1" dirty="0">
                <a:latin typeface="+mj-lt"/>
              </a:rPr>
              <a:t>full table scan</a:t>
            </a:r>
            <a:r>
              <a:rPr lang="en-US" dirty="0">
                <a:latin typeface="+mj-lt"/>
              </a:rPr>
              <a:t>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At 500 transactions: </a:t>
            </a:r>
          </a:p>
          <a:p>
            <a:pPr lvl="2"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2,000,000 × 500 = 1 billion row scans</a:t>
            </a:r>
            <a:r>
              <a:rPr lang="en-US" dirty="0">
                <a:latin typeface="+mj-lt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Impact:</a:t>
            </a:r>
            <a:endParaRPr lang="en-US" dirty="0">
              <a:latin typeface="+mj-lt"/>
            </a:endParaRP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Severe database load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Increased latency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Risk of system slowdown</a:t>
            </a:r>
          </a:p>
          <a:p>
            <a:pPr lvl="0" eaLnBrk="0" fontAlgn="base" hangingPunct="0">
              <a:spcBef>
                <a:spcPts val="300"/>
              </a:spcBef>
              <a:spcAft>
                <a:spcPts val="300"/>
              </a:spcAft>
            </a:pPr>
            <a:endParaRPr lang="en-US" altLang="en-US" dirty="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547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84614-2D23-1ECE-38A9-F70BDEB3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31820F-FF07-2D74-847E-E068B29C4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2F8705-575F-F161-DC77-B710C736E3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Archiving is required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ABA9E5-2A2F-DDF6-E490-D299746E62CB}"/>
              </a:ext>
            </a:extLst>
          </p:cNvPr>
          <p:cNvSpPr txBox="1"/>
          <p:nvPr/>
        </p:nvSpPr>
        <p:spPr>
          <a:xfrm>
            <a:off x="644032" y="913835"/>
            <a:ext cx="10412627" cy="3731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Current Challenges</a:t>
            </a:r>
            <a:endParaRPr lang="en-US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Continuous </a:t>
            </a:r>
            <a:r>
              <a:rPr lang="en-US" b="1" dirty="0">
                <a:latin typeface="+mj-lt"/>
              </a:rPr>
              <a:t>data growth </a:t>
            </a:r>
            <a:r>
              <a:rPr lang="en-US" dirty="0">
                <a:latin typeface="+mj-lt"/>
              </a:rPr>
              <a:t>in transactional tables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Large tables </a:t>
            </a:r>
            <a:r>
              <a:rPr lang="en-US" b="1" dirty="0">
                <a:latin typeface="+mj-lt"/>
              </a:rPr>
              <a:t>degrade query performance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Increased database </a:t>
            </a:r>
            <a:r>
              <a:rPr lang="en-US" b="1" dirty="0">
                <a:latin typeface="+mj-lt"/>
              </a:rPr>
              <a:t>resource consumption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Difficult to scale with future expansion (</a:t>
            </a:r>
            <a:r>
              <a:rPr lang="en-US" b="1" dirty="0">
                <a:latin typeface="+mj-lt"/>
              </a:rPr>
              <a:t>500+ stores</a:t>
            </a:r>
            <a:r>
              <a:rPr lang="en-US" dirty="0">
                <a:latin typeface="+mj-lt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Conclusion:</a:t>
            </a:r>
            <a:endParaRPr lang="en-US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+mj-lt"/>
              </a:rPr>
              <a:t>Without data archiving and indexing, </a:t>
            </a:r>
            <a:r>
              <a:rPr lang="en-US" dirty="0">
                <a:latin typeface="+mj-lt"/>
              </a:rPr>
              <a:t>system performance will continue to </a:t>
            </a:r>
            <a:r>
              <a:rPr lang="en-US" b="1" dirty="0">
                <a:latin typeface="+mj-lt"/>
              </a:rPr>
              <a:t>degrad</a:t>
            </a:r>
            <a:r>
              <a:rPr lang="en-US" dirty="0">
                <a:latin typeface="+mj-lt"/>
              </a:rPr>
              <a:t>e as </a:t>
            </a:r>
            <a:r>
              <a:rPr lang="en-US" b="1" dirty="0">
                <a:latin typeface="+mj-lt"/>
              </a:rPr>
              <a:t>transaction volume increases.</a:t>
            </a:r>
          </a:p>
          <a:p>
            <a:pPr lvl="0" eaLnBrk="0" fontAlgn="base" hangingPunct="0">
              <a:spcBef>
                <a:spcPts val="300"/>
              </a:spcBef>
              <a:spcAft>
                <a:spcPts val="300"/>
              </a:spcAft>
            </a:pPr>
            <a:endParaRPr lang="en-US" altLang="en-US" dirty="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210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74D63-9CBF-91ED-0CA4-CF8E97480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38070D-2D47-88A9-C5E0-A4E67370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A7D9EF-D1A2-B4FD-0932-73AA84671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Large Volume table status with propose retention plan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E9FDEC-1F90-DF19-160C-64C29CFD4AB4}"/>
              </a:ext>
            </a:extLst>
          </p:cNvPr>
          <p:cNvSpPr txBox="1"/>
          <p:nvPr/>
        </p:nvSpPr>
        <p:spPr>
          <a:xfrm>
            <a:off x="609599" y="1015483"/>
            <a:ext cx="104126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0C7968-49DC-831B-68F5-7EC40BEF3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855472"/>
              </p:ext>
            </p:extLst>
          </p:nvPr>
        </p:nvGraphicFramePr>
        <p:xfrm>
          <a:off x="212344" y="878997"/>
          <a:ext cx="10824464" cy="525951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0384">
                  <a:extLst>
                    <a:ext uri="{9D8B030D-6E8A-4147-A177-3AD203B41FA5}">
                      <a16:colId xmlns:a16="http://schemas.microsoft.com/office/drawing/2014/main" val="1938797340"/>
                    </a:ext>
                  </a:extLst>
                </a:gridCol>
                <a:gridCol w="2254497">
                  <a:extLst>
                    <a:ext uri="{9D8B030D-6E8A-4147-A177-3AD203B41FA5}">
                      <a16:colId xmlns:a16="http://schemas.microsoft.com/office/drawing/2014/main" val="1983860111"/>
                    </a:ext>
                  </a:extLst>
                </a:gridCol>
                <a:gridCol w="1351114">
                  <a:extLst>
                    <a:ext uri="{9D8B030D-6E8A-4147-A177-3AD203B41FA5}">
                      <a16:colId xmlns:a16="http://schemas.microsoft.com/office/drawing/2014/main" val="528643849"/>
                    </a:ext>
                  </a:extLst>
                </a:gridCol>
                <a:gridCol w="1597325">
                  <a:extLst>
                    <a:ext uri="{9D8B030D-6E8A-4147-A177-3AD203B41FA5}">
                      <a16:colId xmlns:a16="http://schemas.microsoft.com/office/drawing/2014/main" val="1154069943"/>
                    </a:ext>
                  </a:extLst>
                </a:gridCol>
                <a:gridCol w="1225897">
                  <a:extLst>
                    <a:ext uri="{9D8B030D-6E8A-4147-A177-3AD203B41FA5}">
                      <a16:colId xmlns:a16="http://schemas.microsoft.com/office/drawing/2014/main" val="3273392666"/>
                    </a:ext>
                  </a:extLst>
                </a:gridCol>
                <a:gridCol w="3355247">
                  <a:extLst>
                    <a:ext uri="{9D8B030D-6E8A-4147-A177-3AD203B41FA5}">
                      <a16:colId xmlns:a16="http://schemas.microsoft.com/office/drawing/2014/main" val="4067158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Business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Table Name</a:t>
                      </a:r>
                    </a:p>
                    <a:p>
                      <a:r>
                        <a:rPr lang="en-US" dirty="0"/>
                        <a:t>(immediate archive)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</a:t>
                      </a:r>
                    </a:p>
                    <a:p>
                      <a:r>
                        <a:rPr lang="en-US" dirty="0"/>
                        <a:t>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Propose </a:t>
                      </a:r>
                    </a:p>
                    <a:p>
                      <a:r>
                        <a:rPr lang="en-US" dirty="0"/>
                        <a:t>Retention</a:t>
                      </a:r>
                    </a:p>
                    <a:p>
                      <a:r>
                        <a:rPr lang="en-US" dirty="0"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10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sale_transaction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68580" marR="68580" marT="0" marB="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7,338,714 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 sale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69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print_summary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2,246,923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Shop level sale check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293376"/>
                  </a:ext>
                </a:extLst>
              </a:tr>
              <a:tr h="17662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commission_transaction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7,118,764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1.8 M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Commission record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5211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yps_integration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51,677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YPS Entry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0528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integration_history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6,887,279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G&amp;G </a:t>
                      </a:r>
                      <a:r>
                        <a:rPr lang="en-US" dirty="0" err="1"/>
                        <a:t>Eservice</a:t>
                      </a:r>
                      <a:r>
                        <a:rPr lang="en-US" dirty="0"/>
                        <a:t> Entry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2431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re_print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6,655,344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51943"/>
                  </a:ext>
                </a:extLst>
              </a:tr>
              <a:tr h="36068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prefunding_log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1,649,836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516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prefunding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2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work_shift_action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596,665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Workshift</a:t>
                      </a:r>
                      <a:r>
                        <a:rPr lang="en-US" dirty="0"/>
                        <a:t> info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587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revinfo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12,0760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3077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yps_integration_aud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105,204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028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trigger_log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2,647,377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85047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3D58A57D-1E37-9BE8-C2A3-CE249E6B0DBC}"/>
              </a:ext>
            </a:extLst>
          </p:cNvPr>
          <p:cNvSpPr/>
          <p:nvPr/>
        </p:nvSpPr>
        <p:spPr>
          <a:xfrm>
            <a:off x="850392" y="6428232"/>
            <a:ext cx="228600" cy="25803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1C8588-9A0A-77A2-88CB-64D0CD1696B6}"/>
              </a:ext>
            </a:extLst>
          </p:cNvPr>
          <p:cNvSpPr txBox="1"/>
          <p:nvPr/>
        </p:nvSpPr>
        <p:spPr>
          <a:xfrm>
            <a:off x="1170432" y="6428232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9BB917-4D53-FE24-9978-81FC7D068838}"/>
              </a:ext>
            </a:extLst>
          </p:cNvPr>
          <p:cNvSpPr/>
          <p:nvPr/>
        </p:nvSpPr>
        <p:spPr>
          <a:xfrm>
            <a:off x="1901952" y="6465443"/>
            <a:ext cx="228600" cy="25803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FCD791-8E6A-071D-88CF-645E3364A05A}"/>
              </a:ext>
            </a:extLst>
          </p:cNvPr>
          <p:cNvSpPr txBox="1"/>
          <p:nvPr/>
        </p:nvSpPr>
        <p:spPr>
          <a:xfrm>
            <a:off x="2130552" y="6409794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Medium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3BC605-CBF6-46AE-EAD5-413D0A81E4A9}"/>
              </a:ext>
            </a:extLst>
          </p:cNvPr>
          <p:cNvSpPr/>
          <p:nvPr/>
        </p:nvSpPr>
        <p:spPr>
          <a:xfrm>
            <a:off x="3250692" y="6463441"/>
            <a:ext cx="228600" cy="25803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D6A9E4-08AE-DA58-58E2-4A64F464E8A3}"/>
              </a:ext>
            </a:extLst>
          </p:cNvPr>
          <p:cNvSpPr txBox="1"/>
          <p:nvPr/>
        </p:nvSpPr>
        <p:spPr>
          <a:xfrm>
            <a:off x="3593592" y="6401651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Low</a:t>
            </a:r>
          </a:p>
        </p:txBody>
      </p:sp>
    </p:spTree>
    <p:extLst>
      <p:ext uri="{BB962C8B-B14F-4D97-AF65-F5344CB8AC3E}">
        <p14:creationId xmlns:p14="http://schemas.microsoft.com/office/powerpoint/2010/main" val="36479474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AD4D7-2F7C-1C19-2C17-4721DE3F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414364-B294-F113-2595-971E990D1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D1155-8F24-6ACD-DAF5-B8D7EFED5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Propose Index for  require table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ECA897-9AFB-CAEE-53F0-5FDF9F332FBB}"/>
              </a:ext>
            </a:extLst>
          </p:cNvPr>
          <p:cNvSpPr txBox="1"/>
          <p:nvPr/>
        </p:nvSpPr>
        <p:spPr>
          <a:xfrm>
            <a:off x="609599" y="1015483"/>
            <a:ext cx="1041262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/>
              <a:t>Problem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Frequent full table scans due to missing indexes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Solution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Create indexes aligned with query patterns: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7F06D1C-A4DC-AA4C-77BA-C2171B8665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185599"/>
              </p:ext>
            </p:extLst>
          </p:nvPr>
        </p:nvGraphicFramePr>
        <p:xfrm>
          <a:off x="609599" y="3556867"/>
          <a:ext cx="10422128" cy="2021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54497">
                  <a:extLst>
                    <a:ext uri="{9D8B030D-6E8A-4147-A177-3AD203B41FA5}">
                      <a16:colId xmlns:a16="http://schemas.microsoft.com/office/drawing/2014/main" val="1983860111"/>
                    </a:ext>
                  </a:extLst>
                </a:gridCol>
                <a:gridCol w="4299719">
                  <a:extLst>
                    <a:ext uri="{9D8B030D-6E8A-4147-A177-3AD203B41FA5}">
                      <a16:colId xmlns:a16="http://schemas.microsoft.com/office/drawing/2014/main" val="528643849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4067158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Table Name</a:t>
                      </a:r>
                    </a:p>
                    <a:p>
                      <a:r>
                        <a:rPr lang="en-US" dirty="0"/>
                        <a:t>(immediate archive)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Index 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10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sale_transaction</a:t>
                      </a:r>
                      <a:endParaRPr lang="en-US" sz="16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 err="1">
                          <a:effectLst/>
                        </a:rPr>
                        <a:t>Store_code</a:t>
                      </a:r>
                      <a:r>
                        <a:rPr lang="en-US" sz="1800" b="1" kern="100" dirty="0">
                          <a:effectLst/>
                        </a:rPr>
                        <a:t> 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 sale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69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print_summary</a:t>
                      </a:r>
                      <a:endParaRPr lang="en-US" sz="16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Product_id</a:t>
                      </a:r>
                      <a:r>
                        <a:rPr lang="en-US" sz="1800" b="1" kern="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+ </a:t>
                      </a:r>
                      <a:r>
                        <a:rPr lang="en-US" sz="1800" b="1" kern="1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Session_id</a:t>
                      </a:r>
                      <a:r>
                        <a:rPr lang="en-US" sz="1800" b="1" kern="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in selecting record for updating summary record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293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work_shift_action</a:t>
                      </a:r>
                      <a:endParaRPr lang="en-US" sz="16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 err="1">
                          <a:effectLst/>
                        </a:rPr>
                        <a:t>Store_code</a:t>
                      </a:r>
                      <a:r>
                        <a:rPr lang="en-US" sz="1800" b="1" kern="100" dirty="0">
                          <a:effectLst/>
                        </a:rPr>
                        <a:t> + status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in creating sale and sync to </a:t>
                      </a:r>
                      <a:r>
                        <a:rPr lang="en-US" dirty="0" err="1"/>
                        <a:t>erp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587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9311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17A7B-B6CC-0829-1366-5A14A91EC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29BD52-F378-91D8-A899-0384B5629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BA3A1-16D5-6164-92C1-B7C7DC886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Near-Term Stabilization (Immediate 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9FD224-8161-30A3-4F42-EBC27A045E39}"/>
              </a:ext>
            </a:extLst>
          </p:cNvPr>
          <p:cNvSpPr txBox="1"/>
          <p:nvPr/>
        </p:nvSpPr>
        <p:spPr>
          <a:xfrm>
            <a:off x="609599" y="1015483"/>
            <a:ext cx="10412627" cy="410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Approach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Move data older than retention period to </a:t>
            </a:r>
            <a:r>
              <a:rPr lang="en-US" b="1" dirty="0"/>
              <a:t>archive schema</a:t>
            </a:r>
            <a:r>
              <a:rPr lang="en-US" dirty="0"/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Maintain same table structure for consistency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Ensure </a:t>
            </a:r>
            <a:r>
              <a:rPr lang="en-US" b="1" dirty="0"/>
              <a:t>no impact on live transaction processing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Storage Design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Archive stored in: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Same DB instance (separate schema) OR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Data Cleanup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Remove low-value data from archive DB  at clean period 	 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8951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DE76A-7E69-A60C-7F64-7C34DEBDC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0D7769-BA5F-7E6C-C115-FE3B790C4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ECCC57-B96F-B3E7-B79C-CEC7C8FC1C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Consideration ( Archive Implementation Strategy)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75E2C7-69BA-FD6C-805A-D690F1D62A5B}"/>
              </a:ext>
            </a:extLst>
          </p:cNvPr>
          <p:cNvSpPr txBox="1"/>
          <p:nvPr/>
        </p:nvSpPr>
        <p:spPr>
          <a:xfrm>
            <a:off x="609599" y="1015483"/>
            <a:ext cx="1041262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Option 1: Automated Archiving (Recommended)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Use MySQL Event Scheduler: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Scheduled archive jobs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Periodic cleanup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Logging &amp; validation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Option 2: Manual Approach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Monthly archive execution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Manual monitoring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77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9C861-D135-ECEA-D3DE-917BB2353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5C2F6E-845F-43E2-3A73-19362F6EC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9B804F-5730-FD49-EB4D-B8A1734C8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Consideration (Accessing Archived Data)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A6CF1-1EE1-3841-86E9-9D5C18463E91}"/>
              </a:ext>
            </a:extLst>
          </p:cNvPr>
          <p:cNvSpPr txBox="1"/>
          <p:nvPr/>
        </p:nvSpPr>
        <p:spPr>
          <a:xfrm>
            <a:off x="609599" y="1015483"/>
            <a:ext cx="1041262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1. Database Replica</a:t>
            </a:r>
            <a:r>
              <a:rPr lang="en-US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Read-only access to archived data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2. Data Lake / Reporting Layer</a:t>
            </a:r>
            <a:r>
              <a:rPr lang="en-US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Centralized reporting system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3. Application Integration</a:t>
            </a:r>
            <a:r>
              <a:rPr lang="en-US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Query both active + archive data if needed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4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9C983F-458B-06E6-E4F8-F1462FB49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2EA55-F46C-8AB0-0140-A4E9772F2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3000635"/>
            <a:ext cx="12191999" cy="518983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84669213"/>
      </p:ext>
    </p:extLst>
  </p:cSld>
  <p:clrMapOvr>
    <a:masterClrMapping/>
  </p:clrMapOvr>
</p:sld>
</file>

<file path=ppt/theme/theme1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fad6302-fdb1-4d2b-bae6-d2fdf9a97a42">
      <Terms xmlns="http://schemas.microsoft.com/office/infopath/2007/PartnerControls"/>
    </lcf76f155ced4ddcb4097134ff3c332f>
    <TaxCatchAll xmlns="76bb2ce8-bb45-4930-a7cf-51d5c3ce9955" xsi:nil="true"/>
    <_Flow_SignoffStatus xmlns="9fad6302-fdb1-4d2b-bae6-d2fdf9a97a4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59FAA4C2747084B87058E0E0A310158" ma:contentTypeVersion="17" ma:contentTypeDescription="Create a new document." ma:contentTypeScope="" ma:versionID="0d994700019694c4b789f2f92615bef0">
  <xsd:schema xmlns:xsd="http://www.w3.org/2001/XMLSchema" xmlns:xs="http://www.w3.org/2001/XMLSchema" xmlns:p="http://schemas.microsoft.com/office/2006/metadata/properties" xmlns:ns2="9fad6302-fdb1-4d2b-bae6-d2fdf9a97a42" xmlns:ns3="76bb2ce8-bb45-4930-a7cf-51d5c3ce9955" targetNamespace="http://schemas.microsoft.com/office/2006/metadata/properties" ma:root="true" ma:fieldsID="d1a30f74a7ef0c27ba753240d6a6513d" ns2:_="" ns3:_="">
    <xsd:import namespace="9fad6302-fdb1-4d2b-bae6-d2fdf9a97a42"/>
    <xsd:import namespace="76bb2ce8-bb45-4930-a7cf-51d5c3ce995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  <xsd:element ref="ns2:MediaLengthInSeconds" minOccurs="0"/>
                <xsd:element ref="ns2:_Flow_Signoff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ad6302-fdb1-4d2b-bae6-d2fdf9a97a4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a68c42a-fa4e-4690-8c8d-5e2b77104c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_Flow_SignoffStatus" ma:index="24" nillable="true" ma:displayName="Sign-off status" ma:internalName="_x0024_Resources_x003a_core_x002c_Signoff_Status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bb2ce8-bb45-4930-a7cf-51d5c3ce995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ec937087-0f51-406b-8ce9-5382fca5863b}" ma:internalName="TaxCatchAll" ma:showField="CatchAllData" ma:web="76bb2ce8-bb45-4930-a7cf-51d5c3ce995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B4568BD-1A8E-4633-AD94-D8FBD47F872A}">
  <ds:schemaRefs>
    <ds:schemaRef ds:uri="http://schemas.microsoft.com/office/2006/documentManagement/types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76bb2ce8-bb45-4930-a7cf-51d5c3ce9955"/>
    <ds:schemaRef ds:uri="9fad6302-fdb1-4d2b-bae6-d2fdf9a97a42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217D971-2416-483F-8C3C-F9A2317247D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3B31715-BA8D-4E42-B12B-716E5EB2CB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fad6302-fdb1-4d2b-bae6-d2fdf9a97a42"/>
    <ds:schemaRef ds:uri="76bb2ce8-bb45-4930-a7cf-51d5c3ce995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24164</TotalTime>
  <Words>615</Words>
  <Application>Microsoft Office PowerPoint</Application>
  <PresentationFormat>Widescreen</PresentationFormat>
  <Paragraphs>176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Aptos</vt:lpstr>
      <vt:lpstr>Aptos Narrow</vt:lpstr>
      <vt:lpstr>Arial</vt:lpstr>
      <vt:lpstr>Calibri</vt:lpstr>
      <vt:lpstr>Courier New</vt:lpstr>
      <vt:lpstr>Times New Roman</vt:lpstr>
      <vt:lpstr>Wingdings</vt:lpstr>
      <vt:lpstr>6_Office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Phyo Thu Han</cp:lastModifiedBy>
  <cp:revision>226</cp:revision>
  <dcterms:created xsi:type="dcterms:W3CDTF">2021-01-16T06:03:56Z</dcterms:created>
  <dcterms:modified xsi:type="dcterms:W3CDTF">2026-04-01T17:28:52Z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0x010100159FAA4C2747084B87058E0E0A310158</vt:lpwstr>
  </property>
  <property fmtid="{D5CDD505-2E9C-101B-9397-08002B2CF9AE}" pid="3" name="MediaServiceImageTags">
    <vt:lpwstr/>
  </property>
</Properties>
</file>